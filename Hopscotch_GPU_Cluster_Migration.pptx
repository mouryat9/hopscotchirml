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430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Hopscotch GPU Cluster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14B8A6"/>
                </a:solidFill>
                <a:latin typeface="Calibri"/>
              </a:rPr>
              <a:t>Splitting the App and the Model Across Two Machines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C8D2DC"/>
                </a:solidFill>
                <a:latin typeface="Calibri"/>
              </a:rPr>
              <a:t>Connecting the Lambda machine to the GPU cluster via Cloudflare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96A0AA"/>
                </a:solidFill>
                <a:latin typeface="Calibri"/>
              </a:rPr>
              <a:t>Hopscotch IRML Platform   | 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We Migrated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8D2DC"/>
                </a:solidFill>
                <a:latin typeface="Calibri"/>
              </a:rPr>
              <a:t>The Lambda machine alone could not handle pilot-scale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</a:rPr>
              <a:t>Pilot target: 50 high-school students using Hopscotch concurrently in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669280" cy="4114800"/>
          </a:xfrm>
          <a:prstGeom prst="roundRect">
            <a:avLst/>
          </a:prstGeom>
          <a:solidFill>
            <a:srgbClr val="FDF2F2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BEFORE — Ollama on Lambda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303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Ollama processes one chat request at a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50 users measured: 28% of requests failed (timeout)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Surviving requests averaged 92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Worst case: 3 minutes wait for one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4x RTX 2080 Ti GPUs shared with other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No room to grow as more classrooms join the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548640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Calibri"/>
              </a:rPr>
              <a:t>AFTER — vLLM on GPU 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vLLM batches all 50 requests in parallel.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50 users measured: 100% success, 8 seconds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33756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Continuous batching uses GPU efficiently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490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BF16 precision preserves model quality (14B)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6052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Dedicated cluster GPUs, no contention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7200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Headroom for full pilot rollout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the Two Machines Are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8D2DC"/>
                </a:solidFill>
                <a:latin typeface="Calibri"/>
              </a:rPr>
              <a:t>Cloudflare tunnel carries every chat request from Lambda to the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LAMBDA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(Local, on campus)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React UI on port 9581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FastAPI on port 9580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hopscotchai.us
hopscotch4all.com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Fallback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Ollama (auto failover)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743200"/>
            <a:ext cx="3017520" cy="1645920"/>
          </a:xfrm>
          <a:prstGeom prst="roundRect">
            <a:avLst/>
          </a:prstGeom>
          <a:solidFill>
            <a:srgbClr val="FFF7ED"/>
          </a:solidFill>
          <a:ln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834640"/>
            <a:ext cx="3017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57C00"/>
                </a:solidFill>
                <a:latin typeface="Calibri"/>
              </a:rPr>
              <a:t>CLOUDFLARE TUNNEL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9184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vllm.hopscotchai.us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57600"/>
            <a:ext cx="3017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HTTPS over outbound 443
No firewall changes needed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3291840"/>
            <a:ext cx="457200" cy="0"/>
          </a:xfrm>
          <a:prstGeom prst="bentConnector3">
            <a:avLst/>
          </a:prstGeom>
          <a:ln w="38100">
            <a:solidFill>
              <a:srgbClr val="0E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89520" y="3840480"/>
            <a:ext cx="457200" cy="0"/>
          </a:xfrm>
          <a:prstGeom prst="bentConnector3">
            <a:avLst/>
          </a:prstGeom>
          <a:ln w="38100">
            <a:solidFill>
              <a:srgbClr val="0E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92608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0233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371600"/>
            <a:ext cx="365760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5448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Calibri"/>
              </a:rPr>
              <a:t>GPU 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011680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(Remote HPC)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468880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Inference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74320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vLLM 0.6+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46120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2044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Qwen 2.5 14B (BF16)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023360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Endpoint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29768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localhost:8000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00600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Outbound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07492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Cloudflared client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Database: MongoDB Atlas (shared) — Lambda and the cluster both read from the same Atlas instance, so users log in from either domain and see the same sessions.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Happens When a Student Sends a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8D2DC"/>
                </a:solidFill>
                <a:latin typeface="Calibri"/>
              </a:rPr>
              <a:t>End-to-end request flow through the tunnel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0" rIns="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0972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Student types in the chat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Browser at hopscotchai.us or hopscotch4all.com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645919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0" rIns="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45919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Frontend sends POST to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20239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Lambda machine, FastAPI on port 9580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0" rIns="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Backend reads worldview and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68879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MongoDB Atlas (shared cloud database)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0" rIns="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4320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Backend retrieves RAG passages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17520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Local FAISS index on Lambda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29184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0" rIns="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9184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Backend calls vllm.hopscotchai.us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566160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HTTPS request through Cloudflare tunnel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0" rIns="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404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Cluster runs inference on Qwen 2.5 14B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14800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vLLM batches with up to 49 other students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38912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0" rIns="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891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Response streams back to Lambda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663440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Same tunnel, server-sent events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937759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0" rIns="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937759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Backend persists chat to Atlas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79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Saves user + assistant turns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5486399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0" rIns="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486399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Frontend renders the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760719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Student sees tokens streaming in real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Measured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8D2DC"/>
                </a:solidFill>
                <a:latin typeface="Calibri"/>
              </a:rPr>
              <a:t>Same Qwen 2.5 14B model — Lambda vs GPU Cluster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286000"/>
                <a:gridCol w="2286000"/>
                <a:gridCol w="1463040"/>
                <a:gridCol w="301752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Concurrent Users</a:t>
                      </a:r>
                    </a:p>
                  </a:txBody>
                  <a:tcPr marL="91440" marR="9144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Ollama on Lambda</a:t>
                      </a:r>
                    </a:p>
                  </a:txBody>
                  <a:tcPr marL="91440" marR="9144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vLLM on Cluster</a:t>
                      </a:r>
                    </a:p>
                  </a:txBody>
                  <a:tcPr marL="91440" marR="9144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Speedup</a:t>
                      </a:r>
                    </a:p>
                  </a:txBody>
                  <a:tcPr marL="91440" marR="9144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 marL="91440" marR="91440">
                    <a:solidFill>
                      <a:srgbClr val="0E2A4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 user</a:t>
                      </a:r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3.7s</a:t>
                      </a:r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3.3s</a:t>
                      </a:r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1.1x</a:t>
                      </a:r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100% to 100%</a:t>
                      </a:r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10 users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25.5s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4.9s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Calibri"/>
                        </a:rPr>
                        <a:t>5.2x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100% to 100%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25 users</a:t>
                      </a:r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66.0s</a:t>
                      </a:r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5.0s</a:t>
                      </a:r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Calibri"/>
                        </a:rPr>
                        <a:t>13.2x</a:t>
                      </a:r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100% to 100%</a:t>
                      </a:r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50 users (pilot)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0392B"/>
                          </a:solidFill>
                          <a:latin typeface="Calibri"/>
                        </a:rPr>
                        <a:t>92.4s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Calibri"/>
                        </a:rPr>
                        <a:t>8.4s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Calibri"/>
                        </a:rPr>
                        <a:t>11.0x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0392B"/>
                          </a:solidFill>
                          <a:latin typeface="Calibri"/>
                        </a:rPr>
                        <a:t>72% to 100%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663440"/>
            <a:ext cx="11247120" cy="1463040"/>
          </a:xfrm>
          <a:prstGeom prst="roundRect">
            <a:avLst/>
          </a:prstGeom>
          <a:solidFill>
            <a:srgbClr val="ECFDF5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Calibri"/>
              </a:rPr>
              <a:t>Pilot target now passes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At 50 concurrent students, response time dropped from 92s (with 28% failures) to 8.4s with zero failures. That is an 11x speedup with reliability fully restored — without changing the underlying model or any user-facing feature.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Status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8D2DC"/>
                </a:solidFill>
                <a:latin typeface="Calibri"/>
              </a:rPr>
              <a:t>What is live and what protects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64592" cy="77724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Calibri"/>
              </a:rPr>
              <a:t>Live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Both hopscotchai.us and hopscotch4all.com route LLM calls through the Cloudflare tunnel to vLLM on the GPU cluster.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164592" cy="777240"/>
          </a:xfrm>
          <a:prstGeom prst="roundRect">
            <a:avLst/>
          </a:prstGeom>
          <a:solidFill>
            <a:srgbClr val="0E2A47"/>
          </a:solidFill>
          <a:ln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E2A47"/>
                </a:solidFill>
                <a:latin typeface="Calibri"/>
              </a:rPr>
              <a:t>Shared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MongoDB Atlas holds users, sessions, and chat history. Either domain reads and writes the same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164592" cy="777240"/>
          </a:xfrm>
          <a:prstGeom prst="roundRect">
            <a:avLst/>
          </a:prstGeom>
          <a:solidFill>
            <a:srgbClr val="F57C00"/>
          </a:solidFill>
          <a:ln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57C00"/>
                </a:solidFill>
                <a:latin typeface="Calibri"/>
              </a:rPr>
              <a:t>Automatic failover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If the GPU cluster or the tunnel goes down, the backend falls back to Ollama on Lambda automatically. Students never see a broken 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69080"/>
            <a:ext cx="164592" cy="77724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Calibri"/>
              </a:rPr>
              <a:t>Auto-restart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PM2 manages the backend, frontend, and tunnel processes with crash recovery. A watchdog runs every 2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164592" cy="77724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2920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Calibri"/>
              </a:rPr>
              <a:t>Ready for the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Infrastructure validated at 50 concurrent users with 100% success rate. Ready for the AP Research classroom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