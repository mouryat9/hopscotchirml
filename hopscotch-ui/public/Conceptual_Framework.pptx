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Lst>
  <p:sldSz cy="5715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80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customXml" Target="../customXml/item1.xml"/><Relationship Id="rId10" Type="http://schemas.openxmlformats.org/officeDocument/2006/relationships/customXml" Target="../customXml/item2.xml"/><Relationship Id="rId11"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63e3bd419d_0_8: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63e3bd419d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6347c6fb46_0_0: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6347c6fb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6347c6fb46_0_59:notes"/>
          <p:cNvSpPr/>
          <p:nvPr>
            <p:ph idx="2" type="sldImg"/>
          </p:nvPr>
        </p:nvSpPr>
        <p:spPr>
          <a:xfrm>
            <a:off x="686104" y="685800"/>
            <a:ext cx="54864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6347c6fb4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827306"/>
            <a:ext cx="8520600" cy="2280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149028"/>
            <a:ext cx="8520600" cy="880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389833"/>
            <a:ext cx="8520600" cy="9354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94472"/>
            <a:ext cx="8520600" cy="636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280528"/>
            <a:ext cx="8520600" cy="3795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94472"/>
            <a:ext cx="8520600" cy="636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280528"/>
            <a:ext cx="3999900" cy="379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280528"/>
            <a:ext cx="3999900" cy="3795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94472"/>
            <a:ext cx="8520600" cy="6363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617333"/>
            <a:ext cx="2808000" cy="839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544000"/>
            <a:ext cx="2808000" cy="35328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500167"/>
            <a:ext cx="6367800" cy="4545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39"/>
            <a:ext cx="4572000" cy="571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370194"/>
            <a:ext cx="4045200" cy="16470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114528"/>
            <a:ext cx="4045200" cy="13722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804528"/>
            <a:ext cx="3837000" cy="41058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700639"/>
            <a:ext cx="5998800" cy="6723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229028"/>
            <a:ext cx="8520600" cy="2181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502472"/>
            <a:ext cx="8520600" cy="14454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5181352"/>
            <a:ext cx="548700" cy="4374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94472"/>
            <a:ext cx="8520600" cy="6363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280528"/>
            <a:ext cx="8520600" cy="3795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5181352"/>
            <a:ext cx="548700" cy="4374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2678462" y="529318"/>
            <a:ext cx="3769500" cy="480000"/>
          </a:xfrm>
          <a:prstGeom prst="roundRect">
            <a:avLst>
              <a:gd fmla="val 16667" name="adj"/>
            </a:avLst>
          </a:prstGeom>
          <a:solidFill>
            <a:srgbClr val="CC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Literature Review</a:t>
            </a:r>
            <a:endParaRPr b="1" sz="800">
              <a:solidFill>
                <a:schemeClr val="dk1"/>
              </a:solidFill>
            </a:endParaRPr>
          </a:p>
          <a:p>
            <a:pPr indent="0" lvl="0" marL="0" rtl="0" algn="l">
              <a:spcBef>
                <a:spcPts val="0"/>
              </a:spcBef>
              <a:spcAft>
                <a:spcPts val="0"/>
              </a:spcAft>
              <a:buNone/>
            </a:pPr>
            <a:r>
              <a:t/>
            </a:r>
            <a:endParaRPr/>
          </a:p>
        </p:txBody>
      </p:sp>
      <p:grpSp>
        <p:nvGrpSpPr>
          <p:cNvPr id="55" name="Google Shape;55;p13"/>
          <p:cNvGrpSpPr/>
          <p:nvPr/>
        </p:nvGrpSpPr>
        <p:grpSpPr>
          <a:xfrm>
            <a:off x="6545075" y="524250"/>
            <a:ext cx="2451600" cy="2669050"/>
            <a:chOff x="6545075" y="67050"/>
            <a:chExt cx="2451600" cy="2669050"/>
          </a:xfrm>
        </p:grpSpPr>
        <p:sp>
          <p:nvSpPr>
            <p:cNvPr id="56" name="Google Shape;56;p13"/>
            <p:cNvSpPr/>
            <p:nvPr/>
          </p:nvSpPr>
          <p:spPr>
            <a:xfrm>
              <a:off x="6545075" y="67050"/>
              <a:ext cx="2451600" cy="4800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Theoretical Frameworks</a:t>
              </a:r>
              <a:endParaRPr b="1" sz="800">
                <a:solidFill>
                  <a:schemeClr val="dk1"/>
                </a:solidFill>
              </a:endParaRPr>
            </a:p>
            <a:p>
              <a:pPr indent="0" lvl="0" marL="0" rtl="0" algn="l">
                <a:spcBef>
                  <a:spcPts val="0"/>
                </a:spcBef>
                <a:spcAft>
                  <a:spcPts val="0"/>
                </a:spcAft>
                <a:buNone/>
              </a:pPr>
              <a:r>
                <a:t/>
              </a:r>
              <a:endParaRPr/>
            </a:p>
          </p:txBody>
        </p:sp>
        <p:sp>
          <p:nvSpPr>
            <p:cNvPr id="57" name="Google Shape;57;p13"/>
            <p:cNvSpPr/>
            <p:nvPr/>
          </p:nvSpPr>
          <p:spPr>
            <a:xfrm>
              <a:off x="6545075" y="336400"/>
              <a:ext cx="2451600" cy="2399700"/>
            </a:xfrm>
            <a:prstGeom prst="rect">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a:p>
          </p:txBody>
        </p:sp>
      </p:grpSp>
      <p:grpSp>
        <p:nvGrpSpPr>
          <p:cNvPr id="58" name="Google Shape;58;p13"/>
          <p:cNvGrpSpPr/>
          <p:nvPr/>
        </p:nvGrpSpPr>
        <p:grpSpPr>
          <a:xfrm>
            <a:off x="121821" y="4615700"/>
            <a:ext cx="2453942" cy="1000625"/>
            <a:chOff x="121825" y="4615700"/>
            <a:chExt cx="2204403" cy="1000625"/>
          </a:xfrm>
        </p:grpSpPr>
        <p:sp>
          <p:nvSpPr>
            <p:cNvPr id="59" name="Google Shape;59;p13"/>
            <p:cNvSpPr/>
            <p:nvPr/>
          </p:nvSpPr>
          <p:spPr>
            <a:xfrm>
              <a:off x="121825" y="4615700"/>
              <a:ext cx="2204400" cy="4800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800">
                  <a:solidFill>
                    <a:schemeClr val="dk1"/>
                  </a:solidFill>
                </a:rPr>
                <a:t>Identity &amp; Positionality</a:t>
              </a:r>
              <a:endParaRPr b="1" sz="800">
                <a:solidFill>
                  <a:schemeClr val="dk1"/>
                </a:solidFill>
              </a:endParaRPr>
            </a:p>
            <a:p>
              <a:pPr indent="0" lvl="0" marL="0" rtl="0" algn="l">
                <a:spcBef>
                  <a:spcPts val="0"/>
                </a:spcBef>
                <a:spcAft>
                  <a:spcPts val="0"/>
                </a:spcAft>
                <a:buNone/>
              </a:pPr>
              <a:r>
                <a:t/>
              </a:r>
              <a:endParaRPr/>
            </a:p>
          </p:txBody>
        </p:sp>
        <p:sp>
          <p:nvSpPr>
            <p:cNvPr id="60" name="Google Shape;60;p13"/>
            <p:cNvSpPr/>
            <p:nvPr/>
          </p:nvSpPr>
          <p:spPr>
            <a:xfrm>
              <a:off x="121828" y="4879525"/>
              <a:ext cx="2204400" cy="7368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700">
                  <a:solidFill>
                    <a:schemeClr val="dk1"/>
                  </a:solidFill>
                </a:rPr>
                <a:t>Constructivist</a:t>
              </a:r>
              <a:endParaRPr sz="700">
                <a:solidFill>
                  <a:schemeClr val="dk1"/>
                </a:solidFill>
              </a:endParaRPr>
            </a:p>
            <a:p>
              <a:pPr indent="0" lvl="0" marL="0" rtl="0" algn="l">
                <a:spcBef>
                  <a:spcPts val="0"/>
                </a:spcBef>
                <a:spcAft>
                  <a:spcPts val="0"/>
                </a:spcAft>
                <a:buNone/>
              </a:pPr>
              <a:r>
                <a:t/>
              </a:r>
              <a:endParaRPr/>
            </a:p>
          </p:txBody>
        </p:sp>
      </p:grpSp>
      <p:sp>
        <p:nvSpPr>
          <p:cNvPr id="61" name="Google Shape;61;p13"/>
          <p:cNvSpPr txBox="1"/>
          <p:nvPr/>
        </p:nvSpPr>
        <p:spPr>
          <a:xfrm>
            <a:off x="3072000" y="1081300"/>
            <a:ext cx="3000000" cy="2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900">
                <a:solidFill>
                  <a:srgbClr val="073763"/>
                </a:solidFill>
              </a:rPr>
              <a:t>Conceptual Framework:  Mango</a:t>
            </a:r>
            <a:endParaRPr b="1" sz="900">
              <a:solidFill>
                <a:srgbClr val="073763"/>
              </a:solidFill>
            </a:endParaRPr>
          </a:p>
        </p:txBody>
      </p:sp>
      <p:sp>
        <p:nvSpPr>
          <p:cNvPr id="62" name="Google Shape;62;p13"/>
          <p:cNvSpPr/>
          <p:nvPr/>
        </p:nvSpPr>
        <p:spPr>
          <a:xfrm>
            <a:off x="3323575" y="4879525"/>
            <a:ext cx="2548500" cy="309000"/>
          </a:xfrm>
          <a:prstGeom prst="roundRect">
            <a:avLst>
              <a:gd fmla="val 16667"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800">
              <a:solidFill>
                <a:schemeClr val="dk1"/>
              </a:solidFill>
            </a:endParaRPr>
          </a:p>
          <a:p>
            <a:pPr indent="0" lvl="0" marL="0" rtl="0" algn="ctr">
              <a:spcBef>
                <a:spcPts val="0"/>
              </a:spcBef>
              <a:spcAft>
                <a:spcPts val="0"/>
              </a:spcAft>
              <a:buNone/>
            </a:pPr>
            <a:r>
              <a:rPr b="1" lang="en" sz="800">
                <a:solidFill>
                  <a:schemeClr val="dk1"/>
                </a:solidFill>
              </a:rPr>
              <a:t>Research Design</a:t>
            </a:r>
            <a:endParaRPr b="1" sz="800">
              <a:solidFill>
                <a:schemeClr val="dk1"/>
              </a:solidFill>
            </a:endParaRPr>
          </a:p>
          <a:p>
            <a:pPr indent="0" lvl="0" marL="0" rtl="0" algn="l">
              <a:spcBef>
                <a:spcPts val="0"/>
              </a:spcBef>
              <a:spcAft>
                <a:spcPts val="0"/>
              </a:spcAft>
              <a:buNone/>
            </a:pPr>
            <a:r>
              <a:t/>
            </a:r>
            <a:endParaRPr/>
          </a:p>
        </p:txBody>
      </p:sp>
      <p:sp>
        <p:nvSpPr>
          <p:cNvPr id="63" name="Google Shape;63;p13"/>
          <p:cNvSpPr/>
          <p:nvPr/>
        </p:nvSpPr>
        <p:spPr>
          <a:xfrm>
            <a:off x="3323575" y="5091450"/>
            <a:ext cx="2548500" cy="5247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a:p>
        </p:txBody>
      </p:sp>
      <p:sp>
        <p:nvSpPr>
          <p:cNvPr id="64" name="Google Shape;64;p13"/>
          <p:cNvSpPr/>
          <p:nvPr/>
        </p:nvSpPr>
        <p:spPr>
          <a:xfrm>
            <a:off x="6573600" y="3286800"/>
            <a:ext cx="2451600" cy="4800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Problem Statement</a:t>
            </a:r>
            <a:endParaRPr b="1" sz="800">
              <a:solidFill>
                <a:schemeClr val="dk1"/>
              </a:solidFill>
            </a:endParaRPr>
          </a:p>
          <a:p>
            <a:pPr indent="0" lvl="0" marL="0" rtl="0" algn="l">
              <a:spcBef>
                <a:spcPts val="0"/>
              </a:spcBef>
              <a:spcAft>
                <a:spcPts val="0"/>
              </a:spcAft>
              <a:buNone/>
            </a:pPr>
            <a:r>
              <a:t/>
            </a:r>
            <a:endParaRPr/>
          </a:p>
        </p:txBody>
      </p:sp>
      <p:sp>
        <p:nvSpPr>
          <p:cNvPr id="65" name="Google Shape;65;p13"/>
          <p:cNvSpPr/>
          <p:nvPr/>
        </p:nvSpPr>
        <p:spPr>
          <a:xfrm>
            <a:off x="6573525" y="3535275"/>
            <a:ext cx="2451600" cy="10803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a:p>
        </p:txBody>
      </p:sp>
      <p:sp>
        <p:nvSpPr>
          <p:cNvPr id="66" name="Google Shape;66;p13"/>
          <p:cNvSpPr/>
          <p:nvPr/>
        </p:nvSpPr>
        <p:spPr>
          <a:xfrm>
            <a:off x="6573638" y="4726875"/>
            <a:ext cx="2451600" cy="4800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Research Questions</a:t>
            </a:r>
            <a:endParaRPr b="1" sz="800">
              <a:solidFill>
                <a:schemeClr val="dk1"/>
              </a:solidFill>
            </a:endParaRPr>
          </a:p>
          <a:p>
            <a:pPr indent="0" lvl="0" marL="0" rtl="0" algn="l">
              <a:spcBef>
                <a:spcPts val="0"/>
              </a:spcBef>
              <a:spcAft>
                <a:spcPts val="0"/>
              </a:spcAft>
              <a:buNone/>
            </a:pPr>
            <a:r>
              <a:t/>
            </a:r>
            <a:endParaRPr/>
          </a:p>
        </p:txBody>
      </p:sp>
      <p:sp>
        <p:nvSpPr>
          <p:cNvPr id="67" name="Google Shape;67;p13"/>
          <p:cNvSpPr/>
          <p:nvPr/>
        </p:nvSpPr>
        <p:spPr>
          <a:xfrm>
            <a:off x="6573575" y="4981050"/>
            <a:ext cx="2451600" cy="6354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dk1"/>
              </a:solidFill>
            </a:endParaRPr>
          </a:p>
          <a:p>
            <a:pPr indent="0" lvl="0" marL="0" rtl="0" algn="ctr">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a:p>
        </p:txBody>
      </p:sp>
      <p:sp>
        <p:nvSpPr>
          <p:cNvPr id="68" name="Google Shape;68;p13"/>
          <p:cNvSpPr/>
          <p:nvPr/>
        </p:nvSpPr>
        <p:spPr>
          <a:xfrm>
            <a:off x="6764025" y="856375"/>
            <a:ext cx="2070600" cy="37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B45F06"/>
                </a:solidFill>
              </a:rPr>
              <a:t/>
            </a:r>
            <a:endParaRPr sz="700">
              <a:solidFill>
                <a:srgbClr val="B45F06"/>
              </a:solidFill>
            </a:endParaRPr>
          </a:p>
        </p:txBody>
      </p:sp>
      <p:sp>
        <p:nvSpPr>
          <p:cNvPr id="69" name="Google Shape;69;p13"/>
          <p:cNvSpPr/>
          <p:nvPr/>
        </p:nvSpPr>
        <p:spPr>
          <a:xfrm>
            <a:off x="6764025" y="1355400"/>
            <a:ext cx="2070600" cy="3540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B45F06"/>
                </a:solidFill>
              </a:rPr>
              <a:t/>
            </a:r>
            <a:endParaRPr sz="700">
              <a:solidFill>
                <a:srgbClr val="B45F06"/>
              </a:solidFill>
            </a:endParaRPr>
          </a:p>
        </p:txBody>
      </p:sp>
      <p:sp>
        <p:nvSpPr>
          <p:cNvPr id="70" name="Google Shape;70;p13"/>
          <p:cNvSpPr/>
          <p:nvPr/>
        </p:nvSpPr>
        <p:spPr>
          <a:xfrm>
            <a:off x="6764025" y="1835900"/>
            <a:ext cx="2070600" cy="37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B45F06"/>
                </a:solidFill>
              </a:rPr>
              <a:t/>
            </a:r>
            <a:endParaRPr sz="700">
              <a:solidFill>
                <a:srgbClr val="B45F06"/>
              </a:solidFill>
            </a:endParaRPr>
          </a:p>
        </p:txBody>
      </p:sp>
      <p:sp>
        <p:nvSpPr>
          <p:cNvPr id="71" name="Google Shape;71;p13"/>
          <p:cNvSpPr/>
          <p:nvPr/>
        </p:nvSpPr>
        <p:spPr>
          <a:xfrm>
            <a:off x="6764025" y="230772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B45F06"/>
                </a:solidFill>
              </a:rPr>
              <a:t/>
            </a:r>
            <a:endParaRPr sz="700">
              <a:solidFill>
                <a:srgbClr val="B45F06"/>
              </a:solidFill>
            </a:endParaRPr>
          </a:p>
        </p:txBody>
      </p:sp>
      <p:sp>
        <p:nvSpPr>
          <p:cNvPr id="72" name="Google Shape;72;p13"/>
          <p:cNvSpPr/>
          <p:nvPr/>
        </p:nvSpPr>
        <p:spPr>
          <a:xfrm>
            <a:off x="6764025" y="279935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B45F06"/>
                </a:solidFill>
              </a:rPr>
              <a:t/>
            </a:r>
            <a:endParaRPr sz="700">
              <a:solidFill>
                <a:srgbClr val="B45F06"/>
              </a:solidFill>
            </a:endParaRPr>
          </a:p>
        </p:txBody>
      </p:sp>
      <p:sp>
        <p:nvSpPr>
          <p:cNvPr id="73" name="Google Shape;73;p13"/>
          <p:cNvSpPr/>
          <p:nvPr/>
        </p:nvSpPr>
        <p:spPr>
          <a:xfrm>
            <a:off x="121825" y="524251"/>
            <a:ext cx="2451600" cy="476100"/>
          </a:xfrm>
          <a:prstGeom prst="roundRect">
            <a:avLst>
              <a:gd fmla="val 16667" name="adj"/>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Topical Research</a:t>
            </a:r>
            <a:endParaRPr b="1" sz="800">
              <a:solidFill>
                <a:schemeClr val="dk1"/>
              </a:solidFill>
            </a:endParaRPr>
          </a:p>
          <a:p>
            <a:pPr indent="0" lvl="0" marL="0" rtl="0" algn="l">
              <a:spcBef>
                <a:spcPts val="0"/>
              </a:spcBef>
              <a:spcAft>
                <a:spcPts val="0"/>
              </a:spcAft>
              <a:buNone/>
            </a:pPr>
            <a:r>
              <a:t/>
            </a:r>
            <a:endParaRPr/>
          </a:p>
        </p:txBody>
      </p:sp>
      <p:sp>
        <p:nvSpPr>
          <p:cNvPr id="74" name="Google Shape;74;p13"/>
          <p:cNvSpPr/>
          <p:nvPr/>
        </p:nvSpPr>
        <p:spPr>
          <a:xfrm>
            <a:off x="121825" y="776850"/>
            <a:ext cx="2451600" cy="2394300"/>
          </a:xfrm>
          <a:prstGeom prst="rect">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a:p>
        </p:txBody>
      </p:sp>
      <p:sp>
        <p:nvSpPr>
          <p:cNvPr id="75" name="Google Shape;75;p13"/>
          <p:cNvSpPr/>
          <p:nvPr/>
        </p:nvSpPr>
        <p:spPr>
          <a:xfrm>
            <a:off x="280150" y="84940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0B5394"/>
                </a:solidFill>
              </a:rPr>
              <a:t>Research shows that collaborative learning can enhance student engagement and achievement (Vygotsky, 1978; Johnson &amp; Johnson, 1999). Recent studies indicate that Generation Z students are "digital natives" who naturally integrate technology into their learning (Prensky, 2001). However, there's limited research on how students self-organize learning communities on social media platforms. Some studies suggest that peer-to-peer learning on social media can increase motivation (Manca &amp; Ranieri, 2016), while others raise concerns about distraction and misinformation. The gap I see is understanding the authentic student experience and perspective on these practices.</a:t>
            </a:r>
            <a:endParaRPr sz="700">
              <a:solidFill>
                <a:srgbClr val="0B5394"/>
              </a:solidFill>
            </a:endParaRPr>
          </a:p>
        </p:txBody>
      </p:sp>
      <p:sp>
        <p:nvSpPr>
          <p:cNvPr id="76" name="Google Shape;76;p13"/>
          <p:cNvSpPr/>
          <p:nvPr/>
        </p:nvSpPr>
        <p:spPr>
          <a:xfrm>
            <a:off x="280150" y="124222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0B5394"/>
                </a:solidFill>
              </a:rPr>
              <a:t/>
            </a:r>
            <a:endParaRPr sz="700">
              <a:solidFill>
                <a:srgbClr val="0B5394"/>
              </a:solidFill>
            </a:endParaRPr>
          </a:p>
        </p:txBody>
      </p:sp>
      <p:sp>
        <p:nvSpPr>
          <p:cNvPr id="77" name="Google Shape;77;p13"/>
          <p:cNvSpPr/>
          <p:nvPr/>
        </p:nvSpPr>
        <p:spPr>
          <a:xfrm>
            <a:off x="280150" y="171125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0B5394"/>
                </a:solidFill>
              </a:rPr>
              <a:t/>
            </a:r>
            <a:endParaRPr sz="700">
              <a:solidFill>
                <a:srgbClr val="0B5394"/>
              </a:solidFill>
            </a:endParaRPr>
          </a:p>
        </p:txBody>
      </p:sp>
      <p:sp>
        <p:nvSpPr>
          <p:cNvPr id="78" name="Google Shape;78;p13"/>
          <p:cNvSpPr/>
          <p:nvPr/>
        </p:nvSpPr>
        <p:spPr>
          <a:xfrm>
            <a:off x="280150" y="221882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0B5394"/>
                </a:solidFill>
              </a:rPr>
              <a:t/>
            </a:r>
            <a:endParaRPr sz="700">
              <a:solidFill>
                <a:srgbClr val="0B5394"/>
              </a:solidFill>
            </a:endParaRPr>
          </a:p>
        </p:txBody>
      </p:sp>
      <p:sp>
        <p:nvSpPr>
          <p:cNvPr id="79" name="Google Shape;79;p13"/>
          <p:cNvSpPr/>
          <p:nvPr/>
        </p:nvSpPr>
        <p:spPr>
          <a:xfrm>
            <a:off x="280150" y="272640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0B5394"/>
                </a:solidFill>
              </a:rPr>
              <a:t/>
            </a:r>
            <a:endParaRPr sz="700">
              <a:solidFill>
                <a:srgbClr val="0B5394"/>
              </a:solidFill>
            </a:endParaRPr>
          </a:p>
        </p:txBody>
      </p:sp>
      <p:sp>
        <p:nvSpPr>
          <p:cNvPr id="80" name="Google Shape;80;p13"/>
          <p:cNvSpPr/>
          <p:nvPr/>
        </p:nvSpPr>
        <p:spPr>
          <a:xfrm>
            <a:off x="2678450" y="789950"/>
            <a:ext cx="3769500" cy="570600"/>
          </a:xfrm>
          <a:prstGeom prst="roundRect">
            <a:avLst>
              <a:gd fmla="val 0" name="adj"/>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Gap/s Found:</a:t>
            </a:r>
            <a:r>
              <a:rPr lang="en" sz="800"/>
              <a:t> </a:t>
            </a:r>
            <a:endParaRPr sz="800"/>
          </a:p>
          <a:p>
            <a:pPr indent="0" lvl="0" marL="0" rtl="0" algn="ctr">
              <a:spcBef>
                <a:spcPts val="0"/>
              </a:spcBef>
              <a:spcAft>
                <a:spcPts val="0"/>
              </a:spcAft>
              <a:buNone/>
            </a:pPr>
            <a:r>
              <a:rPr lang="en" sz="700"/>
              <a:t>Not yet identified</a:t>
            </a:r>
            <a:endParaRPr sz="700"/>
          </a:p>
        </p:txBody>
      </p:sp>
      <p:sp>
        <p:nvSpPr>
          <p:cNvPr id="81" name="Google Shape;81;p13"/>
          <p:cNvSpPr/>
          <p:nvPr/>
        </p:nvSpPr>
        <p:spPr>
          <a:xfrm>
            <a:off x="146350" y="3288950"/>
            <a:ext cx="2427000" cy="480000"/>
          </a:xfrm>
          <a:prstGeom prst="roundRect">
            <a:avLst>
              <a:gd fmla="val 16667"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sz="800">
              <a:solidFill>
                <a:schemeClr val="dk1"/>
              </a:solidFill>
            </a:endParaRPr>
          </a:p>
          <a:p>
            <a:pPr indent="0" lvl="0" marL="0" rtl="0" algn="ctr">
              <a:spcBef>
                <a:spcPts val="0"/>
              </a:spcBef>
              <a:spcAft>
                <a:spcPts val="0"/>
              </a:spcAft>
              <a:buNone/>
            </a:pPr>
            <a:r>
              <a:rPr b="1" lang="en" sz="800">
                <a:solidFill>
                  <a:schemeClr val="dk1"/>
                </a:solidFill>
              </a:rPr>
              <a:t>Personal Interests &amp; Goals</a:t>
            </a:r>
            <a:endParaRPr>
              <a:solidFill>
                <a:schemeClr val="dk1"/>
              </a:solidFill>
            </a:endParaRPr>
          </a:p>
          <a:p>
            <a:pPr indent="0" lvl="0" marL="0" rtl="0" algn="ctr">
              <a:spcBef>
                <a:spcPts val="0"/>
              </a:spcBef>
              <a:spcAft>
                <a:spcPts val="0"/>
              </a:spcAft>
              <a:buNone/>
            </a:pPr>
            <a:r>
              <a:t/>
            </a:r>
            <a:endParaRPr b="1" sz="800">
              <a:solidFill>
                <a:schemeClr val="dk1"/>
              </a:solidFill>
            </a:endParaRPr>
          </a:p>
          <a:p>
            <a:pPr indent="0" lvl="0" marL="0" rtl="0" algn="l">
              <a:spcBef>
                <a:spcPts val="0"/>
              </a:spcBef>
              <a:spcAft>
                <a:spcPts val="0"/>
              </a:spcAft>
              <a:buNone/>
            </a:pPr>
            <a:r>
              <a:t/>
            </a:r>
            <a:endParaRPr/>
          </a:p>
        </p:txBody>
      </p:sp>
      <p:sp>
        <p:nvSpPr>
          <p:cNvPr id="82" name="Google Shape;82;p13"/>
          <p:cNvSpPr/>
          <p:nvPr/>
        </p:nvSpPr>
        <p:spPr>
          <a:xfrm>
            <a:off x="146350" y="3586300"/>
            <a:ext cx="2427000" cy="9264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chemeClr val="dk1"/>
                </a:solidFill>
              </a:rPr>
              <a:t>Not yet defined</a:t>
            </a:r>
            <a:endParaRPr sz="700">
              <a:solidFill>
                <a:schemeClr val="dk1"/>
              </a:solidFill>
            </a:endParaRPr>
          </a:p>
          <a:p>
            <a:pPr indent="0" lvl="0" marL="0" rtl="0" algn="ctr">
              <a:spcBef>
                <a:spcPts val="0"/>
              </a:spcBef>
              <a:spcAft>
                <a:spcPts val="0"/>
              </a:spcAft>
              <a:buNone/>
            </a:pPr>
            <a:r>
              <a:t/>
            </a:r>
            <a:endParaRPr sz="800">
              <a:solidFill>
                <a:schemeClr val="dk1"/>
              </a:solidFill>
            </a:endParaRPr>
          </a:p>
          <a:p>
            <a:pPr indent="0" lvl="0" marL="0" rtl="0" algn="l">
              <a:spcBef>
                <a:spcPts val="0"/>
              </a:spcBef>
              <a:spcAft>
                <a:spcPts val="0"/>
              </a:spcAft>
              <a:buNone/>
            </a:pPr>
            <a:r>
              <a:t/>
            </a:r>
            <a:endParaRPr/>
          </a:p>
        </p:txBody>
      </p:sp>
      <p:sp>
        <p:nvSpPr>
          <p:cNvPr id="83" name="Google Shape;83;p13"/>
          <p:cNvSpPr txBox="1"/>
          <p:nvPr/>
        </p:nvSpPr>
        <p:spPr>
          <a:xfrm>
            <a:off x="1600800" y="26550"/>
            <a:ext cx="5846400" cy="43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900">
                <a:solidFill>
                  <a:srgbClr val="073763"/>
                </a:solidFill>
              </a:rPr>
              <a:t>Research Topic: </a:t>
            </a:r>
            <a:r>
              <a:rPr lang="en" sz="900">
                <a:solidFill>
                  <a:srgbClr val="073763"/>
                </a:solidFill>
              </a:rPr>
              <a:t>I'm wondering about how high school students use social media for collaborative learning outside the classroom. Specifically, I'm interested in understanding what motivates them to create study groups online, how they share knowledge with peers, and whether these informal learning spaces impact their academic performance and engagement. I've noticed that many students seem to learn from each other on platforms like Discord and Instagram, and I want to explore this phenomenon more deeply.</a:t>
            </a:r>
            <a:endParaRPr sz="900">
              <a:solidFill>
                <a:srgbClr val="073763"/>
              </a:solidFill>
            </a:endParaRPr>
          </a:p>
        </p:txBody>
      </p:sp>
      <p:sp>
        <p:nvSpPr>
          <p:cNvPr id="84" name="Google Shape;84;p13"/>
          <p:cNvSpPr/>
          <p:nvPr/>
        </p:nvSpPr>
        <p:spPr>
          <a:xfrm>
            <a:off x="2486850" y="830500"/>
            <a:ext cx="269100" cy="1746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p:nvPr/>
        </p:nvSpPr>
        <p:spPr>
          <a:xfrm rot="5400000">
            <a:off x="8616225" y="4625669"/>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rot="5400000">
            <a:off x="6720375" y="4625669"/>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rot="10800000">
            <a:off x="5980125" y="5159100"/>
            <a:ext cx="485400" cy="279300"/>
          </a:xfrm>
          <a:prstGeom prst="chevron">
            <a:avLst>
              <a:gd fmla="val 5000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3"/>
          <p:cNvSpPr/>
          <p:nvPr/>
        </p:nvSpPr>
        <p:spPr>
          <a:xfrm>
            <a:off x="2706975" y="5159100"/>
            <a:ext cx="485400" cy="279300"/>
          </a:xfrm>
          <a:prstGeom prst="chevron">
            <a:avLst>
              <a:gd fmla="val 50000"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3"/>
          <p:cNvSpPr/>
          <p:nvPr/>
        </p:nvSpPr>
        <p:spPr>
          <a:xfrm rot="-5400000">
            <a:off x="216725" y="4537419"/>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3"/>
          <p:cNvSpPr/>
          <p:nvPr/>
        </p:nvSpPr>
        <p:spPr>
          <a:xfrm rot="-5400000">
            <a:off x="2149500" y="4567044"/>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p:nvPr/>
        </p:nvSpPr>
        <p:spPr>
          <a:xfrm rot="5400000">
            <a:off x="8616225" y="3204206"/>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3"/>
          <p:cNvSpPr/>
          <p:nvPr/>
        </p:nvSpPr>
        <p:spPr>
          <a:xfrm rot="5400000">
            <a:off x="6720375" y="3204206"/>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3"/>
          <p:cNvSpPr/>
          <p:nvPr/>
        </p:nvSpPr>
        <p:spPr>
          <a:xfrm rot="-5400000">
            <a:off x="212113" y="3188781"/>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p:nvPr/>
        </p:nvSpPr>
        <p:spPr>
          <a:xfrm rot="-5400000">
            <a:off x="2144888" y="3218406"/>
            <a:ext cx="362700" cy="1671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3"/>
          <p:cNvSpPr txBox="1"/>
          <p:nvPr/>
        </p:nvSpPr>
        <p:spPr>
          <a:xfrm>
            <a:off x="0" y="0"/>
            <a:ext cx="15492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
                <a:solidFill>
                  <a:srgbClr val="073763"/>
                </a:solidFill>
                <a:highlight>
                  <a:srgbClr val="FFFFFF"/>
                </a:highlight>
              </a:rPr>
              <a:t>Email:</a:t>
            </a:r>
            <a:r>
              <a:rPr lang="en" sz="600">
                <a:solidFill>
                  <a:srgbClr val="073763"/>
                </a:solidFill>
                <a:highlight>
                  <a:srgbClr val="FFFFFF"/>
                </a:highlight>
              </a:rPr>
              <a:t> mango@test.com</a:t>
            </a:r>
            <a:endParaRPr sz="600">
              <a:solidFill>
                <a:srgbClr val="073763"/>
              </a:solidFill>
              <a:highlight>
                <a:srgbClr val="FFFFFF"/>
              </a:highlight>
            </a:endParaRPr>
          </a:p>
          <a:p>
            <a:pPr indent="0" lvl="0" marL="0" rtl="0" algn="l">
              <a:spcBef>
                <a:spcPts val="0"/>
              </a:spcBef>
              <a:spcAft>
                <a:spcPts val="0"/>
              </a:spcAft>
              <a:buNone/>
            </a:pPr>
            <a:r>
              <a:rPr b="1" lang="en" sz="600">
                <a:solidFill>
                  <a:srgbClr val="073763"/>
                </a:solidFill>
                <a:highlight>
                  <a:srgbClr val="FFFFFF"/>
                </a:highlight>
              </a:rPr>
              <a:t>Date:</a:t>
            </a:r>
            <a:r>
              <a:rPr lang="en" sz="600">
                <a:solidFill>
                  <a:srgbClr val="073763"/>
                </a:solidFill>
                <a:highlight>
                  <a:srgbClr val="FFFFFF"/>
                </a:highlight>
              </a:rPr>
              <a:t> February 13, 2026</a:t>
            </a:r>
            <a:endParaRPr sz="600">
              <a:solidFill>
                <a:srgbClr val="073763"/>
              </a:solidFill>
              <a:highlight>
                <a:srgbClr val="FFFFFF"/>
              </a:highlight>
            </a:endParaRPr>
          </a:p>
        </p:txBody>
      </p:sp>
      <p:pic>
        <p:nvPicPr>
          <p:cNvPr id="96" name="Google Shape;96;p13"/>
          <p:cNvPicPr preferRelativeResize="0"/>
          <p:nvPr/>
        </p:nvPicPr>
        <p:blipFill>
          <a:blip r:embed="rId3">
            <a:alphaModFix/>
          </a:blip>
          <a:stretch>
            <a:fillRect/>
          </a:stretch>
        </p:blipFill>
        <p:spPr>
          <a:xfrm>
            <a:off x="7447325" y="50674"/>
            <a:ext cx="1549355" cy="430800"/>
          </a:xfrm>
          <a:prstGeom prst="rect">
            <a:avLst/>
          </a:prstGeom>
          <a:noFill/>
          <a:ln>
            <a:noFill/>
          </a:ln>
        </p:spPr>
      </p:pic>
      <p:sp>
        <p:nvSpPr>
          <p:cNvPr id="97" name="Google Shape;97;p13"/>
          <p:cNvSpPr/>
          <p:nvPr/>
        </p:nvSpPr>
        <p:spPr>
          <a:xfrm rot="10800000">
            <a:off x="6388125" y="830500"/>
            <a:ext cx="269100" cy="174600"/>
          </a:xfrm>
          <a:prstGeom prst="chevron">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txBox="1"/>
          <p:nvPr/>
        </p:nvSpPr>
        <p:spPr>
          <a:xfrm>
            <a:off x="6580625" y="3527575"/>
            <a:ext cx="2427000" cy="98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700">
                <a:solidFill>
                  <a:srgbClr val="38761D"/>
                </a:solidFill>
              </a:rPr>
              <a:t>Not yet defined</a:t>
            </a:r>
            <a:endParaRPr sz="700">
              <a:solidFill>
                <a:srgbClr val="38761D"/>
              </a:solidFill>
            </a:endParaRPr>
          </a:p>
          <a:p>
            <a:pPr indent="0" lvl="0" marL="0" rtl="0" algn="l">
              <a:spcBef>
                <a:spcPts val="0"/>
              </a:spcBef>
              <a:spcAft>
                <a:spcPts val="0"/>
              </a:spcAft>
              <a:buNone/>
            </a:pPr>
            <a:r>
              <a:t/>
            </a:r>
            <a:endParaRPr/>
          </a:p>
        </p:txBody>
      </p:sp>
      <p:sp>
        <p:nvSpPr>
          <p:cNvPr id="99" name="Google Shape;99;p13"/>
          <p:cNvSpPr txBox="1"/>
          <p:nvPr/>
        </p:nvSpPr>
        <p:spPr>
          <a:xfrm>
            <a:off x="6580625" y="4949700"/>
            <a:ext cx="2427000" cy="63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600">
                <a:solidFill>
                  <a:srgbClr val="38761D"/>
                </a:solidFill>
              </a:rPr>
              <a:t>How do high school students experience and make meaning of peer collaboration on social media platforms for academic learning purposes?
Sub-questions:
- What motivates students to engage in social media-based study groups?
- How do students describe the benefits and challenges of learning collaboratively on social media?
- In what ways do students believe these experiences influence their academic engagement?</a:t>
            </a:r>
            <a:endParaRPr sz="600">
              <a:solidFill>
                <a:srgbClr val="38761D"/>
              </a:solidFill>
            </a:endParaRPr>
          </a:p>
          <a:p>
            <a:pPr indent="0" lvl="0" marL="0" rtl="0" algn="l">
              <a:spcBef>
                <a:spcPts val="0"/>
              </a:spcBef>
              <a:spcAft>
                <a:spcPts val="0"/>
              </a:spcAft>
              <a:buNone/>
            </a:pPr>
            <a:r>
              <a:t/>
            </a:r>
            <a:endParaRPr/>
          </a:p>
        </p:txBody>
      </p:sp>
      <p:sp>
        <p:nvSpPr>
          <p:cNvPr id="100" name="Google Shape;100;p13"/>
          <p:cNvSpPr txBox="1"/>
          <p:nvPr/>
        </p:nvSpPr>
        <p:spPr>
          <a:xfrm>
            <a:off x="3341500" y="5110575"/>
            <a:ext cx="2530500" cy="47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700">
                <a:solidFill>
                  <a:schemeClr val="dk1"/>
                </a:solidFill>
              </a:rPr>
              <a:t>I will use a qualitative methodology because I want to deeply understand students' lived experiences and perspectives. A phenomenological approach will allow me to explore how students make meaning of their collaborative online learning experiences. This aligns with my constructivist worldview, as I'm interested in understanding the subjective reality of participants rather than measuring predefined variables.
</a:t>
            </a:r>
            <a:endParaRPr sz="700">
              <a:solidFill>
                <a:schemeClr val="dk1"/>
              </a:solidFill>
            </a:endParaRPr>
          </a:p>
          <a:p>
            <a:pPr indent="0" lvl="0" marL="0" rtl="0" algn="l">
              <a:spcBef>
                <a:spcPts val="0"/>
              </a:spcBef>
              <a:spcAft>
                <a:spcPts val="0"/>
              </a:spcAft>
              <a:buNone/>
            </a:pPr>
            <a:r>
              <a:t/>
            </a:r>
            <a:endParaRPr/>
          </a:p>
        </p:txBody>
      </p:sp>
      <p:pic>
        <p:nvPicPr>
          <p:cNvPr id="101" name="Google Shape;101;p13"/>
          <p:cNvPicPr preferRelativeResize="0"/>
          <p:nvPr/>
        </p:nvPicPr>
        <p:blipFill>
          <a:blip r:embed="rId4">
            <a:alphaModFix/>
          </a:blip>
          <a:stretch>
            <a:fillRect/>
          </a:stretch>
        </p:blipFill>
        <p:spPr>
          <a:xfrm>
            <a:off x="2859163" y="1412412"/>
            <a:ext cx="3400097" cy="341531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p:nvPr/>
        </p:nvSpPr>
        <p:spPr>
          <a:xfrm>
            <a:off x="5309475" y="600250"/>
            <a:ext cx="3106800" cy="2785500"/>
          </a:xfrm>
          <a:prstGeom prst="rect">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2341925" y="600250"/>
            <a:ext cx="3106800" cy="2785500"/>
          </a:xfrm>
          <a:prstGeom prst="rect">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349525" y="3308050"/>
            <a:ext cx="1466400" cy="230100"/>
          </a:xfrm>
          <a:prstGeom prst="roundRect">
            <a:avLst>
              <a:gd fmla="val 0" name="adj"/>
            </a:avLst>
          </a:prstGeom>
          <a:solidFill>
            <a:srgbClr val="F1C23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Identity &amp; Positionality</a:t>
            </a:r>
            <a:endParaRPr b="1" sz="800"/>
          </a:p>
        </p:txBody>
      </p:sp>
      <p:sp>
        <p:nvSpPr>
          <p:cNvPr id="109" name="Google Shape;109;p14"/>
          <p:cNvSpPr/>
          <p:nvPr/>
        </p:nvSpPr>
        <p:spPr>
          <a:xfrm>
            <a:off x="349525" y="3538158"/>
            <a:ext cx="1466400" cy="1570200"/>
          </a:xfrm>
          <a:prstGeom prst="roundRect">
            <a:avLst>
              <a:gd fmla="val 0" name="adj"/>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&lt;&lt;</a:t>
            </a:r>
            <a:r>
              <a:rPr lang="en" sz="800"/>
              <a:t>Describe your positionality and worldview</a:t>
            </a:r>
            <a:r>
              <a:rPr lang="en" sz="800"/>
              <a:t> &gt;&gt;</a:t>
            </a:r>
            <a:endParaRPr sz="800"/>
          </a:p>
        </p:txBody>
      </p:sp>
      <p:sp>
        <p:nvSpPr>
          <p:cNvPr id="110" name="Google Shape;110;p14"/>
          <p:cNvSpPr/>
          <p:nvPr/>
        </p:nvSpPr>
        <p:spPr>
          <a:xfrm>
            <a:off x="349525" y="720900"/>
            <a:ext cx="1466400" cy="285000"/>
          </a:xfrm>
          <a:prstGeom prst="roundRect">
            <a:avLst>
              <a:gd fmla="val 0" name="adj"/>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Personal Interests &amp; Goals</a:t>
            </a:r>
            <a:endParaRPr b="1" sz="800"/>
          </a:p>
        </p:txBody>
      </p:sp>
      <p:sp>
        <p:nvSpPr>
          <p:cNvPr id="111" name="Google Shape;111;p14"/>
          <p:cNvSpPr/>
          <p:nvPr/>
        </p:nvSpPr>
        <p:spPr>
          <a:xfrm>
            <a:off x="349525" y="1005908"/>
            <a:ext cx="1466400" cy="1570200"/>
          </a:xfrm>
          <a:prstGeom prst="roundRect">
            <a:avLst>
              <a:gd fmla="val 233" name="adj"/>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t>Not yet defined</a:t>
            </a:r>
            <a:endParaRPr sz="800"/>
          </a:p>
        </p:txBody>
      </p:sp>
      <p:sp>
        <p:nvSpPr>
          <p:cNvPr id="112" name="Google Shape;112;p14"/>
          <p:cNvSpPr txBox="1"/>
          <p:nvPr/>
        </p:nvSpPr>
        <p:spPr>
          <a:xfrm>
            <a:off x="76200" y="0"/>
            <a:ext cx="14664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rgbClr val="073763"/>
                </a:solidFill>
                <a:highlight>
                  <a:srgbClr val="FFFFFF"/>
                </a:highlight>
              </a:rPr>
              <a:t>Email:</a:t>
            </a:r>
            <a:r>
              <a:rPr lang="en" sz="800">
                <a:solidFill>
                  <a:srgbClr val="073763"/>
                </a:solidFill>
                <a:highlight>
                  <a:srgbClr val="FFFFFF"/>
                </a:highlight>
              </a:rPr>
              <a:t> mango@test.com</a:t>
            </a:r>
            <a:endParaRPr sz="800">
              <a:solidFill>
                <a:srgbClr val="073763"/>
              </a:solidFill>
              <a:highlight>
                <a:srgbClr val="FFFFFF"/>
              </a:highlight>
            </a:endParaRPr>
          </a:p>
          <a:p>
            <a:pPr indent="0" lvl="0" marL="0" rtl="0" algn="l">
              <a:spcBef>
                <a:spcPts val="0"/>
              </a:spcBef>
              <a:spcAft>
                <a:spcPts val="0"/>
              </a:spcAft>
              <a:buNone/>
            </a:pPr>
            <a:r>
              <a:rPr b="1" lang="en" sz="800">
                <a:solidFill>
                  <a:srgbClr val="073763"/>
                </a:solidFill>
                <a:highlight>
                  <a:srgbClr val="FFFFFF"/>
                </a:highlight>
              </a:rPr>
              <a:t>Date:</a:t>
            </a:r>
            <a:r>
              <a:rPr lang="en" sz="800">
                <a:solidFill>
                  <a:srgbClr val="073763"/>
                </a:solidFill>
                <a:highlight>
                  <a:srgbClr val="FFFFFF"/>
                </a:highlight>
              </a:rPr>
              <a:t> February 13, 2026</a:t>
            </a:r>
            <a:endParaRPr sz="800">
              <a:solidFill>
                <a:srgbClr val="073763"/>
              </a:solidFill>
              <a:highlight>
                <a:srgbClr val="FFFFFF"/>
              </a:highlight>
            </a:endParaRPr>
          </a:p>
        </p:txBody>
      </p:sp>
      <p:sp>
        <p:nvSpPr>
          <p:cNvPr id="113" name="Google Shape;113;p14"/>
          <p:cNvSpPr/>
          <p:nvPr/>
        </p:nvSpPr>
        <p:spPr>
          <a:xfrm>
            <a:off x="2341925" y="339900"/>
            <a:ext cx="6074400" cy="230100"/>
          </a:xfrm>
          <a:prstGeom prst="roundRect">
            <a:avLst>
              <a:gd fmla="val 0"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t>Literature Review</a:t>
            </a:r>
            <a:endParaRPr b="1" sz="800"/>
          </a:p>
        </p:txBody>
      </p:sp>
      <p:sp>
        <p:nvSpPr>
          <p:cNvPr id="114" name="Google Shape;114;p14"/>
          <p:cNvSpPr/>
          <p:nvPr/>
        </p:nvSpPr>
        <p:spPr>
          <a:xfrm>
            <a:off x="2384198" y="624900"/>
            <a:ext cx="2070600" cy="230100"/>
          </a:xfrm>
          <a:prstGeom prst="roundRect">
            <a:avLst>
              <a:gd fmla="val 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0B5394"/>
                </a:solidFill>
              </a:rPr>
              <a:t>Topical Research</a:t>
            </a:r>
            <a:endParaRPr b="1" sz="800">
              <a:solidFill>
                <a:srgbClr val="0B5394"/>
              </a:solidFill>
            </a:endParaRPr>
          </a:p>
        </p:txBody>
      </p:sp>
      <p:sp>
        <p:nvSpPr>
          <p:cNvPr id="115" name="Google Shape;115;p14"/>
          <p:cNvSpPr/>
          <p:nvPr/>
        </p:nvSpPr>
        <p:spPr>
          <a:xfrm>
            <a:off x="6301000" y="624900"/>
            <a:ext cx="2070600" cy="230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741B47"/>
                </a:solidFill>
              </a:rPr>
              <a:t>Theoretical Frameworks</a:t>
            </a:r>
            <a:endParaRPr b="1" sz="800">
              <a:solidFill>
                <a:srgbClr val="741B47"/>
              </a:solidFill>
            </a:endParaRPr>
          </a:p>
        </p:txBody>
      </p:sp>
      <p:sp>
        <p:nvSpPr>
          <p:cNvPr id="116" name="Google Shape;116;p14"/>
          <p:cNvSpPr/>
          <p:nvPr/>
        </p:nvSpPr>
        <p:spPr>
          <a:xfrm>
            <a:off x="2384200" y="944400"/>
            <a:ext cx="2070600" cy="393900"/>
          </a:xfrm>
          <a:prstGeom prst="roundRect">
            <a:avLst>
              <a:gd fmla="val 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0B5394"/>
                </a:solidFill>
              </a:rPr>
              <a:t>Research shows that collaborative learning can enhance student engagement and achievement (Vygotsky, 1978; Johnson &amp; Johnson, 1999). Recent studies indicate that Generation Z students are "digital natives" who naturally integrate technology into their learning (Prensky, 2001). However, there's limited research on how students self-organize learning communities on social media platforms. Some studies suggest that peer-to-peer learning on social media can increase motivation (Manca &amp; Ranieri, 2016), while others raise concerns about distraction and misinformation. The gap I see is understanding the authentic student experience and perspective on these practices.</a:t>
            </a:r>
            <a:endParaRPr sz="800">
              <a:solidFill>
                <a:srgbClr val="0B5394"/>
              </a:solidFill>
            </a:endParaRPr>
          </a:p>
        </p:txBody>
      </p:sp>
      <p:sp>
        <p:nvSpPr>
          <p:cNvPr id="117" name="Google Shape;117;p14"/>
          <p:cNvSpPr/>
          <p:nvPr/>
        </p:nvSpPr>
        <p:spPr>
          <a:xfrm>
            <a:off x="2384200" y="1413425"/>
            <a:ext cx="2070600" cy="393900"/>
          </a:xfrm>
          <a:prstGeom prst="roundRect">
            <a:avLst>
              <a:gd fmla="val 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0B5394"/>
                </a:solidFill>
              </a:rPr>
              <a:t/>
            </a:r>
            <a:endParaRPr sz="800">
              <a:solidFill>
                <a:srgbClr val="0B5394"/>
              </a:solidFill>
            </a:endParaRPr>
          </a:p>
        </p:txBody>
      </p:sp>
      <p:sp>
        <p:nvSpPr>
          <p:cNvPr id="118" name="Google Shape;118;p14"/>
          <p:cNvSpPr/>
          <p:nvPr/>
        </p:nvSpPr>
        <p:spPr>
          <a:xfrm>
            <a:off x="2384200" y="1882450"/>
            <a:ext cx="2070600" cy="393900"/>
          </a:xfrm>
          <a:prstGeom prst="roundRect">
            <a:avLst>
              <a:gd fmla="val 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0B5394"/>
                </a:solidFill>
              </a:rPr>
              <a:t/>
            </a:r>
            <a:endParaRPr sz="800">
              <a:solidFill>
                <a:srgbClr val="0B5394"/>
              </a:solidFill>
            </a:endParaRPr>
          </a:p>
        </p:txBody>
      </p:sp>
      <p:sp>
        <p:nvSpPr>
          <p:cNvPr id="119" name="Google Shape;119;p14"/>
          <p:cNvSpPr/>
          <p:nvPr/>
        </p:nvSpPr>
        <p:spPr>
          <a:xfrm>
            <a:off x="2384200" y="2390025"/>
            <a:ext cx="2070600" cy="393900"/>
          </a:xfrm>
          <a:prstGeom prst="roundRect">
            <a:avLst>
              <a:gd fmla="val 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0B5394"/>
                </a:solidFill>
              </a:rPr>
              <a:t/>
            </a:r>
            <a:endParaRPr sz="800">
              <a:solidFill>
                <a:srgbClr val="0B5394"/>
              </a:solidFill>
            </a:endParaRPr>
          </a:p>
        </p:txBody>
      </p:sp>
      <p:sp>
        <p:nvSpPr>
          <p:cNvPr id="120" name="Google Shape;120;p14"/>
          <p:cNvSpPr/>
          <p:nvPr/>
        </p:nvSpPr>
        <p:spPr>
          <a:xfrm>
            <a:off x="2384200" y="2897600"/>
            <a:ext cx="2070600" cy="393900"/>
          </a:xfrm>
          <a:prstGeom prst="roundRect">
            <a:avLst>
              <a:gd fmla="val 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0B5394"/>
                </a:solidFill>
              </a:rPr>
              <a:t/>
            </a:r>
            <a:endParaRPr sz="800">
              <a:solidFill>
                <a:srgbClr val="0B5394"/>
              </a:solidFill>
            </a:endParaRPr>
          </a:p>
        </p:txBody>
      </p:sp>
      <p:sp>
        <p:nvSpPr>
          <p:cNvPr id="121" name="Google Shape;121;p14"/>
          <p:cNvSpPr/>
          <p:nvPr/>
        </p:nvSpPr>
        <p:spPr>
          <a:xfrm>
            <a:off x="6301000" y="954300"/>
            <a:ext cx="2070600" cy="37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741B47"/>
                </a:solidFill>
              </a:rPr>
              <a:t/>
            </a:r>
            <a:endParaRPr sz="800">
              <a:solidFill>
                <a:srgbClr val="741B47"/>
              </a:solidFill>
            </a:endParaRPr>
          </a:p>
        </p:txBody>
      </p:sp>
      <p:sp>
        <p:nvSpPr>
          <p:cNvPr id="122" name="Google Shape;122;p14"/>
          <p:cNvSpPr/>
          <p:nvPr/>
        </p:nvSpPr>
        <p:spPr>
          <a:xfrm>
            <a:off x="6301000" y="1453325"/>
            <a:ext cx="2070600" cy="3540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741B47"/>
                </a:solidFill>
              </a:rPr>
              <a:t/>
            </a:r>
            <a:endParaRPr sz="800">
              <a:solidFill>
                <a:srgbClr val="741B47"/>
              </a:solidFill>
            </a:endParaRPr>
          </a:p>
        </p:txBody>
      </p:sp>
      <p:sp>
        <p:nvSpPr>
          <p:cNvPr id="123" name="Google Shape;123;p14"/>
          <p:cNvSpPr/>
          <p:nvPr/>
        </p:nvSpPr>
        <p:spPr>
          <a:xfrm>
            <a:off x="6301000" y="1933825"/>
            <a:ext cx="2070600" cy="37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741B47"/>
                </a:solidFill>
              </a:rPr>
              <a:t/>
            </a:r>
            <a:endParaRPr sz="800">
              <a:solidFill>
                <a:srgbClr val="741B47"/>
              </a:solidFill>
            </a:endParaRPr>
          </a:p>
        </p:txBody>
      </p:sp>
      <p:sp>
        <p:nvSpPr>
          <p:cNvPr id="124" name="Google Shape;124;p14"/>
          <p:cNvSpPr/>
          <p:nvPr/>
        </p:nvSpPr>
        <p:spPr>
          <a:xfrm>
            <a:off x="6301000" y="240565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741B47"/>
                </a:solidFill>
              </a:rPr>
              <a:t/>
            </a:r>
            <a:endParaRPr sz="800">
              <a:solidFill>
                <a:srgbClr val="741B47"/>
              </a:solidFill>
            </a:endParaRPr>
          </a:p>
        </p:txBody>
      </p:sp>
      <p:sp>
        <p:nvSpPr>
          <p:cNvPr id="125" name="Google Shape;125;p14"/>
          <p:cNvSpPr/>
          <p:nvPr/>
        </p:nvSpPr>
        <p:spPr>
          <a:xfrm>
            <a:off x="6301000" y="289727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741B47"/>
                </a:solidFill>
              </a:rPr>
              <a:t/>
            </a:r>
            <a:endParaRPr sz="800">
              <a:solidFill>
                <a:srgbClr val="741B47"/>
              </a:solidFill>
            </a:endParaRPr>
          </a:p>
        </p:txBody>
      </p:sp>
      <p:sp>
        <p:nvSpPr>
          <p:cNvPr id="126" name="Google Shape;126;p14"/>
          <p:cNvSpPr/>
          <p:nvPr/>
        </p:nvSpPr>
        <p:spPr>
          <a:xfrm>
            <a:off x="4517475" y="600300"/>
            <a:ext cx="1722000" cy="2785500"/>
          </a:xfrm>
          <a:prstGeom prst="roundRect">
            <a:avLst>
              <a:gd fmla="val 6554" name="adj"/>
            </a:avLst>
          </a:prstGeom>
          <a:solidFill>
            <a:srgbClr val="3C78D8"/>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rgbClr val="FFFFFF"/>
                </a:solidFill>
              </a:rPr>
              <a:t>Research Topic: </a:t>
            </a:r>
            <a:r>
              <a:rPr lang="en" sz="900">
                <a:solidFill>
                  <a:srgbClr val="FFFFFF"/>
                </a:solidFill>
              </a:rPr>
              <a:t>I'm wondering about how high school students use social media for collaborative learning outside the classroom. Specifically, I'm interested in understanding what motivates them to create study groups online, how they share knowledge with peers, and whether these informal learning spaces impact their academic performance and engagement. I've noticed that many students seem to learn from each other on platforms like Discord and Instagram, and I want to explore this phenomenon more deeply.</a:t>
            </a:r>
            <a:endParaRPr sz="900">
              <a:solidFill>
                <a:srgbClr val="FFFFFF"/>
              </a:solidFill>
            </a:endParaRPr>
          </a:p>
        </p:txBody>
      </p:sp>
      <p:cxnSp>
        <p:nvCxnSpPr>
          <p:cNvPr id="127" name="Google Shape;127;p14"/>
          <p:cNvCxnSpPr>
            <a:stCxn id="111" idx="2"/>
            <a:endCxn id="108" idx="0"/>
          </p:cNvCxnSpPr>
          <p:nvPr/>
        </p:nvCxnSpPr>
        <p:spPr>
          <a:xfrm flipH="1" rot="-5400000">
            <a:off x="717025" y="2941808"/>
            <a:ext cx="732000" cy="600"/>
          </a:xfrm>
          <a:prstGeom prst="curvedConnector3">
            <a:avLst>
              <a:gd fmla="val 49995" name="adj1"/>
            </a:avLst>
          </a:prstGeom>
          <a:noFill/>
          <a:ln cap="flat" cmpd="sng" w="9525">
            <a:solidFill>
              <a:schemeClr val="dk2"/>
            </a:solidFill>
            <a:prstDash val="solid"/>
            <a:round/>
            <a:headEnd len="med" w="med" type="none"/>
            <a:tailEnd len="med" w="med" type="none"/>
          </a:ln>
        </p:spPr>
      </p:cxnSp>
      <p:cxnSp>
        <p:nvCxnSpPr>
          <p:cNvPr id="128" name="Google Shape;128;p14"/>
          <p:cNvCxnSpPr>
            <a:endCxn id="107" idx="1"/>
          </p:cNvCxnSpPr>
          <p:nvPr/>
        </p:nvCxnSpPr>
        <p:spPr>
          <a:xfrm flipH="1" rot="10800000">
            <a:off x="1088825" y="1993000"/>
            <a:ext cx="1253100" cy="960300"/>
          </a:xfrm>
          <a:prstGeom prst="curvedConnector3">
            <a:avLst>
              <a:gd fmla="val 72027" name="adj1"/>
            </a:avLst>
          </a:prstGeom>
          <a:noFill/>
          <a:ln cap="flat" cmpd="sng" w="9525">
            <a:solidFill>
              <a:schemeClr val="dk2"/>
            </a:solidFill>
            <a:prstDash val="solid"/>
            <a:round/>
            <a:headEnd len="med" w="med" type="none"/>
            <a:tailEnd len="med" w="med" type="stealth"/>
          </a:ln>
        </p:spPr>
      </p:cxnSp>
      <p:sp>
        <p:nvSpPr>
          <p:cNvPr id="129" name="Google Shape;129;p14"/>
          <p:cNvSpPr/>
          <p:nvPr/>
        </p:nvSpPr>
        <p:spPr>
          <a:xfrm>
            <a:off x="2341275" y="3521614"/>
            <a:ext cx="6074400" cy="635400"/>
          </a:xfrm>
          <a:prstGeom prst="roundRect">
            <a:avLst>
              <a:gd fmla="val 0" name="adj"/>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t>Gap/s Found:</a:t>
            </a:r>
            <a:r>
              <a:rPr lang="en" sz="600"/>
              <a:t> </a:t>
            </a:r>
            <a:endParaRPr sz="600"/>
          </a:p>
          <a:p>
            <a:pPr indent="0" lvl="0" marL="0" rtl="0" algn="ctr">
              <a:spcBef>
                <a:spcPts val="0"/>
              </a:spcBef>
              <a:spcAft>
                <a:spcPts val="0"/>
              </a:spcAft>
              <a:buNone/>
            </a:pPr>
            <a:r>
              <a:rPr lang="en" sz="600"/>
              <a:t>&lt;&lt;</a:t>
            </a:r>
            <a:r>
              <a:rPr lang="en" sz="600"/>
              <a:t>Gap/s found in the review of your topical research</a:t>
            </a:r>
            <a:r>
              <a:rPr lang="en" sz="600"/>
              <a:t>&gt;&gt;</a:t>
            </a:r>
            <a:endParaRPr sz="600"/>
          </a:p>
        </p:txBody>
      </p:sp>
      <p:sp>
        <p:nvSpPr>
          <p:cNvPr id="130" name="Google Shape;130;p14"/>
          <p:cNvSpPr/>
          <p:nvPr/>
        </p:nvSpPr>
        <p:spPr>
          <a:xfrm>
            <a:off x="2341925" y="4295921"/>
            <a:ext cx="6074400" cy="635400"/>
          </a:xfrm>
          <a:prstGeom prst="roundRect">
            <a:avLst>
              <a:gd fmla="val 0" name="adj"/>
            </a:avLst>
          </a:prstGeom>
          <a:solidFill>
            <a:srgbClr val="F9CB9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t>Problem Statement:</a:t>
            </a:r>
            <a:r>
              <a:rPr lang="en" sz="600"/>
              <a:t> </a:t>
            </a:r>
            <a:endParaRPr sz="600"/>
          </a:p>
          <a:p>
            <a:pPr indent="0" lvl="0" marL="0" rtl="0" algn="ctr">
              <a:spcBef>
                <a:spcPts val="0"/>
              </a:spcBef>
              <a:spcAft>
                <a:spcPts val="0"/>
              </a:spcAft>
              <a:buNone/>
            </a:pPr>
            <a:r>
              <a:rPr lang="en" sz="600"/>
              <a:t>Not yet defined</a:t>
            </a:r>
            <a:endParaRPr sz="600"/>
          </a:p>
        </p:txBody>
      </p:sp>
      <p:cxnSp>
        <p:nvCxnSpPr>
          <p:cNvPr id="131" name="Google Shape;131;p14"/>
          <p:cNvCxnSpPr>
            <a:stCxn id="126" idx="2"/>
            <a:endCxn id="129" idx="0"/>
          </p:cNvCxnSpPr>
          <p:nvPr/>
        </p:nvCxnSpPr>
        <p:spPr>
          <a:xfrm flipH="1" rot="-5400000">
            <a:off x="5310825" y="3453450"/>
            <a:ext cx="135900" cy="600"/>
          </a:xfrm>
          <a:prstGeom prst="curvedConnector3">
            <a:avLst>
              <a:gd fmla="val 49952" name="adj1"/>
            </a:avLst>
          </a:prstGeom>
          <a:noFill/>
          <a:ln cap="flat" cmpd="sng" w="9525">
            <a:solidFill>
              <a:schemeClr val="dk2"/>
            </a:solidFill>
            <a:prstDash val="solid"/>
            <a:round/>
            <a:headEnd len="med" w="med" type="none"/>
            <a:tailEnd len="med" w="med" type="stealth"/>
          </a:ln>
        </p:spPr>
      </p:cxnSp>
      <p:sp>
        <p:nvSpPr>
          <p:cNvPr id="132" name="Google Shape;132;p14"/>
          <p:cNvSpPr txBox="1"/>
          <p:nvPr/>
        </p:nvSpPr>
        <p:spPr>
          <a:xfrm>
            <a:off x="3809225" y="30350"/>
            <a:ext cx="3000000" cy="2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900">
                <a:solidFill>
                  <a:srgbClr val="073763"/>
                </a:solidFill>
              </a:rPr>
              <a:t>Conceptual Framework:  Mango</a:t>
            </a:r>
            <a:endParaRPr b="1" sz="900">
              <a:solidFill>
                <a:srgbClr val="073763"/>
              </a:solidFill>
            </a:endParaRPr>
          </a:p>
        </p:txBody>
      </p:sp>
      <p:sp>
        <p:nvSpPr>
          <p:cNvPr id="133" name="Google Shape;133;p14"/>
          <p:cNvSpPr/>
          <p:nvPr/>
        </p:nvSpPr>
        <p:spPr>
          <a:xfrm>
            <a:off x="2341275" y="5017925"/>
            <a:ext cx="2935800" cy="635400"/>
          </a:xfrm>
          <a:prstGeom prst="roundRect">
            <a:avLst>
              <a:gd fmla="val 0" name="adj"/>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chemeClr val="dk1"/>
              </a:solidFill>
            </a:endParaRPr>
          </a:p>
          <a:p>
            <a:pPr indent="0" lvl="0" marL="0" rtl="0" algn="ctr">
              <a:spcBef>
                <a:spcPts val="0"/>
              </a:spcBef>
              <a:spcAft>
                <a:spcPts val="0"/>
              </a:spcAft>
              <a:buNone/>
            </a:pPr>
            <a:r>
              <a:t/>
            </a:r>
            <a:endParaRPr sz="800"/>
          </a:p>
        </p:txBody>
      </p:sp>
      <p:sp>
        <p:nvSpPr>
          <p:cNvPr id="134" name="Google Shape;134;p14"/>
          <p:cNvSpPr/>
          <p:nvPr/>
        </p:nvSpPr>
        <p:spPr>
          <a:xfrm>
            <a:off x="5479875" y="5017925"/>
            <a:ext cx="2935800" cy="635400"/>
          </a:xfrm>
          <a:prstGeom prst="roundRect">
            <a:avLst>
              <a:gd fmla="val 0" name="adj"/>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600"/>
              <a:t>Research Design</a:t>
            </a:r>
            <a:r>
              <a:rPr b="1" lang="en" sz="600"/>
              <a:t>:</a:t>
            </a:r>
            <a:r>
              <a:rPr lang="en" sz="600"/>
              <a:t> </a:t>
            </a:r>
            <a:endParaRPr sz="600"/>
          </a:p>
          <a:p>
            <a:pPr indent="0" lvl="0" marL="0" rtl="0" algn="ctr">
              <a:spcBef>
                <a:spcPts val="0"/>
              </a:spcBef>
              <a:spcAft>
                <a:spcPts val="0"/>
              </a:spcAft>
              <a:buNone/>
            </a:pPr>
            <a:r>
              <a:rPr lang="en" sz="600">
                <a:solidFill>
                  <a:schemeClr val="dk1"/>
                </a:solidFill>
              </a:rPr>
              <a:t>I will use a qualitative methodology because I want to deeply understand students' lived experiences and perspectives. A phenomenological approach will allow me to explore how students make meaning of their collaborative online learning experiences. This aligns with my constructivist worldview, as I'm interested in understanding the subjective reality of participants rather than measuring predefined variables.
</a:t>
            </a:r>
            <a:endParaRPr sz="600">
              <a:solidFill>
                <a:schemeClr val="dk1"/>
              </a:solidFill>
            </a:endParaRPr>
          </a:p>
          <a:p>
            <a:pPr indent="0" lvl="0" marL="0" rtl="0" algn="ctr">
              <a:spcBef>
                <a:spcPts val="0"/>
              </a:spcBef>
              <a:spcAft>
                <a:spcPts val="0"/>
              </a:spcAft>
              <a:buNone/>
            </a:pPr>
            <a:r>
              <a:t/>
            </a:r>
            <a:endParaRPr sz="800"/>
          </a:p>
        </p:txBody>
      </p:sp>
      <p:cxnSp>
        <p:nvCxnSpPr>
          <p:cNvPr id="135" name="Google Shape;135;p14"/>
          <p:cNvCxnSpPr>
            <a:stCxn id="129" idx="2"/>
            <a:endCxn id="130" idx="0"/>
          </p:cNvCxnSpPr>
          <p:nvPr/>
        </p:nvCxnSpPr>
        <p:spPr>
          <a:xfrm flipH="1" rot="-5400000">
            <a:off x="5309325" y="4226164"/>
            <a:ext cx="138900" cy="600"/>
          </a:xfrm>
          <a:prstGeom prst="curvedConnector3">
            <a:avLst>
              <a:gd fmla="val 50002" name="adj1"/>
            </a:avLst>
          </a:prstGeom>
          <a:noFill/>
          <a:ln cap="flat" cmpd="sng" w="9525">
            <a:solidFill>
              <a:schemeClr val="dk2"/>
            </a:solidFill>
            <a:prstDash val="solid"/>
            <a:round/>
            <a:headEnd len="med" w="med" type="none"/>
            <a:tailEnd len="med" w="med" type="stealth"/>
          </a:ln>
        </p:spPr>
      </p:cxnSp>
      <p:cxnSp>
        <p:nvCxnSpPr>
          <p:cNvPr id="136" name="Google Shape;136;p14"/>
          <p:cNvCxnSpPr>
            <a:stCxn id="130" idx="2"/>
            <a:endCxn id="133" idx="0"/>
          </p:cNvCxnSpPr>
          <p:nvPr/>
        </p:nvCxnSpPr>
        <p:spPr>
          <a:xfrm rot="5400000">
            <a:off x="4550825" y="4189721"/>
            <a:ext cx="86700" cy="1569900"/>
          </a:xfrm>
          <a:prstGeom prst="curvedConnector3">
            <a:avLst>
              <a:gd fmla="val 49960" name="adj1"/>
            </a:avLst>
          </a:prstGeom>
          <a:noFill/>
          <a:ln cap="flat" cmpd="sng" w="9525">
            <a:solidFill>
              <a:schemeClr val="dk2"/>
            </a:solidFill>
            <a:prstDash val="solid"/>
            <a:round/>
            <a:headEnd len="med" w="med" type="none"/>
            <a:tailEnd len="med" w="med" type="stealth"/>
          </a:ln>
        </p:spPr>
      </p:cxnSp>
      <p:cxnSp>
        <p:nvCxnSpPr>
          <p:cNvPr id="137" name="Google Shape;137;p14"/>
          <p:cNvCxnSpPr>
            <a:stCxn id="133" idx="3"/>
            <a:endCxn id="134" idx="1"/>
          </p:cNvCxnSpPr>
          <p:nvPr/>
        </p:nvCxnSpPr>
        <p:spPr>
          <a:xfrm>
            <a:off x="5277075" y="5335625"/>
            <a:ext cx="202800" cy="600"/>
          </a:xfrm>
          <a:prstGeom prst="curvedConnector3">
            <a:avLst>
              <a:gd fmla="val 50000" name="adj1"/>
            </a:avLst>
          </a:prstGeom>
          <a:noFill/>
          <a:ln cap="flat" cmpd="sng" w="9525">
            <a:solidFill>
              <a:schemeClr val="dk2"/>
            </a:solidFill>
            <a:prstDash val="solid"/>
            <a:round/>
            <a:headEnd len="med" w="med" type="none"/>
            <a:tailEnd len="med" w="med" type="stealth"/>
          </a:ln>
        </p:spPr>
      </p:cxnSp>
      <p:pic>
        <p:nvPicPr>
          <p:cNvPr id="138" name="Google Shape;138;p14"/>
          <p:cNvPicPr preferRelativeResize="0"/>
          <p:nvPr/>
        </p:nvPicPr>
        <p:blipFill>
          <a:blip r:embed="rId3">
            <a:alphaModFix/>
          </a:blip>
          <a:stretch>
            <a:fillRect/>
          </a:stretch>
        </p:blipFill>
        <p:spPr>
          <a:xfrm>
            <a:off x="308050" y="5246624"/>
            <a:ext cx="1549355" cy="430800"/>
          </a:xfrm>
          <a:prstGeom prst="rect">
            <a:avLst/>
          </a:prstGeom>
          <a:noFill/>
          <a:ln>
            <a:noFill/>
          </a:ln>
        </p:spPr>
      </p:pic>
      <p:sp>
        <p:nvSpPr>
          <p:cNvPr id="139" name="Google Shape;139;p14"/>
          <p:cNvSpPr txBox="1"/>
          <p:nvPr/>
        </p:nvSpPr>
        <p:spPr>
          <a:xfrm>
            <a:off x="2345575" y="5032150"/>
            <a:ext cx="2935800" cy="62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600">
                <a:solidFill>
                  <a:schemeClr val="dk1"/>
                </a:solidFill>
              </a:rPr>
              <a:t>Research Questions:</a:t>
            </a:r>
            <a:r>
              <a:rPr lang="en" sz="600">
                <a:solidFill>
                  <a:schemeClr val="dk1"/>
                </a:solidFill>
              </a:rPr>
              <a:t> </a:t>
            </a:r>
            <a:endParaRPr sz="600">
              <a:solidFill>
                <a:schemeClr val="dk1"/>
              </a:solidFill>
            </a:endParaRPr>
          </a:p>
          <a:p>
            <a:pPr indent="0" lvl="0" marL="0" rtl="0" algn="ctr">
              <a:spcBef>
                <a:spcPts val="0"/>
              </a:spcBef>
              <a:spcAft>
                <a:spcPts val="0"/>
              </a:spcAft>
              <a:buClr>
                <a:schemeClr val="dk1"/>
              </a:buClr>
              <a:buSzPts val="1100"/>
              <a:buFont typeface="Arial"/>
              <a:buNone/>
            </a:pPr>
            <a:r>
              <a:rPr lang="en" sz="600">
                <a:solidFill>
                  <a:schemeClr val="dk1"/>
                </a:solidFill>
              </a:rPr>
              <a:t>How do high school students experience and make meaning of peer collaboration on social media platforms for academic learning purposes?
Sub-questions:
- What motivates students to engage in social media-based study groups?
- How do students describe the benefits and challenges of learning collaboratively on social media?
- In what ways do students believe these experiences influence their academic engagement?</a:t>
            </a:r>
            <a:endParaRPr sz="6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5"/>
          <p:cNvSpPr/>
          <p:nvPr/>
        </p:nvSpPr>
        <p:spPr>
          <a:xfrm>
            <a:off x="5206150" y="1389575"/>
            <a:ext cx="3951400" cy="4325425"/>
          </a:xfrm>
          <a:custGeom>
            <a:rect b="b" l="l" r="r" t="t"/>
            <a:pathLst>
              <a:path extrusionOk="0" h="173017" w="158056">
                <a:moveTo>
                  <a:pt x="14449" y="52393"/>
                </a:moveTo>
                <a:lnTo>
                  <a:pt x="158056" y="0"/>
                </a:lnTo>
                <a:lnTo>
                  <a:pt x="157833" y="172790"/>
                </a:lnTo>
                <a:lnTo>
                  <a:pt x="99471" y="173017"/>
                </a:lnTo>
                <a:lnTo>
                  <a:pt x="0" y="92751"/>
                </a:lnTo>
                <a:close/>
              </a:path>
            </a:pathLst>
          </a:custGeom>
          <a:solidFill>
            <a:srgbClr val="6AA84F"/>
          </a:solidFill>
          <a:ln cap="flat" cmpd="sng" w="19050">
            <a:solidFill>
              <a:srgbClr val="FFFFFF"/>
            </a:solidFill>
            <a:prstDash val="solid"/>
            <a:round/>
            <a:headEnd len="med" w="med" type="none"/>
            <a:tailEnd len="med" w="med" type="none"/>
          </a:ln>
        </p:spPr>
        <p:txBody>
          <a:bodyPr/>
          <a:p/>
        </p:txBody>
      </p:sp>
      <p:sp>
        <p:nvSpPr>
          <p:cNvPr id="145" name="Google Shape;145;p15"/>
          <p:cNvSpPr/>
          <p:nvPr/>
        </p:nvSpPr>
        <p:spPr>
          <a:xfrm>
            <a:off x="5101775" y="3177900"/>
            <a:ext cx="4046225" cy="2541925"/>
          </a:xfrm>
          <a:custGeom>
            <a:rect b="b" l="l" r="r" t="t"/>
            <a:pathLst>
              <a:path extrusionOk="0" h="101677" w="161849">
                <a:moveTo>
                  <a:pt x="0" y="21107"/>
                </a:moveTo>
                <a:lnTo>
                  <a:pt x="102976" y="101677"/>
                </a:lnTo>
                <a:lnTo>
                  <a:pt x="161689" y="101677"/>
                </a:lnTo>
                <a:lnTo>
                  <a:pt x="161849" y="28878"/>
                </a:lnTo>
                <a:lnTo>
                  <a:pt x="7734" y="0"/>
                </a:lnTo>
                <a:close/>
              </a:path>
            </a:pathLst>
          </a:custGeom>
          <a:solidFill>
            <a:schemeClr val="accent5"/>
          </a:solidFill>
          <a:ln cap="flat" cmpd="sng" w="19050">
            <a:solidFill>
              <a:srgbClr val="FFFFFF"/>
            </a:solidFill>
            <a:prstDash val="solid"/>
            <a:round/>
            <a:headEnd len="med" w="med" type="none"/>
            <a:tailEnd len="med" w="med" type="none"/>
          </a:ln>
        </p:spPr>
        <p:txBody>
          <a:bodyPr/>
          <a:p/>
        </p:txBody>
      </p:sp>
      <p:sp>
        <p:nvSpPr>
          <p:cNvPr id="146" name="Google Shape;146;p15"/>
          <p:cNvSpPr/>
          <p:nvPr/>
        </p:nvSpPr>
        <p:spPr>
          <a:xfrm flipH="1">
            <a:off x="-62" y="1389575"/>
            <a:ext cx="4027662" cy="4325425"/>
          </a:xfrm>
          <a:custGeom>
            <a:rect b="b" l="l" r="r" t="t"/>
            <a:pathLst>
              <a:path extrusionOk="0" h="173017" w="158056">
                <a:moveTo>
                  <a:pt x="14170" y="52206"/>
                </a:moveTo>
                <a:lnTo>
                  <a:pt x="158056" y="0"/>
                </a:lnTo>
                <a:lnTo>
                  <a:pt x="157833" y="172790"/>
                </a:lnTo>
                <a:lnTo>
                  <a:pt x="99471" y="173017"/>
                </a:lnTo>
                <a:lnTo>
                  <a:pt x="0" y="92751"/>
                </a:lnTo>
                <a:close/>
              </a:path>
            </a:pathLst>
          </a:custGeom>
          <a:solidFill>
            <a:srgbClr val="F1C232"/>
          </a:solidFill>
          <a:ln cap="flat" cmpd="sng" w="19050">
            <a:solidFill>
              <a:srgbClr val="FFFFFF"/>
            </a:solidFill>
            <a:prstDash val="solid"/>
            <a:round/>
            <a:headEnd len="med" w="med" type="none"/>
            <a:tailEnd len="med" w="med" type="none"/>
          </a:ln>
        </p:spPr>
        <p:txBody>
          <a:bodyPr/>
          <a:p/>
        </p:txBody>
      </p:sp>
      <p:sp>
        <p:nvSpPr>
          <p:cNvPr id="147" name="Google Shape;147;p15"/>
          <p:cNvSpPr/>
          <p:nvPr/>
        </p:nvSpPr>
        <p:spPr>
          <a:xfrm>
            <a:off x="-12125" y="3139800"/>
            <a:ext cx="4042225" cy="2580025"/>
          </a:xfrm>
          <a:custGeom>
            <a:rect b="b" l="l" r="r" t="t"/>
            <a:pathLst>
              <a:path extrusionOk="0" h="103201" w="161689">
                <a:moveTo>
                  <a:pt x="161689" y="22631"/>
                </a:moveTo>
                <a:lnTo>
                  <a:pt x="58713" y="103201"/>
                </a:lnTo>
                <a:lnTo>
                  <a:pt x="0" y="103201"/>
                </a:lnTo>
                <a:lnTo>
                  <a:pt x="670" y="30201"/>
                </a:lnTo>
                <a:lnTo>
                  <a:pt x="155712" y="0"/>
                </a:lnTo>
                <a:close/>
              </a:path>
            </a:pathLst>
          </a:custGeom>
          <a:solidFill>
            <a:srgbClr val="7F6000"/>
          </a:solidFill>
          <a:ln cap="flat" cmpd="sng" w="19050">
            <a:solidFill>
              <a:srgbClr val="FFFFFF"/>
            </a:solidFill>
            <a:prstDash val="solid"/>
            <a:round/>
            <a:headEnd len="med" w="med" type="none"/>
            <a:tailEnd len="med" w="med" type="none"/>
          </a:ln>
        </p:spPr>
        <p:txBody>
          <a:bodyPr/>
          <a:p/>
        </p:txBody>
      </p:sp>
      <p:sp>
        <p:nvSpPr>
          <p:cNvPr id="148" name="Google Shape;148;p15"/>
          <p:cNvSpPr txBox="1"/>
          <p:nvPr/>
        </p:nvSpPr>
        <p:spPr>
          <a:xfrm>
            <a:off x="76200" y="0"/>
            <a:ext cx="1466400" cy="54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800">
                <a:solidFill>
                  <a:schemeClr val="dk1"/>
                </a:solidFill>
                <a:highlight>
                  <a:srgbClr val="FFFFFF"/>
                </a:highlight>
              </a:rPr>
              <a:t>Email:</a:t>
            </a:r>
            <a:r>
              <a:rPr lang="en" sz="800">
                <a:solidFill>
                  <a:schemeClr val="dk1"/>
                </a:solidFill>
                <a:highlight>
                  <a:srgbClr val="FFFFFF"/>
                </a:highlight>
              </a:rPr>
              <a:t> mango@test.com</a:t>
            </a:r>
            <a:endParaRPr sz="800">
              <a:solidFill>
                <a:schemeClr val="dk1"/>
              </a:solidFill>
              <a:highlight>
                <a:srgbClr val="FFFFFF"/>
              </a:highlight>
            </a:endParaRPr>
          </a:p>
          <a:p>
            <a:pPr indent="0" lvl="0" marL="0" rtl="0" algn="l">
              <a:spcBef>
                <a:spcPts val="0"/>
              </a:spcBef>
              <a:spcAft>
                <a:spcPts val="0"/>
              </a:spcAft>
              <a:buNone/>
            </a:pPr>
            <a:r>
              <a:rPr b="1" lang="en" sz="800">
                <a:solidFill>
                  <a:schemeClr val="dk1"/>
                </a:solidFill>
                <a:highlight>
                  <a:srgbClr val="FFFFFF"/>
                </a:highlight>
              </a:rPr>
              <a:t>Date:</a:t>
            </a:r>
            <a:r>
              <a:rPr lang="en" sz="800">
                <a:solidFill>
                  <a:schemeClr val="dk1"/>
                </a:solidFill>
                <a:highlight>
                  <a:srgbClr val="FFFFFF"/>
                </a:highlight>
              </a:rPr>
              <a:t> February 13, 2026</a:t>
            </a:r>
            <a:endParaRPr sz="800">
              <a:solidFill>
                <a:schemeClr val="dk1"/>
              </a:solidFill>
              <a:highlight>
                <a:srgbClr val="FFFFFF"/>
              </a:highlight>
            </a:endParaRPr>
          </a:p>
        </p:txBody>
      </p:sp>
      <p:sp>
        <p:nvSpPr>
          <p:cNvPr id="149" name="Google Shape;149;p15"/>
          <p:cNvSpPr/>
          <p:nvPr/>
        </p:nvSpPr>
        <p:spPr>
          <a:xfrm>
            <a:off x="4631300" y="-27925"/>
            <a:ext cx="4540600" cy="2730650"/>
          </a:xfrm>
          <a:custGeom>
            <a:rect b="b" l="l" r="r" t="t"/>
            <a:pathLst>
              <a:path extrusionOk="0" h="109226" w="181624">
                <a:moveTo>
                  <a:pt x="128" y="84385"/>
                </a:moveTo>
                <a:lnTo>
                  <a:pt x="0" y="954"/>
                </a:lnTo>
                <a:lnTo>
                  <a:pt x="181624" y="0"/>
                </a:lnTo>
                <a:lnTo>
                  <a:pt x="180827" y="57434"/>
                </a:lnTo>
                <a:lnTo>
                  <a:pt x="38175" y="109226"/>
                </a:lnTo>
                <a:close/>
              </a:path>
            </a:pathLst>
          </a:custGeom>
          <a:solidFill>
            <a:schemeClr val="accent1"/>
          </a:solidFill>
          <a:ln cap="flat" cmpd="sng" w="19050">
            <a:solidFill>
              <a:srgbClr val="FFFFFF"/>
            </a:solidFill>
            <a:prstDash val="solid"/>
            <a:round/>
            <a:headEnd len="med" w="med" type="none"/>
            <a:tailEnd len="med" w="med" type="none"/>
          </a:ln>
        </p:spPr>
        <p:txBody>
          <a:bodyPr/>
          <a:p/>
        </p:txBody>
      </p:sp>
      <p:sp>
        <p:nvSpPr>
          <p:cNvPr id="150" name="Google Shape;150;p15"/>
          <p:cNvSpPr/>
          <p:nvPr/>
        </p:nvSpPr>
        <p:spPr>
          <a:xfrm>
            <a:off x="-13200" y="-27925"/>
            <a:ext cx="4644575" cy="2730650"/>
          </a:xfrm>
          <a:custGeom>
            <a:rect b="b" l="l" r="r" t="t"/>
            <a:pathLst>
              <a:path extrusionOk="0" h="109226" w="185783">
                <a:moveTo>
                  <a:pt x="185783" y="84223"/>
                </a:moveTo>
                <a:lnTo>
                  <a:pt x="185783" y="954"/>
                </a:lnTo>
                <a:lnTo>
                  <a:pt x="0" y="0"/>
                </a:lnTo>
                <a:lnTo>
                  <a:pt x="713" y="57212"/>
                </a:lnTo>
                <a:lnTo>
                  <a:pt x="146734" y="109226"/>
                </a:lnTo>
                <a:close/>
              </a:path>
            </a:pathLst>
          </a:custGeom>
          <a:solidFill>
            <a:srgbClr val="1C4587"/>
          </a:solidFill>
          <a:ln cap="flat" cmpd="sng" w="19050">
            <a:solidFill>
              <a:srgbClr val="FFFFFF"/>
            </a:solidFill>
            <a:prstDash val="solid"/>
            <a:round/>
            <a:headEnd len="med" w="med" type="none"/>
            <a:tailEnd len="med" w="med" type="none"/>
          </a:ln>
        </p:spPr>
        <p:txBody>
          <a:bodyPr/>
          <a:p/>
        </p:txBody>
      </p:sp>
      <p:sp>
        <p:nvSpPr>
          <p:cNvPr id="151" name="Google Shape;151;p15"/>
          <p:cNvSpPr txBox="1"/>
          <p:nvPr/>
        </p:nvSpPr>
        <p:spPr>
          <a:xfrm>
            <a:off x="6125850" y="2407350"/>
            <a:ext cx="2935500" cy="756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Problem Statement:</a:t>
            </a:r>
            <a:r>
              <a:rPr lang="en" sz="800">
                <a:solidFill>
                  <a:srgbClr val="FFFFFF"/>
                </a:solidFill>
              </a:rPr>
              <a:t> </a:t>
            </a:r>
            <a:endParaRPr sz="800">
              <a:solidFill>
                <a:srgbClr val="FFFFFF"/>
              </a:solidFill>
            </a:endParaRPr>
          </a:p>
          <a:p>
            <a:pPr indent="0" lvl="0" marL="0" rtl="0" algn="ctr">
              <a:spcBef>
                <a:spcPts val="0"/>
              </a:spcBef>
              <a:spcAft>
                <a:spcPts val="0"/>
              </a:spcAft>
              <a:buNone/>
            </a:pPr>
            <a:r>
              <a:rPr lang="en" sz="700">
                <a:solidFill>
                  <a:srgbClr val="FFFFFF"/>
                </a:solidFill>
              </a:rPr>
              <a:t>Not yet defined</a:t>
            </a:r>
            <a:endParaRPr sz="700">
              <a:solidFill>
                <a:srgbClr val="FFFFFF"/>
              </a:solidFill>
            </a:endParaRPr>
          </a:p>
        </p:txBody>
      </p:sp>
      <p:sp>
        <p:nvSpPr>
          <p:cNvPr id="152" name="Google Shape;152;p15"/>
          <p:cNvSpPr/>
          <p:nvPr/>
        </p:nvSpPr>
        <p:spPr>
          <a:xfrm>
            <a:off x="2089975" y="3701775"/>
            <a:ext cx="4938700" cy="1524000"/>
          </a:xfrm>
          <a:custGeom>
            <a:rect b="b" l="l" r="r" t="t"/>
            <a:pathLst>
              <a:path extrusionOk="0" h="60960" w="197548">
                <a:moveTo>
                  <a:pt x="78105" y="191"/>
                </a:moveTo>
                <a:lnTo>
                  <a:pt x="124206" y="0"/>
                </a:lnTo>
                <a:lnTo>
                  <a:pt x="197548" y="60456"/>
                </a:lnTo>
                <a:lnTo>
                  <a:pt x="0" y="60960"/>
                </a:lnTo>
                <a:close/>
              </a:path>
            </a:pathLst>
          </a:custGeom>
          <a:solidFill>
            <a:srgbClr val="CC0000"/>
          </a:solidFill>
          <a:ln cap="flat" cmpd="sng" w="19050">
            <a:solidFill>
              <a:srgbClr val="FFFFFF"/>
            </a:solidFill>
            <a:prstDash val="solid"/>
            <a:round/>
            <a:headEnd len="med" w="med" type="none"/>
            <a:tailEnd len="med" w="med" type="none"/>
          </a:ln>
        </p:spPr>
        <p:txBody>
          <a:bodyPr/>
          <a:p/>
        </p:txBody>
      </p:sp>
      <p:sp>
        <p:nvSpPr>
          <p:cNvPr id="153" name="Google Shape;153;p15"/>
          <p:cNvSpPr txBox="1"/>
          <p:nvPr/>
        </p:nvSpPr>
        <p:spPr>
          <a:xfrm>
            <a:off x="3962250" y="3706075"/>
            <a:ext cx="1327200" cy="1833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Research Design</a:t>
            </a:r>
            <a:endParaRPr b="1" sz="800">
              <a:solidFill>
                <a:srgbClr val="FFFFFF"/>
              </a:solidFill>
            </a:endParaRPr>
          </a:p>
          <a:p>
            <a:pPr indent="0" lvl="0" marL="0" rtl="0" algn="ctr">
              <a:spcBef>
                <a:spcPts val="0"/>
              </a:spcBef>
              <a:spcAft>
                <a:spcPts val="0"/>
              </a:spcAft>
              <a:buNone/>
            </a:pPr>
            <a:r>
              <a:t/>
            </a:r>
            <a:endParaRPr b="1" sz="800">
              <a:solidFill>
                <a:srgbClr val="FFFFFF"/>
              </a:solidFill>
            </a:endParaRPr>
          </a:p>
          <a:p>
            <a:pPr indent="0" lvl="0" marL="0" rtl="0" algn="ctr">
              <a:spcBef>
                <a:spcPts val="0"/>
              </a:spcBef>
              <a:spcAft>
                <a:spcPts val="0"/>
              </a:spcAft>
              <a:buNone/>
            </a:pPr>
            <a:r>
              <a:rPr lang="en" sz="700">
                <a:solidFill>
                  <a:srgbClr val="FFFFFF"/>
                </a:solidFill>
              </a:rPr>
              <a:t>I will use a qualitative methodology because I want to deeply understand students' lived experiences and perspectives. A phenomenological approach will allow me to explore how students make meaning of their collaborative online learning experiences. This aligns with my constructivist worldview, as I'm interested in understanding the subjective reality of participants rather than measuring predefined variables.
</a:t>
            </a:r>
            <a:endParaRPr sz="700">
              <a:solidFill>
                <a:srgbClr val="FFFFFF"/>
              </a:solidFill>
            </a:endParaRPr>
          </a:p>
          <a:p>
            <a:pPr indent="0" lvl="0" marL="0" rtl="0" algn="ctr">
              <a:spcBef>
                <a:spcPts val="0"/>
              </a:spcBef>
              <a:spcAft>
                <a:spcPts val="0"/>
              </a:spcAft>
              <a:buNone/>
            </a:pPr>
            <a:r>
              <a:t/>
            </a:r>
            <a:endParaRPr b="1" sz="800">
              <a:solidFill>
                <a:srgbClr val="FFFFFF"/>
              </a:solidFill>
            </a:endParaRPr>
          </a:p>
        </p:txBody>
      </p:sp>
      <p:sp>
        <p:nvSpPr>
          <p:cNvPr id="154" name="Google Shape;154;p15"/>
          <p:cNvSpPr/>
          <p:nvPr/>
        </p:nvSpPr>
        <p:spPr>
          <a:xfrm>
            <a:off x="3681001" y="2085761"/>
            <a:ext cx="1889700" cy="1620300"/>
          </a:xfrm>
          <a:prstGeom prst="pentagon">
            <a:avLst>
              <a:gd fmla="val 105146" name="hf"/>
              <a:gd fmla="val 110557" name="vf"/>
            </a:avLst>
          </a:prstGeom>
          <a:solidFill>
            <a:srgbClr val="66666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700">
              <a:solidFill>
                <a:srgbClr val="FFFFFF"/>
              </a:solidFill>
            </a:endParaRPr>
          </a:p>
          <a:p>
            <a:pPr indent="0" lvl="0" marL="0" rtl="0" algn="l">
              <a:spcBef>
                <a:spcPts val="0"/>
              </a:spcBef>
              <a:spcAft>
                <a:spcPts val="0"/>
              </a:spcAft>
              <a:buNone/>
            </a:pPr>
            <a:r>
              <a:t/>
            </a:r>
            <a:endParaRPr/>
          </a:p>
        </p:txBody>
      </p:sp>
      <p:sp>
        <p:nvSpPr>
          <p:cNvPr id="155" name="Google Shape;155;p15"/>
          <p:cNvSpPr txBox="1"/>
          <p:nvPr/>
        </p:nvSpPr>
        <p:spPr>
          <a:xfrm>
            <a:off x="38125" y="2347925"/>
            <a:ext cx="2623500" cy="91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Personal Interests &amp; Goals</a:t>
            </a:r>
            <a:endParaRPr b="1" sz="800">
              <a:solidFill>
                <a:srgbClr val="FFFFFF"/>
              </a:solidFill>
            </a:endParaRPr>
          </a:p>
          <a:p>
            <a:pPr indent="0" lvl="0" marL="0" rtl="0" algn="ctr">
              <a:spcBef>
                <a:spcPts val="0"/>
              </a:spcBef>
              <a:spcAft>
                <a:spcPts val="0"/>
              </a:spcAft>
              <a:buNone/>
            </a:pPr>
            <a:r>
              <a:rPr lang="en" sz="700">
                <a:solidFill>
                  <a:srgbClr val="FFFFFF"/>
                </a:solidFill>
              </a:rPr>
              <a:t>Not yet defined</a:t>
            </a:r>
            <a:endParaRPr sz="700">
              <a:solidFill>
                <a:srgbClr val="FFFFFF"/>
              </a:solidFill>
            </a:endParaRPr>
          </a:p>
          <a:p>
            <a:pPr indent="0" lvl="0" marL="0" rtl="0" algn="ctr">
              <a:spcBef>
                <a:spcPts val="0"/>
              </a:spcBef>
              <a:spcAft>
                <a:spcPts val="0"/>
              </a:spcAft>
              <a:buNone/>
            </a:pPr>
            <a:r>
              <a:t/>
            </a:r>
            <a:endParaRPr b="1" sz="800">
              <a:solidFill>
                <a:srgbClr val="FFFFFF"/>
              </a:solidFill>
            </a:endParaRPr>
          </a:p>
        </p:txBody>
      </p:sp>
      <p:sp>
        <p:nvSpPr>
          <p:cNvPr id="156" name="Google Shape;156;p15"/>
          <p:cNvSpPr txBox="1"/>
          <p:nvPr/>
        </p:nvSpPr>
        <p:spPr>
          <a:xfrm>
            <a:off x="128600" y="3882750"/>
            <a:ext cx="2832900" cy="64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Identity &amp; Positionality</a:t>
            </a:r>
            <a:endParaRPr b="1" sz="800">
              <a:solidFill>
                <a:srgbClr val="FFFFFF"/>
              </a:solidFill>
            </a:endParaRPr>
          </a:p>
          <a:p>
            <a:pPr indent="0" lvl="0" marL="0" rtl="0" algn="ctr">
              <a:spcBef>
                <a:spcPts val="0"/>
              </a:spcBef>
              <a:spcAft>
                <a:spcPts val="0"/>
              </a:spcAft>
              <a:buNone/>
            </a:pPr>
            <a:r>
              <a:rPr lang="en" sz="700">
                <a:solidFill>
                  <a:srgbClr val="FFFFFF"/>
                </a:solidFill>
              </a:rPr>
              <a:t>Constructivist</a:t>
            </a:r>
            <a:endParaRPr sz="700">
              <a:solidFill>
                <a:srgbClr val="FFFFFF"/>
              </a:solidFill>
            </a:endParaRPr>
          </a:p>
          <a:p>
            <a:pPr indent="0" lvl="0" marL="0" rtl="0" algn="ctr">
              <a:spcBef>
                <a:spcPts val="0"/>
              </a:spcBef>
              <a:spcAft>
                <a:spcPts val="0"/>
              </a:spcAft>
              <a:buNone/>
            </a:pPr>
            <a:r>
              <a:t/>
            </a:r>
            <a:endParaRPr b="1" sz="800">
              <a:solidFill>
                <a:srgbClr val="FFFFFF"/>
              </a:solidFill>
            </a:endParaRPr>
          </a:p>
        </p:txBody>
      </p:sp>
      <p:sp>
        <p:nvSpPr>
          <p:cNvPr id="157" name="Google Shape;157;p15"/>
          <p:cNvSpPr txBox="1"/>
          <p:nvPr/>
        </p:nvSpPr>
        <p:spPr>
          <a:xfrm>
            <a:off x="6457175" y="3938575"/>
            <a:ext cx="2504700" cy="72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Research Questions</a:t>
            </a:r>
            <a:endParaRPr b="1" sz="800">
              <a:solidFill>
                <a:srgbClr val="FFFFFF"/>
              </a:solidFill>
            </a:endParaRPr>
          </a:p>
          <a:p>
            <a:pPr indent="0" lvl="0" marL="0" rtl="0" algn="ctr">
              <a:spcBef>
                <a:spcPts val="0"/>
              </a:spcBef>
              <a:spcAft>
                <a:spcPts val="0"/>
              </a:spcAft>
              <a:buNone/>
            </a:pPr>
            <a:r>
              <a:rPr lang="en" sz="700">
                <a:solidFill>
                  <a:srgbClr val="FFFFFF"/>
                </a:solidFill>
              </a:rPr>
              <a:t>How do high school students experience and make meaning of peer collaboration on social media platforms for academic learning purposes?
Sub-questions:
- What motivates students to engage in social media-based study groups?
- How do students describe the benefits and challenges of learning collaboratively on social media?
- In what ways do students believe these experiences influence their academic engagement?</a:t>
            </a:r>
            <a:endParaRPr sz="700">
              <a:solidFill>
                <a:srgbClr val="FFFFFF"/>
              </a:solidFill>
            </a:endParaRPr>
          </a:p>
          <a:p>
            <a:pPr indent="0" lvl="0" marL="0" rtl="0" algn="ctr">
              <a:spcBef>
                <a:spcPts val="0"/>
              </a:spcBef>
              <a:spcAft>
                <a:spcPts val="0"/>
              </a:spcAft>
              <a:buNone/>
            </a:pPr>
            <a:r>
              <a:t/>
            </a:r>
            <a:endParaRPr b="1" sz="800">
              <a:solidFill>
                <a:schemeClr val="dk1"/>
              </a:solidFill>
            </a:endParaRPr>
          </a:p>
        </p:txBody>
      </p:sp>
      <p:sp>
        <p:nvSpPr>
          <p:cNvPr id="158" name="Google Shape;158;p15"/>
          <p:cNvSpPr/>
          <p:nvPr/>
        </p:nvSpPr>
        <p:spPr>
          <a:xfrm>
            <a:off x="3166300" y="-3450"/>
            <a:ext cx="2843200" cy="2095500"/>
          </a:xfrm>
          <a:custGeom>
            <a:rect b="b" l="l" r="r" t="t"/>
            <a:pathLst>
              <a:path extrusionOk="0" h="83820" w="113728">
                <a:moveTo>
                  <a:pt x="58483" y="83820"/>
                </a:moveTo>
                <a:lnTo>
                  <a:pt x="0" y="0"/>
                </a:lnTo>
                <a:lnTo>
                  <a:pt x="113728" y="0"/>
                </a:lnTo>
                <a:close/>
              </a:path>
            </a:pathLst>
          </a:custGeom>
          <a:solidFill>
            <a:srgbClr val="CFE2F3"/>
          </a:solidFill>
          <a:ln cap="flat" cmpd="sng" w="19050">
            <a:solidFill>
              <a:srgbClr val="FFFFFF"/>
            </a:solidFill>
            <a:prstDash val="solid"/>
            <a:round/>
            <a:headEnd len="med" w="med" type="none"/>
            <a:tailEnd len="med" w="med" type="none"/>
          </a:ln>
        </p:spPr>
        <p:txBody>
          <a:bodyPr/>
          <a:p/>
        </p:txBody>
      </p:sp>
      <p:sp>
        <p:nvSpPr>
          <p:cNvPr id="159" name="Google Shape;159;p15"/>
          <p:cNvSpPr txBox="1"/>
          <p:nvPr/>
        </p:nvSpPr>
        <p:spPr>
          <a:xfrm>
            <a:off x="3607050" y="28600"/>
            <a:ext cx="2037600" cy="7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800">
                <a:solidFill>
                  <a:schemeClr val="dk1"/>
                </a:solidFill>
              </a:rPr>
              <a:t>Gap/s Found:</a:t>
            </a:r>
            <a:r>
              <a:rPr lang="en" sz="800">
                <a:solidFill>
                  <a:schemeClr val="dk1"/>
                </a:solidFill>
              </a:rPr>
              <a:t> </a:t>
            </a:r>
            <a:endParaRPr sz="800">
              <a:solidFill>
                <a:schemeClr val="dk1"/>
              </a:solidFill>
            </a:endParaRPr>
          </a:p>
          <a:p>
            <a:pPr indent="0" lvl="0" marL="0" rtl="0" algn="ctr">
              <a:spcBef>
                <a:spcPts val="0"/>
              </a:spcBef>
              <a:spcAft>
                <a:spcPts val="0"/>
              </a:spcAft>
              <a:buNone/>
            </a:pPr>
            <a:r>
              <a:rPr lang="en" sz="700">
                <a:solidFill>
                  <a:schemeClr val="dk1"/>
                </a:solidFill>
              </a:rPr>
              <a:t>&lt;&lt;</a:t>
            </a:r>
            <a:r>
              <a:rPr lang="en" sz="700">
                <a:solidFill>
                  <a:schemeClr val="dk1"/>
                </a:solidFill>
              </a:rPr>
              <a:t>Gap/s found in the review of your topical research</a:t>
            </a:r>
            <a:r>
              <a:rPr lang="en" sz="700">
                <a:solidFill>
                  <a:schemeClr val="dk1"/>
                </a:solidFill>
              </a:rPr>
              <a:t>&gt;&gt;</a:t>
            </a:r>
            <a:endParaRPr sz="700">
              <a:solidFill>
                <a:schemeClr val="dk1"/>
              </a:solidFill>
            </a:endParaRPr>
          </a:p>
        </p:txBody>
      </p:sp>
      <p:sp>
        <p:nvSpPr>
          <p:cNvPr id="160" name="Google Shape;160;p15"/>
          <p:cNvSpPr/>
          <p:nvPr/>
        </p:nvSpPr>
        <p:spPr>
          <a:xfrm>
            <a:off x="38125" y="28575"/>
            <a:ext cx="1194600" cy="230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Topical Research</a:t>
            </a:r>
            <a:endParaRPr b="1" sz="800">
              <a:solidFill>
                <a:srgbClr val="FFFFFF"/>
              </a:solidFill>
            </a:endParaRPr>
          </a:p>
        </p:txBody>
      </p:sp>
      <p:sp>
        <p:nvSpPr>
          <p:cNvPr id="161" name="Google Shape;161;p15"/>
          <p:cNvSpPr/>
          <p:nvPr/>
        </p:nvSpPr>
        <p:spPr>
          <a:xfrm>
            <a:off x="-13212" y="25870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rPr>
              <a:t>Research shows that collaborative learning can enhance student engagement and achievement (Vygotsky, 1978; Johnson &amp; Johnson, 1999). Recent studies indicate that Generation Z students are "digital natives" who naturally integrate technology into their learning (Prensky, 2001). However, there's limited research on how students self-organize learning communities on social media platforms. Some studies suggest that peer-to-peer learning on social media can increase motivation (Manca &amp; Ranieri, 2016), while others raise concerns about distraction and misinformation. The gap I see is understanding the authentic student experience and perspective on these practices.</a:t>
            </a:r>
            <a:endParaRPr sz="700">
              <a:solidFill>
                <a:srgbClr val="FFFFFF"/>
              </a:solidFill>
            </a:endParaRPr>
          </a:p>
        </p:txBody>
      </p:sp>
      <p:sp>
        <p:nvSpPr>
          <p:cNvPr id="162" name="Google Shape;162;p15"/>
          <p:cNvSpPr/>
          <p:nvPr/>
        </p:nvSpPr>
        <p:spPr>
          <a:xfrm>
            <a:off x="352413" y="62717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rPr>
              <a:t/>
            </a:r>
            <a:endParaRPr sz="700">
              <a:solidFill>
                <a:srgbClr val="FFFFFF"/>
              </a:solidFill>
            </a:endParaRPr>
          </a:p>
        </p:txBody>
      </p:sp>
      <p:sp>
        <p:nvSpPr>
          <p:cNvPr id="163" name="Google Shape;163;p15"/>
          <p:cNvSpPr/>
          <p:nvPr/>
        </p:nvSpPr>
        <p:spPr>
          <a:xfrm>
            <a:off x="783213" y="963488"/>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rPr>
              <a:t/>
            </a:r>
            <a:endParaRPr sz="700">
              <a:solidFill>
                <a:srgbClr val="FFFFFF"/>
              </a:solidFill>
            </a:endParaRPr>
          </a:p>
        </p:txBody>
      </p:sp>
      <p:sp>
        <p:nvSpPr>
          <p:cNvPr id="164" name="Google Shape;164;p15"/>
          <p:cNvSpPr/>
          <p:nvPr/>
        </p:nvSpPr>
        <p:spPr>
          <a:xfrm>
            <a:off x="1480688" y="1303300"/>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rPr>
              <a:t/>
            </a:r>
            <a:endParaRPr sz="700">
              <a:solidFill>
                <a:srgbClr val="FFFFFF"/>
              </a:solidFill>
            </a:endParaRPr>
          </a:p>
        </p:txBody>
      </p:sp>
      <p:sp>
        <p:nvSpPr>
          <p:cNvPr id="165" name="Google Shape;165;p15"/>
          <p:cNvSpPr/>
          <p:nvPr/>
        </p:nvSpPr>
        <p:spPr>
          <a:xfrm>
            <a:off x="2146788" y="1773663"/>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700">
                <a:solidFill>
                  <a:srgbClr val="FFFFFF"/>
                </a:solidFill>
              </a:rPr>
              <a:t/>
            </a:r>
            <a:endParaRPr sz="700">
              <a:solidFill>
                <a:srgbClr val="FFFFFF"/>
              </a:solidFill>
            </a:endParaRPr>
          </a:p>
        </p:txBody>
      </p:sp>
      <p:sp>
        <p:nvSpPr>
          <p:cNvPr id="166" name="Google Shape;166;p15"/>
          <p:cNvSpPr/>
          <p:nvPr/>
        </p:nvSpPr>
        <p:spPr>
          <a:xfrm>
            <a:off x="7414775" y="28600"/>
            <a:ext cx="1676100" cy="230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Theoretical Frameworks</a:t>
            </a:r>
            <a:endParaRPr b="1" sz="800">
              <a:solidFill>
                <a:srgbClr val="FFFFFF"/>
              </a:solidFill>
            </a:endParaRPr>
          </a:p>
        </p:txBody>
      </p:sp>
      <p:sp>
        <p:nvSpPr>
          <p:cNvPr id="167" name="Google Shape;167;p15"/>
          <p:cNvSpPr/>
          <p:nvPr/>
        </p:nvSpPr>
        <p:spPr>
          <a:xfrm>
            <a:off x="7048725" y="268600"/>
            <a:ext cx="2070600" cy="37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rPr>
              <a:t/>
            </a:r>
            <a:endParaRPr sz="800">
              <a:solidFill>
                <a:srgbClr val="FFFFFF"/>
              </a:solidFill>
            </a:endParaRPr>
          </a:p>
        </p:txBody>
      </p:sp>
      <p:sp>
        <p:nvSpPr>
          <p:cNvPr id="168" name="Google Shape;168;p15"/>
          <p:cNvSpPr/>
          <p:nvPr/>
        </p:nvSpPr>
        <p:spPr>
          <a:xfrm>
            <a:off x="6567700" y="609500"/>
            <a:ext cx="2070600" cy="3540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rPr>
              <a:t/>
            </a:r>
            <a:endParaRPr sz="800">
              <a:solidFill>
                <a:srgbClr val="FFFFFF"/>
              </a:solidFill>
            </a:endParaRPr>
          </a:p>
        </p:txBody>
      </p:sp>
      <p:sp>
        <p:nvSpPr>
          <p:cNvPr id="169" name="Google Shape;169;p15"/>
          <p:cNvSpPr/>
          <p:nvPr/>
        </p:nvSpPr>
        <p:spPr>
          <a:xfrm>
            <a:off x="6229550" y="929200"/>
            <a:ext cx="2070600" cy="3741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rPr>
              <a:t/>
            </a:r>
            <a:endParaRPr sz="800">
              <a:solidFill>
                <a:srgbClr val="FFFFFF"/>
              </a:solidFill>
            </a:endParaRPr>
          </a:p>
        </p:txBody>
      </p:sp>
      <p:sp>
        <p:nvSpPr>
          <p:cNvPr id="170" name="Google Shape;170;p15"/>
          <p:cNvSpPr/>
          <p:nvPr/>
        </p:nvSpPr>
        <p:spPr>
          <a:xfrm>
            <a:off x="5898925" y="123882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rPr>
              <a:t/>
            </a:r>
            <a:endParaRPr sz="800">
              <a:solidFill>
                <a:srgbClr val="FFFFFF"/>
              </a:solidFill>
            </a:endParaRPr>
          </a:p>
        </p:txBody>
      </p:sp>
      <p:sp>
        <p:nvSpPr>
          <p:cNvPr id="171" name="Google Shape;171;p15"/>
          <p:cNvSpPr/>
          <p:nvPr/>
        </p:nvSpPr>
        <p:spPr>
          <a:xfrm>
            <a:off x="5186575" y="1632725"/>
            <a:ext cx="2070600" cy="393900"/>
          </a:xfrm>
          <a:prstGeom prst="roundRect">
            <a:avLst>
              <a:gd fmla="val 0" name="adj"/>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rPr>
              <a:t/>
            </a:r>
            <a:endParaRPr sz="800">
              <a:solidFill>
                <a:srgbClr val="FFFFFF"/>
              </a:solidFill>
            </a:endParaRPr>
          </a:p>
        </p:txBody>
      </p:sp>
      <p:sp>
        <p:nvSpPr>
          <p:cNvPr id="172" name="Google Shape;172;p15"/>
          <p:cNvSpPr txBox="1"/>
          <p:nvPr/>
        </p:nvSpPr>
        <p:spPr>
          <a:xfrm>
            <a:off x="3125850" y="5225775"/>
            <a:ext cx="3000000" cy="354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700">
                <a:solidFill>
                  <a:srgbClr val="073763"/>
                </a:solidFill>
              </a:rPr>
              <a:t>Conceptual Framework:  Mango</a:t>
            </a:r>
            <a:endParaRPr b="1" sz="700">
              <a:solidFill>
                <a:srgbClr val="073763"/>
              </a:solidFill>
            </a:endParaRPr>
          </a:p>
        </p:txBody>
      </p:sp>
      <p:sp>
        <p:nvSpPr>
          <p:cNvPr id="173" name="Google Shape;173;p15"/>
          <p:cNvSpPr txBox="1"/>
          <p:nvPr/>
        </p:nvSpPr>
        <p:spPr>
          <a:xfrm>
            <a:off x="1837100" y="5387900"/>
            <a:ext cx="1714200" cy="23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700">
                <a:solidFill>
                  <a:srgbClr val="073763"/>
                </a:solidFill>
                <a:highlight>
                  <a:schemeClr val="lt1"/>
                </a:highlight>
              </a:rPr>
              <a:t>Email:</a:t>
            </a:r>
            <a:r>
              <a:rPr lang="en" sz="700">
                <a:solidFill>
                  <a:srgbClr val="073763"/>
                </a:solidFill>
                <a:highlight>
                  <a:schemeClr val="lt1"/>
                </a:highlight>
              </a:rPr>
              <a:t> mango@test.com</a:t>
            </a:r>
            <a:endParaRPr sz="700">
              <a:solidFill>
                <a:srgbClr val="073763"/>
              </a:solidFill>
              <a:highlight>
                <a:schemeClr val="lt1"/>
              </a:highlight>
            </a:endParaRPr>
          </a:p>
        </p:txBody>
      </p:sp>
      <p:sp>
        <p:nvSpPr>
          <p:cNvPr id="174" name="Google Shape;174;p15"/>
          <p:cNvSpPr txBox="1"/>
          <p:nvPr/>
        </p:nvSpPr>
        <p:spPr>
          <a:xfrm>
            <a:off x="5957125" y="5368100"/>
            <a:ext cx="1327200" cy="26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
                <a:solidFill>
                  <a:srgbClr val="073763"/>
                </a:solidFill>
                <a:highlight>
                  <a:schemeClr val="lt1"/>
                </a:highlight>
              </a:rPr>
              <a:t>Date:</a:t>
            </a:r>
            <a:r>
              <a:rPr lang="en" sz="600">
                <a:solidFill>
                  <a:srgbClr val="073763"/>
                </a:solidFill>
                <a:highlight>
                  <a:schemeClr val="lt1"/>
                </a:highlight>
              </a:rPr>
              <a:t> February 13, 2026</a:t>
            </a:r>
            <a:endParaRPr sz="600">
              <a:solidFill>
                <a:srgbClr val="073763"/>
              </a:solidFill>
              <a:highlight>
                <a:schemeClr val="lt1"/>
              </a:highlight>
            </a:endParaRPr>
          </a:p>
        </p:txBody>
      </p:sp>
      <p:pic>
        <p:nvPicPr>
          <p:cNvPr id="175" name="Google Shape;175;p15"/>
          <p:cNvPicPr preferRelativeResize="0"/>
          <p:nvPr/>
        </p:nvPicPr>
        <p:blipFill>
          <a:blip r:embed="rId3">
            <a:alphaModFix/>
          </a:blip>
          <a:stretch>
            <a:fillRect/>
          </a:stretch>
        </p:blipFill>
        <p:spPr>
          <a:xfrm>
            <a:off x="7734175" y="5291300"/>
            <a:ext cx="1327201" cy="369031"/>
          </a:xfrm>
          <a:prstGeom prst="rect">
            <a:avLst/>
          </a:prstGeom>
          <a:noFill/>
          <a:ln>
            <a:noFill/>
          </a:ln>
          <a:effectLst>
            <a:outerShdw rotWithShape="0" algn="bl" dir="360001" dist="9525">
              <a:srgbClr val="FFFFFF"/>
            </a:outerShdw>
          </a:effectLst>
        </p:spPr>
      </p:pic>
      <p:sp>
        <p:nvSpPr>
          <p:cNvPr id="176" name="Google Shape;176;p15"/>
          <p:cNvSpPr txBox="1"/>
          <p:nvPr/>
        </p:nvSpPr>
        <p:spPr>
          <a:xfrm>
            <a:off x="3881350" y="2383350"/>
            <a:ext cx="1466400" cy="1258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sz="800">
                <a:solidFill>
                  <a:schemeClr val="lt1"/>
                </a:solidFill>
              </a:rPr>
              <a:t>Research Topic: </a:t>
            </a:r>
            <a:endParaRPr b="1" sz="800">
              <a:solidFill>
                <a:schemeClr val="lt1"/>
              </a:solidFill>
            </a:endParaRPr>
          </a:p>
          <a:p>
            <a:pPr indent="0" lvl="0" marL="0" rtl="0" algn="ctr">
              <a:spcBef>
                <a:spcPts val="0"/>
              </a:spcBef>
              <a:spcAft>
                <a:spcPts val="0"/>
              </a:spcAft>
              <a:buClr>
                <a:schemeClr val="dk1"/>
              </a:buClr>
              <a:buSzPts val="1100"/>
              <a:buFont typeface="Arial"/>
              <a:buNone/>
            </a:pPr>
            <a:r>
              <a:rPr lang="en" sz="700">
                <a:solidFill>
                  <a:schemeClr val="lt1"/>
                </a:solidFill>
              </a:rPr>
              <a:t>I'm wondering about how high school students use social media for collaborative learning outside the classroom. Specifically, I'm interested in understanding what motivates them to create study groups online, how they share knowledge with peers, and whether these informal learning spaces impact their academic performance and engagement. I've noticed that many students seem to learn from each other on platforms like Discord and Instagram, and I want to explore this phenomenon more deeply.</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54BA4557188643B077646120511000" ma:contentTypeVersion="13" ma:contentTypeDescription="Create a new document." ma:contentTypeScope="" ma:versionID="22978badb5bc0a510cebd68f4d6f757e">
  <xsd:schema xmlns:xsd="http://www.w3.org/2001/XMLSchema" xmlns:xs="http://www.w3.org/2001/XMLSchema" xmlns:p="http://schemas.microsoft.com/office/2006/metadata/properties" xmlns:ns2="e714e8bb-55a2-4088-93f3-0ad0537ec672" xmlns:ns3="13fb311a-1a33-4702-88f8-280086545f0a" targetNamespace="http://schemas.microsoft.com/office/2006/metadata/properties" ma:root="true" ma:fieldsID="47ab99adafd8fbacf444728a24e4c57d" ns2:_="" ns3:_="">
    <xsd:import namespace="e714e8bb-55a2-4088-93f3-0ad0537ec672"/>
    <xsd:import namespace="13fb311a-1a33-4702-88f8-280086545f0a"/>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714e8bb-55a2-4088-93f3-0ad0537ec67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16867a8-d3dd-450c-8722-94d742a2adf8"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3fb311a-1a33-4702-88f8-280086545f0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e7de2e8-346f-4462-8087-f5dbf10426b3}" ma:internalName="TaxCatchAll" ma:showField="CatchAllData" ma:web="13fb311a-1a33-4702-88f8-280086545f0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714e8bb-55a2-4088-93f3-0ad0537ec672">
      <Terms xmlns="http://schemas.microsoft.com/office/infopath/2007/PartnerControls"/>
    </lcf76f155ced4ddcb4097134ff3c332f>
    <TaxCatchAll xmlns="13fb311a-1a33-4702-88f8-280086545f0a" xsi:nil="true"/>
  </documentManagement>
</p:properties>
</file>

<file path=customXml/itemProps1.xml><?xml version="1.0" encoding="utf-8"?>
<ds:datastoreItem xmlns:ds="http://schemas.openxmlformats.org/officeDocument/2006/customXml" ds:itemID="{F6844D1F-040D-4803-B497-A9DB18B4EA03}"/>
</file>

<file path=customXml/itemProps2.xml><?xml version="1.0" encoding="utf-8"?>
<ds:datastoreItem xmlns:ds="http://schemas.openxmlformats.org/officeDocument/2006/customXml" ds:itemID="{68AFC3AE-4419-41F3-80BC-ECE8CBF06284}"/>
</file>

<file path=customXml/itemProps3.xml><?xml version="1.0" encoding="utf-8"?>
<ds:datastoreItem xmlns:ds="http://schemas.openxmlformats.org/officeDocument/2006/customXml" ds:itemID="{AC3A0284-30B3-4CD5-9D13-A28563CBB228}"/>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0x010100D854BA4557188643B077646120511000</vt:lpwstr>
  </property>
</Properties>
</file>