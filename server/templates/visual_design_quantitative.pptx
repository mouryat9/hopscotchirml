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60" r:id="rId2"/>
    <p:sldId id="256" r:id="rId3"/>
    <p:sldId id="258" r:id="rId4"/>
    <p:sldId id="259" r:id="rId5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3A5F"/>
    <a:srgbClr val="6BC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58"/>
  </p:normalViewPr>
  <p:slideViewPr>
    <p:cSldViewPr snapToGrid="0">
      <p:cViewPr varScale="1">
        <p:scale>
          <a:sx n="120" d="100"/>
          <a:sy n="120" d="100"/>
        </p:scale>
        <p:origin x="15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7416e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27416e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27416ef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27416ef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6698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tif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tif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160550" y="259600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 rot="10800000">
            <a:off x="4160550" y="2742212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6BC04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341375" y="1812575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978125" y="1812575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511225" y="4271100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814175" y="4271100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rgbClr val="02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3"/>
          <p:cNvSpPr txBox="1"/>
          <p:nvPr/>
        </p:nvSpPr>
        <p:spPr>
          <a:xfrm>
            <a:off x="4417500" y="572199"/>
            <a:ext cx="2117400" cy="843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5493"/>
                </a:solidFill>
              </a:rPr>
              <a:t>Hypothesis  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" sz="1000" b="1" dirty="0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5493"/>
                </a:solidFill>
              </a:rPr>
              <a:t>Variables</a:t>
            </a:r>
            <a:endParaRPr sz="1000" b="1" dirty="0">
              <a:solidFill>
                <a:srgbClr val="005493"/>
              </a:solidFill>
            </a:endParaRPr>
          </a:p>
        </p:txBody>
      </p:sp>
      <p:cxnSp>
        <p:nvCxnSpPr>
          <p:cNvPr id="67" name="Google Shape;67;p13"/>
          <p:cNvCxnSpPr/>
          <p:nvPr/>
        </p:nvCxnSpPr>
        <p:spPr>
          <a:xfrm>
            <a:off x="4300538" y="1590675"/>
            <a:ext cx="23148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68;p13"/>
          <p:cNvSpPr txBox="1"/>
          <p:nvPr/>
        </p:nvSpPr>
        <p:spPr>
          <a:xfrm>
            <a:off x="4461750" y="1559675"/>
            <a:ext cx="2028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Research Question</a:t>
            </a: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4399000" y="3617156"/>
            <a:ext cx="2117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 dirty="0">
                <a:solidFill>
                  <a:srgbClr val="FFFFFF"/>
                </a:solidFill>
              </a:rPr>
              <a:t>Phenomenon under Study</a:t>
            </a:r>
            <a:endParaRPr sz="1100" dirty="0">
              <a:solidFill>
                <a:srgbClr val="FFFFFF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762250" y="2169275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Data </a:t>
            </a:r>
            <a:endParaRPr sz="1000" b="1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Gathering </a:t>
            </a: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7205100" y="2131175"/>
            <a:ext cx="85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Process</a:t>
            </a:r>
            <a:endParaRPr sz="1000" b="1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Support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3685050" y="4423225"/>
            <a:ext cx="85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Type</a:t>
            </a:r>
            <a:endParaRPr sz="1000" b="1">
              <a:solidFill>
                <a:srgbClr val="005493"/>
              </a:solidFill>
            </a:endParaRPr>
          </a:p>
        </p:txBody>
      </p:sp>
      <p:cxnSp>
        <p:nvCxnSpPr>
          <p:cNvPr id="83" name="Google Shape;83;p13"/>
          <p:cNvCxnSpPr>
            <a:endCxn id="59" idx="5"/>
          </p:cNvCxnSpPr>
          <p:nvPr/>
        </p:nvCxnSpPr>
        <p:spPr>
          <a:xfrm rot="10800000" flipH="1">
            <a:off x="2833672" y="5188847"/>
            <a:ext cx="2576400" cy="3600"/>
          </a:xfrm>
          <a:prstGeom prst="straightConnector1">
            <a:avLst/>
          </a:prstGeom>
          <a:noFill/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3"/>
          <p:cNvCxnSpPr/>
          <p:nvPr/>
        </p:nvCxnSpPr>
        <p:spPr>
          <a:xfrm>
            <a:off x="3086100" y="5991225"/>
            <a:ext cx="2047800" cy="0"/>
          </a:xfrm>
          <a:prstGeom prst="straightConnector1">
            <a:avLst/>
          </a:prstGeom>
          <a:noFill/>
          <a:ln w="9525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/>
          <p:nvPr/>
        </p:nvSpPr>
        <p:spPr>
          <a:xfrm>
            <a:off x="3604225" y="5207225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# of Groups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604225" y="5912075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Analysis</a:t>
            </a:r>
            <a:endParaRPr sz="1000" b="1">
              <a:solidFill>
                <a:srgbClr val="005493"/>
              </a:solidFill>
            </a:endParaRPr>
          </a:p>
        </p:txBody>
      </p:sp>
      <p:cxnSp>
        <p:nvCxnSpPr>
          <p:cNvPr id="87" name="Google Shape;87;p13"/>
          <p:cNvCxnSpPr/>
          <p:nvPr/>
        </p:nvCxnSpPr>
        <p:spPr>
          <a:xfrm rot="10800000" flipH="1">
            <a:off x="5524372" y="5205747"/>
            <a:ext cx="25764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5786325" y="6008125"/>
            <a:ext cx="204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3"/>
          <p:cNvCxnSpPr/>
          <p:nvPr/>
        </p:nvCxnSpPr>
        <p:spPr>
          <a:xfrm>
            <a:off x="6810375" y="5210175"/>
            <a:ext cx="0" cy="8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3"/>
          <p:cNvSpPr txBox="1"/>
          <p:nvPr/>
        </p:nvSpPr>
        <p:spPr>
          <a:xfrm>
            <a:off x="6136199" y="4532789"/>
            <a:ext cx="1240500" cy="58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 dirty="0">
                <a:solidFill>
                  <a:srgbClr val="005493"/>
                </a:solidFill>
              </a:rPr>
              <a:t>Control of Independent variable </a:t>
            </a:r>
            <a:endParaRPr sz="1200" b="1" dirty="0">
              <a:solidFill>
                <a:srgbClr val="005493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786325" y="5115325"/>
            <a:ext cx="85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Groups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714825" y="5125850"/>
            <a:ext cx="1457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Representativeness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299175" y="5914400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Sample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329125" y="885825"/>
            <a:ext cx="22554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6" name="Google Shape;96;p13"/>
          <p:cNvSpPr txBox="1"/>
          <p:nvPr/>
        </p:nvSpPr>
        <p:spPr>
          <a:xfrm>
            <a:off x="4462125" y="1718375"/>
            <a:ext cx="20289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7" name="Google Shape;97;p13"/>
          <p:cNvSpPr txBox="1"/>
          <p:nvPr/>
        </p:nvSpPr>
        <p:spPr>
          <a:xfrm>
            <a:off x="2261625" y="2543075"/>
            <a:ext cx="2028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 </a:t>
            </a:r>
            <a:endParaRPr sz="900"/>
          </a:p>
        </p:txBody>
      </p:sp>
      <p:sp>
        <p:nvSpPr>
          <p:cNvPr id="98" name="Google Shape;98;p13"/>
          <p:cNvSpPr txBox="1"/>
          <p:nvPr/>
        </p:nvSpPr>
        <p:spPr>
          <a:xfrm>
            <a:off x="6637175" y="2495450"/>
            <a:ext cx="2028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00" name="Google Shape;100;p13"/>
          <p:cNvSpPr txBox="1"/>
          <p:nvPr/>
        </p:nvSpPr>
        <p:spPr>
          <a:xfrm>
            <a:off x="3489750" y="5497738"/>
            <a:ext cx="12405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5823375" y="6055925"/>
            <a:ext cx="19716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" name="Google Shape;94;p13">
            <a:extLst>
              <a:ext uri="{FF2B5EF4-FFF2-40B4-BE49-F238E27FC236}">
                <a16:creationId xmlns:a16="http://schemas.microsoft.com/office/drawing/2014/main" id="{34DC22B9-EF84-0288-2EC6-4802A618FB15}"/>
              </a:ext>
            </a:extLst>
          </p:cNvPr>
          <p:cNvCxnSpPr/>
          <p:nvPr/>
        </p:nvCxnSpPr>
        <p:spPr>
          <a:xfrm>
            <a:off x="0" y="470031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023A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74;p13">
            <a:extLst>
              <a:ext uri="{FF2B5EF4-FFF2-40B4-BE49-F238E27FC236}">
                <a16:creationId xmlns:a16="http://schemas.microsoft.com/office/drawing/2014/main" id="{2B126776-0D6E-6DD8-B387-09036E3C0E71}"/>
              </a:ext>
            </a:extLst>
          </p:cNvPr>
          <p:cNvSpPr txBox="1"/>
          <p:nvPr/>
        </p:nvSpPr>
        <p:spPr>
          <a:xfrm>
            <a:off x="0" y="44131"/>
            <a:ext cx="3122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rgbClr val="0B5394"/>
                </a:solidFill>
              </a:rPr>
              <a:t>Research Design Type</a:t>
            </a:r>
            <a:endParaRPr b="1" dirty="0">
              <a:solidFill>
                <a:srgbClr val="0B5394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224324-4996-9086-2451-0B1A792DD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50" y="6115732"/>
            <a:ext cx="2710125" cy="638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4160550" y="259600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 rot="10800000">
            <a:off x="4160550" y="2742212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chemeClr val="accent5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6341375" y="1812575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1978125" y="1812575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5511225" y="4271100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2814175" y="4271100"/>
            <a:ext cx="2595900" cy="2402700"/>
          </a:xfrm>
          <a:prstGeom prst="pentagon">
            <a:avLst>
              <a:gd name="hf" fmla="val 105146"/>
              <a:gd name="vf" fmla="val 11055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13" descr="Hopscotch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099" y="6097774"/>
            <a:ext cx="2557950" cy="75775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97200" y="120125"/>
            <a:ext cx="31221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rgbClr val="0B5394"/>
                </a:solidFill>
              </a:rPr>
              <a:t>&lt;&lt;Name&gt;&gt;</a:t>
            </a:r>
            <a:endParaRPr sz="1200">
              <a:solidFill>
                <a:srgbClr val="0B5394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97200" y="369350"/>
            <a:ext cx="28710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/>
              <a:t>&lt;&lt;email&gt;&gt;</a:t>
            </a:r>
            <a:endParaRPr sz="1200"/>
          </a:p>
        </p:txBody>
      </p:sp>
      <p:cxnSp>
        <p:nvCxnSpPr>
          <p:cNvPr id="63" name="Google Shape;63;p13"/>
          <p:cNvCxnSpPr/>
          <p:nvPr/>
        </p:nvCxnSpPr>
        <p:spPr>
          <a:xfrm>
            <a:off x="0" y="832850"/>
            <a:ext cx="2420400" cy="0"/>
          </a:xfrm>
          <a:prstGeom prst="straightConnector1">
            <a:avLst/>
          </a:pr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 txBox="1"/>
          <p:nvPr/>
        </p:nvSpPr>
        <p:spPr>
          <a:xfrm>
            <a:off x="11475" y="909050"/>
            <a:ext cx="3308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666666"/>
                </a:solidFill>
              </a:rPr>
              <a:t>Descriptive non-experimental &lt;&lt;Type of correlational study&gt;&gt; </a:t>
            </a:r>
            <a:endParaRPr sz="1000" b="1">
              <a:solidFill>
                <a:srgbClr val="666666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417500" y="572200"/>
            <a:ext cx="21174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Hypothesis:  O</a:t>
            </a:r>
            <a:endParaRPr sz="1000" b="1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Variables</a:t>
            </a:r>
            <a:endParaRPr sz="1000" b="1">
              <a:solidFill>
                <a:srgbClr val="005493"/>
              </a:solidFill>
            </a:endParaRPr>
          </a:p>
        </p:txBody>
      </p:sp>
      <p:cxnSp>
        <p:nvCxnSpPr>
          <p:cNvPr id="66" name="Google Shape;66;p13"/>
          <p:cNvCxnSpPr/>
          <p:nvPr/>
        </p:nvCxnSpPr>
        <p:spPr>
          <a:xfrm flipH="1">
            <a:off x="5814245" y="645950"/>
            <a:ext cx="102000" cy="58500"/>
          </a:xfrm>
          <a:prstGeom prst="straightConnector1">
            <a:avLst/>
          </a:prstGeom>
          <a:noFill/>
          <a:ln w="19050" cap="flat" cmpd="sng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" name="Google Shape;67;p13"/>
          <p:cNvCxnSpPr/>
          <p:nvPr/>
        </p:nvCxnSpPr>
        <p:spPr>
          <a:xfrm>
            <a:off x="4300538" y="1590675"/>
            <a:ext cx="23148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" name="Google Shape;68;p13"/>
          <p:cNvSpPr txBox="1"/>
          <p:nvPr/>
        </p:nvSpPr>
        <p:spPr>
          <a:xfrm>
            <a:off x="4461750" y="1559675"/>
            <a:ext cx="2028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Research Question</a:t>
            </a:r>
            <a:endParaRPr/>
          </a:p>
        </p:txBody>
      </p:sp>
      <p:sp>
        <p:nvSpPr>
          <p:cNvPr id="69" name="Google Shape;69;p13"/>
          <p:cNvSpPr txBox="1"/>
          <p:nvPr/>
        </p:nvSpPr>
        <p:spPr>
          <a:xfrm>
            <a:off x="4819525" y="2714888"/>
            <a:ext cx="1320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b="1">
                <a:solidFill>
                  <a:srgbClr val="D9D9D9"/>
                </a:solidFill>
              </a:rPr>
              <a:t>Control of Variance</a:t>
            </a:r>
            <a:endParaRPr sz="900" b="1">
              <a:solidFill>
                <a:srgbClr val="D9D9D9"/>
              </a:solidFill>
            </a:endParaRPr>
          </a:p>
        </p:txBody>
      </p:sp>
      <p:sp>
        <p:nvSpPr>
          <p:cNvPr id="70" name="Google Shape;70;p13"/>
          <p:cNvSpPr txBox="1"/>
          <p:nvPr/>
        </p:nvSpPr>
        <p:spPr>
          <a:xfrm>
            <a:off x="4857225" y="3264938"/>
            <a:ext cx="1320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 b="1">
                <a:solidFill>
                  <a:srgbClr val="D9D9D9"/>
                </a:solidFill>
              </a:rPr>
              <a:t>Causality</a:t>
            </a:r>
            <a:endParaRPr sz="900" b="1">
              <a:solidFill>
                <a:srgbClr val="D9D9D9"/>
              </a:solidFill>
            </a:endParaRPr>
          </a:p>
        </p:txBody>
      </p:sp>
      <p:grpSp>
        <p:nvGrpSpPr>
          <p:cNvPr id="71" name="Google Shape;71;p13"/>
          <p:cNvGrpSpPr/>
          <p:nvPr/>
        </p:nvGrpSpPr>
        <p:grpSpPr>
          <a:xfrm>
            <a:off x="6096000" y="3171000"/>
            <a:ext cx="352500" cy="355875"/>
            <a:chOff x="438150" y="1085850"/>
            <a:chExt cx="352500" cy="355875"/>
          </a:xfrm>
        </p:grpSpPr>
        <p:sp>
          <p:nvSpPr>
            <p:cNvPr id="72" name="Google Shape;72;p13"/>
            <p:cNvSpPr/>
            <p:nvPr/>
          </p:nvSpPr>
          <p:spPr>
            <a:xfrm>
              <a:off x="476250" y="1190625"/>
              <a:ext cx="238200" cy="251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13"/>
            <p:cNvSpPr txBox="1"/>
            <p:nvPr/>
          </p:nvSpPr>
          <p:spPr>
            <a:xfrm>
              <a:off x="438150" y="1085850"/>
              <a:ext cx="3525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/>
                <a:t>+</a:t>
              </a:r>
              <a:endParaRPr sz="1800"/>
            </a:p>
          </p:txBody>
        </p:sp>
      </p:grpSp>
      <p:grpSp>
        <p:nvGrpSpPr>
          <p:cNvPr id="74" name="Google Shape;74;p13"/>
          <p:cNvGrpSpPr/>
          <p:nvPr/>
        </p:nvGrpSpPr>
        <p:grpSpPr>
          <a:xfrm>
            <a:off x="4499850" y="3132900"/>
            <a:ext cx="352500" cy="380675"/>
            <a:chOff x="885825" y="1085850"/>
            <a:chExt cx="352500" cy="380675"/>
          </a:xfrm>
        </p:grpSpPr>
        <p:sp>
          <p:nvSpPr>
            <p:cNvPr id="75" name="Google Shape;75;p13"/>
            <p:cNvSpPr/>
            <p:nvPr/>
          </p:nvSpPr>
          <p:spPr>
            <a:xfrm>
              <a:off x="895350" y="1215425"/>
              <a:ext cx="238200" cy="251100"/>
            </a:xfrm>
            <a:prstGeom prst="ellipse">
              <a:avLst/>
            </a:prstGeom>
            <a:solidFill>
              <a:srgbClr val="FFFFFF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3"/>
            <p:cNvSpPr txBox="1"/>
            <p:nvPr/>
          </p:nvSpPr>
          <p:spPr>
            <a:xfrm>
              <a:off x="885825" y="1085850"/>
              <a:ext cx="352500" cy="327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/>
                <a:t>-</a:t>
              </a:r>
              <a:endParaRPr sz="1800"/>
            </a:p>
          </p:txBody>
        </p:sp>
      </p:grpSp>
      <p:sp>
        <p:nvSpPr>
          <p:cNvPr id="77" name="Google Shape;77;p13"/>
          <p:cNvSpPr txBox="1"/>
          <p:nvPr/>
        </p:nvSpPr>
        <p:spPr>
          <a:xfrm>
            <a:off x="4300550" y="3649000"/>
            <a:ext cx="921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9D9D9"/>
                </a:solidFill>
              </a:rPr>
              <a:t>Descriptive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5689200" y="3649000"/>
            <a:ext cx="921900" cy="3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D9D9D9"/>
                </a:solidFill>
              </a:rPr>
              <a:t>Experimental</a:t>
            </a:r>
            <a:endParaRPr sz="900">
              <a:solidFill>
                <a:srgbClr val="D9D9D9"/>
              </a:solidFill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4443250" y="3886375"/>
            <a:ext cx="21174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 b="1">
                <a:solidFill>
                  <a:srgbClr val="FFFFFF"/>
                </a:solidFill>
              </a:rPr>
              <a:t>Phenomenon under Study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2762250" y="2169275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Data </a:t>
            </a:r>
            <a:endParaRPr sz="1000" b="1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Gathering </a:t>
            </a:r>
            <a:endParaRPr/>
          </a:p>
        </p:txBody>
      </p:sp>
      <p:sp>
        <p:nvSpPr>
          <p:cNvPr id="81" name="Google Shape;81;p13"/>
          <p:cNvSpPr txBox="1"/>
          <p:nvPr/>
        </p:nvSpPr>
        <p:spPr>
          <a:xfrm>
            <a:off x="7205100" y="2131175"/>
            <a:ext cx="85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Process</a:t>
            </a:r>
            <a:endParaRPr sz="1000" b="1">
              <a:solidFill>
                <a:srgbClr val="005493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Support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82" name="Google Shape;82;p13"/>
          <p:cNvSpPr txBox="1"/>
          <p:nvPr/>
        </p:nvSpPr>
        <p:spPr>
          <a:xfrm>
            <a:off x="3685050" y="4423225"/>
            <a:ext cx="85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Type</a:t>
            </a:r>
            <a:endParaRPr sz="1000" b="1">
              <a:solidFill>
                <a:srgbClr val="005493"/>
              </a:solidFill>
            </a:endParaRPr>
          </a:p>
        </p:txBody>
      </p:sp>
      <p:cxnSp>
        <p:nvCxnSpPr>
          <p:cNvPr id="83" name="Google Shape;83;p13"/>
          <p:cNvCxnSpPr>
            <a:endCxn id="59" idx="5"/>
          </p:cNvCxnSpPr>
          <p:nvPr/>
        </p:nvCxnSpPr>
        <p:spPr>
          <a:xfrm rot="10800000" flipH="1">
            <a:off x="2833672" y="5188847"/>
            <a:ext cx="25764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" name="Google Shape;84;p13"/>
          <p:cNvCxnSpPr/>
          <p:nvPr/>
        </p:nvCxnSpPr>
        <p:spPr>
          <a:xfrm>
            <a:off x="3086100" y="5991225"/>
            <a:ext cx="204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" name="Google Shape;85;p13"/>
          <p:cNvSpPr txBox="1"/>
          <p:nvPr/>
        </p:nvSpPr>
        <p:spPr>
          <a:xfrm>
            <a:off x="3604225" y="5207225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# of Groups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604225" y="5912075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Analysis</a:t>
            </a:r>
            <a:endParaRPr sz="1000" b="1">
              <a:solidFill>
                <a:srgbClr val="005493"/>
              </a:solidFill>
            </a:endParaRPr>
          </a:p>
        </p:txBody>
      </p:sp>
      <p:cxnSp>
        <p:nvCxnSpPr>
          <p:cNvPr id="87" name="Google Shape;87;p13"/>
          <p:cNvCxnSpPr/>
          <p:nvPr/>
        </p:nvCxnSpPr>
        <p:spPr>
          <a:xfrm rot="10800000" flipH="1">
            <a:off x="5524372" y="5205747"/>
            <a:ext cx="2576400" cy="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5786325" y="6008125"/>
            <a:ext cx="2047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" name="Google Shape;89;p13"/>
          <p:cNvCxnSpPr/>
          <p:nvPr/>
        </p:nvCxnSpPr>
        <p:spPr>
          <a:xfrm>
            <a:off x="6810375" y="5210175"/>
            <a:ext cx="0" cy="800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3"/>
          <p:cNvSpPr txBox="1"/>
          <p:nvPr/>
        </p:nvSpPr>
        <p:spPr>
          <a:xfrm>
            <a:off x="6177525" y="4603225"/>
            <a:ext cx="12405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Control of Independent variable </a:t>
            </a:r>
            <a:r>
              <a:rPr lang="es" sz="1200" b="1">
                <a:solidFill>
                  <a:srgbClr val="005493"/>
                </a:solidFill>
              </a:rPr>
              <a:t>o</a:t>
            </a:r>
            <a:endParaRPr sz="1200" b="1">
              <a:solidFill>
                <a:srgbClr val="005493"/>
              </a:solidFill>
            </a:endParaRPr>
          </a:p>
        </p:txBody>
      </p:sp>
      <p:cxnSp>
        <p:nvCxnSpPr>
          <p:cNvPr id="91" name="Google Shape;91;p13"/>
          <p:cNvCxnSpPr/>
          <p:nvPr/>
        </p:nvCxnSpPr>
        <p:spPr>
          <a:xfrm flipH="1">
            <a:off x="7001170" y="4911475"/>
            <a:ext cx="102000" cy="58500"/>
          </a:xfrm>
          <a:prstGeom prst="straightConnector1">
            <a:avLst/>
          </a:prstGeom>
          <a:noFill/>
          <a:ln w="19050" cap="flat" cmpd="sng">
            <a:solidFill>
              <a:srgbClr val="00549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" name="Google Shape;92;p13"/>
          <p:cNvSpPr txBox="1"/>
          <p:nvPr/>
        </p:nvSpPr>
        <p:spPr>
          <a:xfrm>
            <a:off x="5786325" y="5115325"/>
            <a:ext cx="8529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Groups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6714825" y="5125850"/>
            <a:ext cx="1457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Representativeness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299175" y="5914400"/>
            <a:ext cx="10353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b="1">
                <a:solidFill>
                  <a:srgbClr val="005493"/>
                </a:solidFill>
              </a:rPr>
              <a:t>Sample</a:t>
            </a:r>
            <a:endParaRPr sz="1000" b="1">
              <a:solidFill>
                <a:srgbClr val="005493"/>
              </a:solidFill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4329125" y="885825"/>
            <a:ext cx="22554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&lt;&lt;Variables&gt;&gt;</a:t>
            </a:r>
            <a:endParaRPr sz="900"/>
          </a:p>
        </p:txBody>
      </p:sp>
      <p:sp>
        <p:nvSpPr>
          <p:cNvPr id="96" name="Google Shape;96;p13"/>
          <p:cNvSpPr txBox="1"/>
          <p:nvPr/>
        </p:nvSpPr>
        <p:spPr>
          <a:xfrm>
            <a:off x="4462125" y="1718375"/>
            <a:ext cx="2028900" cy="87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&lt;&lt;Research Question&gt;&gt;</a:t>
            </a:r>
            <a:endParaRPr sz="900"/>
          </a:p>
        </p:txBody>
      </p:sp>
      <p:sp>
        <p:nvSpPr>
          <p:cNvPr id="97" name="Google Shape;97;p13"/>
          <p:cNvSpPr txBox="1"/>
          <p:nvPr/>
        </p:nvSpPr>
        <p:spPr>
          <a:xfrm>
            <a:off x="2261625" y="2543075"/>
            <a:ext cx="2028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&lt;&lt;Data Gathering&gt;&gt;</a:t>
            </a:r>
            <a:endParaRPr sz="900"/>
          </a:p>
        </p:txBody>
      </p:sp>
      <p:sp>
        <p:nvSpPr>
          <p:cNvPr id="98" name="Google Shape;98;p13"/>
          <p:cNvSpPr txBox="1"/>
          <p:nvPr/>
        </p:nvSpPr>
        <p:spPr>
          <a:xfrm>
            <a:off x="6637175" y="2495450"/>
            <a:ext cx="2028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/>
              <a:t>&lt;&lt;Process Support&gt;&gt;</a:t>
            </a:r>
            <a:endParaRPr sz="900"/>
          </a:p>
        </p:txBody>
      </p:sp>
      <p:sp>
        <p:nvSpPr>
          <p:cNvPr id="99" name="Google Shape;99;p13"/>
          <p:cNvSpPr txBox="1"/>
          <p:nvPr/>
        </p:nvSpPr>
        <p:spPr>
          <a:xfrm>
            <a:off x="3362100" y="4749213"/>
            <a:ext cx="1457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Exploratory/Descriptive 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3489750" y="5497738"/>
            <a:ext cx="12405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&lt;&lt;# of groups&gt;&gt;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5823375" y="6055925"/>
            <a:ext cx="19716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&lt;&lt;Sample&gt;&gt;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5592525" y="5445088"/>
            <a:ext cx="12405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No control group 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756450" y="5445088"/>
            <a:ext cx="12405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Desirable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3370288" y="6246263"/>
            <a:ext cx="1457700" cy="3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chemeClr val="dk1"/>
                </a:solidFill>
              </a:rPr>
              <a:t>&lt;&lt;Data Analysis&gt;&gt;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4446075" y="4098025"/>
            <a:ext cx="19716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900">
                <a:solidFill>
                  <a:srgbClr val="FFFFFF"/>
                </a:solidFill>
              </a:rPr>
              <a:t>&lt;&lt;Phenomenon under study&gt;&gt;</a:t>
            </a:r>
            <a:endParaRPr sz="900">
              <a:solidFill>
                <a:srgbClr val="FFFFFF"/>
              </a:solidFill>
            </a:endParaRPr>
          </a:p>
        </p:txBody>
      </p:sp>
      <p:cxnSp>
        <p:nvCxnSpPr>
          <p:cNvPr id="106" name="Google Shape;106;p13"/>
          <p:cNvCxnSpPr>
            <a:stCxn id="107" idx="3"/>
          </p:cNvCxnSpPr>
          <p:nvPr/>
        </p:nvCxnSpPr>
        <p:spPr>
          <a:xfrm>
            <a:off x="4948550" y="3596700"/>
            <a:ext cx="1191300" cy="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" name="Google Shape;108;p13"/>
          <p:cNvCxnSpPr/>
          <p:nvPr/>
        </p:nvCxnSpPr>
        <p:spPr>
          <a:xfrm rot="10800000" flipH="1">
            <a:off x="4775575" y="3592044"/>
            <a:ext cx="156600" cy="900"/>
          </a:xfrm>
          <a:prstGeom prst="straightConnector1">
            <a:avLst/>
          </a:prstGeom>
          <a:noFill/>
          <a:ln w="76200" cap="flat" cmpd="sng">
            <a:solidFill>
              <a:srgbClr val="E6913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3"/>
          <p:cNvSpPr/>
          <p:nvPr/>
        </p:nvSpPr>
        <p:spPr>
          <a:xfrm>
            <a:off x="4846550" y="3471150"/>
            <a:ext cx="102000" cy="251100"/>
          </a:xfrm>
          <a:prstGeom prst="flowChartAlternateProcess">
            <a:avLst/>
          </a:prstGeom>
          <a:solidFill>
            <a:srgbClr val="9999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9" name="Google Shape;109;p13"/>
          <p:cNvCxnSpPr/>
          <p:nvPr/>
        </p:nvCxnSpPr>
        <p:spPr>
          <a:xfrm rot="10800000" flipH="1">
            <a:off x="4889950" y="3114775"/>
            <a:ext cx="1249800" cy="300"/>
          </a:xfrm>
          <a:prstGeom prst="straightConnector1">
            <a:avLst/>
          </a:prstGeom>
          <a:noFill/>
          <a:ln w="76200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3"/>
          <p:cNvCxnSpPr/>
          <p:nvPr/>
        </p:nvCxnSpPr>
        <p:spPr>
          <a:xfrm>
            <a:off x="4775575" y="3111044"/>
            <a:ext cx="108300" cy="3900"/>
          </a:xfrm>
          <a:prstGeom prst="straightConnector1">
            <a:avLst/>
          </a:prstGeom>
          <a:noFill/>
          <a:ln w="76200" cap="flat" cmpd="sng">
            <a:solidFill>
              <a:srgbClr val="9FC5E8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" name="Google Shape;111;p13"/>
          <p:cNvSpPr/>
          <p:nvPr/>
        </p:nvSpPr>
        <p:spPr>
          <a:xfrm>
            <a:off x="4812609" y="2989250"/>
            <a:ext cx="102000" cy="251100"/>
          </a:xfrm>
          <a:prstGeom prst="flowChartAlternateProcess">
            <a:avLst/>
          </a:prstGeom>
          <a:solidFill>
            <a:srgbClr val="999999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 flipV="1">
            <a:off x="3670249" y="2239995"/>
            <a:ext cx="1798998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33" name="Shape 33"/>
          <p:cNvSpPr/>
          <p:nvPr/>
        </p:nvSpPr>
        <p:spPr>
          <a:xfrm rot="10800000" flipH="1">
            <a:off x="3474010" y="2973393"/>
            <a:ext cx="2195981" cy="2087585"/>
          </a:xfrm>
          <a:prstGeom prst="pentagon">
            <a:avLst/>
          </a:prstGeom>
          <a:solidFill>
            <a:srgbClr val="51A7F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34" name="Shape 34"/>
          <p:cNvSpPr/>
          <p:nvPr/>
        </p:nvSpPr>
        <p:spPr>
          <a:xfrm>
            <a:off x="3993678" y="4247765"/>
            <a:ext cx="1165153" cy="34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0">
              <a:defRPr sz="1800"/>
            </a:pPr>
            <a:r>
              <a:rPr sz="1107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Phenomenon </a:t>
            </a:r>
          </a:p>
          <a:p>
            <a:pPr lvl="0">
              <a:defRPr sz="1800"/>
            </a:pPr>
            <a:r>
              <a:rPr sz="1107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under study</a:t>
            </a:r>
          </a:p>
        </p:txBody>
      </p:sp>
      <p:grpSp>
        <p:nvGrpSpPr>
          <p:cNvPr id="38" name="Group 38"/>
          <p:cNvGrpSpPr/>
          <p:nvPr/>
        </p:nvGrpSpPr>
        <p:grpSpPr>
          <a:xfrm rot="10800000" flipH="1">
            <a:off x="4085937" y="3729988"/>
            <a:ext cx="980635" cy="102324"/>
            <a:chOff x="0" y="87800"/>
            <a:chExt cx="1859574" cy="194035"/>
          </a:xfrm>
        </p:grpSpPr>
        <p:sp>
          <p:nvSpPr>
            <p:cNvPr id="35" name="Shape 35"/>
            <p:cNvSpPr/>
            <p:nvPr/>
          </p:nvSpPr>
          <p:spPr>
            <a:xfrm>
              <a:off x="0" y="87800"/>
              <a:ext cx="1859575" cy="194036"/>
            </a:xfrm>
            <a:prstGeom prst="roundRect">
              <a:avLst>
                <a:gd name="adj" fmla="val 21793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36" name="Shape 36"/>
            <p:cNvSpPr/>
            <p:nvPr/>
          </p:nvSpPr>
          <p:spPr>
            <a:xfrm>
              <a:off x="82310" y="140099"/>
              <a:ext cx="1694955" cy="92861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37" name="Shape 37"/>
            <p:cNvSpPr/>
            <p:nvPr/>
          </p:nvSpPr>
          <p:spPr>
            <a:xfrm>
              <a:off x="82309" y="186529"/>
              <a:ext cx="1121139" cy="1"/>
            </a:xfrm>
            <a:prstGeom prst="line">
              <a:avLst/>
            </a:pr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1687"/>
            </a:p>
          </p:txBody>
        </p:sp>
      </p:grpSp>
      <p:grpSp>
        <p:nvGrpSpPr>
          <p:cNvPr id="42" name="Group 42"/>
          <p:cNvGrpSpPr/>
          <p:nvPr/>
        </p:nvGrpSpPr>
        <p:grpSpPr>
          <a:xfrm rot="10800000" flipH="1">
            <a:off x="4081716" y="3232734"/>
            <a:ext cx="980635" cy="102324"/>
            <a:chOff x="0" y="105386"/>
            <a:chExt cx="1859574" cy="194035"/>
          </a:xfrm>
        </p:grpSpPr>
        <p:sp>
          <p:nvSpPr>
            <p:cNvPr id="39" name="Shape 39"/>
            <p:cNvSpPr/>
            <p:nvPr/>
          </p:nvSpPr>
          <p:spPr>
            <a:xfrm>
              <a:off x="0" y="105386"/>
              <a:ext cx="1859575" cy="194037"/>
            </a:xfrm>
            <a:prstGeom prst="roundRect">
              <a:avLst>
                <a:gd name="adj" fmla="val 21793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40" name="Shape 40"/>
            <p:cNvSpPr/>
            <p:nvPr/>
          </p:nvSpPr>
          <p:spPr>
            <a:xfrm>
              <a:off x="82310" y="157685"/>
              <a:ext cx="1694955" cy="92861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41" name="Shape 41"/>
            <p:cNvSpPr/>
            <p:nvPr/>
          </p:nvSpPr>
          <p:spPr>
            <a:xfrm>
              <a:off x="82310" y="204115"/>
              <a:ext cx="1130795" cy="1"/>
            </a:xfrm>
            <a:prstGeom prst="line">
              <a:avLst/>
            </a:prstGeom>
            <a:noFill/>
            <a:ln w="25400" cap="flat">
              <a:solidFill>
                <a:srgbClr val="70BF41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1687"/>
            </a:p>
          </p:txBody>
        </p:sp>
      </p:grpSp>
      <p:sp>
        <p:nvSpPr>
          <p:cNvPr id="43" name="Shape 43"/>
          <p:cNvSpPr/>
          <p:nvPr/>
        </p:nvSpPr>
        <p:spPr>
          <a:xfrm>
            <a:off x="4344658" y="3453201"/>
            <a:ext cx="451646" cy="18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6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844"/>
              <a:t>Causality</a:t>
            </a:r>
          </a:p>
        </p:txBody>
      </p:sp>
      <p:sp>
        <p:nvSpPr>
          <p:cNvPr id="44" name="Shape 44"/>
          <p:cNvSpPr/>
          <p:nvPr/>
        </p:nvSpPr>
        <p:spPr>
          <a:xfrm>
            <a:off x="4107062" y="2992615"/>
            <a:ext cx="964607" cy="18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6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844"/>
              <a:t>Control of  Variance</a:t>
            </a:r>
          </a:p>
        </p:txBody>
      </p:sp>
      <p:sp>
        <p:nvSpPr>
          <p:cNvPr id="45" name="Shape 45"/>
          <p:cNvSpPr/>
          <p:nvPr/>
        </p:nvSpPr>
        <p:spPr>
          <a:xfrm>
            <a:off x="3657988" y="3901608"/>
            <a:ext cx="427601" cy="15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2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33"/>
              <a:t>Descriptive</a:t>
            </a:r>
          </a:p>
        </p:txBody>
      </p:sp>
      <p:sp>
        <p:nvSpPr>
          <p:cNvPr id="46" name="Shape 46"/>
          <p:cNvSpPr/>
          <p:nvPr/>
        </p:nvSpPr>
        <p:spPr>
          <a:xfrm>
            <a:off x="5038147" y="3902858"/>
            <a:ext cx="483706" cy="15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2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33"/>
              <a:t>Experimental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3778590" y="3397433"/>
            <a:ext cx="196176" cy="362519"/>
            <a:chOff x="0" y="-13520"/>
            <a:chExt cx="372006" cy="687441"/>
          </a:xfrm>
        </p:grpSpPr>
        <p:sp>
          <p:nvSpPr>
            <p:cNvPr id="47" name="Shape 47"/>
            <p:cNvSpPr/>
            <p:nvPr/>
          </p:nvSpPr>
          <p:spPr>
            <a:xfrm rot="10800000" flipH="1">
              <a:off x="0" y="80170"/>
              <a:ext cx="372006" cy="373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48" name="Shape 48"/>
            <p:cNvSpPr/>
            <p:nvPr/>
          </p:nvSpPr>
          <p:spPr>
            <a:xfrm rot="10800000" flipH="1">
              <a:off x="54884" y="-13520"/>
              <a:ext cx="260658" cy="687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sz="38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004"/>
                <a:t>-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179800" y="3363946"/>
            <a:ext cx="204783" cy="362519"/>
            <a:chOff x="3902" y="-13520"/>
            <a:chExt cx="388327" cy="687440"/>
          </a:xfrm>
        </p:grpSpPr>
        <p:sp>
          <p:nvSpPr>
            <p:cNvPr id="50" name="Shape 50"/>
            <p:cNvSpPr/>
            <p:nvPr/>
          </p:nvSpPr>
          <p:spPr>
            <a:xfrm rot="10800000" flipH="1">
              <a:off x="13543" y="143670"/>
              <a:ext cx="372006" cy="373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51" name="Shape 51"/>
            <p:cNvSpPr/>
            <p:nvPr/>
          </p:nvSpPr>
          <p:spPr>
            <a:xfrm rot="10800000" flipH="1">
              <a:off x="3902" y="-13520"/>
              <a:ext cx="388327" cy="687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sz="38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004"/>
                <a:t>+</a:t>
              </a:r>
            </a:p>
          </p:txBody>
        </p:sp>
      </p:grpSp>
      <p:sp>
        <p:nvSpPr>
          <p:cNvPr id="53" name="Shape 53"/>
          <p:cNvSpPr/>
          <p:nvPr/>
        </p:nvSpPr>
        <p:spPr>
          <a:xfrm rot="12943029" flipH="1">
            <a:off x="2263325" y="4512746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4" name="Shape 54"/>
          <p:cNvSpPr/>
          <p:nvPr/>
        </p:nvSpPr>
        <p:spPr>
          <a:xfrm rot="12943029" flipH="1">
            <a:off x="4560293" y="4512746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5" name="Shape 55"/>
          <p:cNvSpPr/>
          <p:nvPr/>
        </p:nvSpPr>
        <p:spPr>
          <a:xfrm rot="12943029" flipH="1">
            <a:off x="5245860" y="2353243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6" name="Shape 56"/>
          <p:cNvSpPr/>
          <p:nvPr/>
        </p:nvSpPr>
        <p:spPr>
          <a:xfrm rot="12943029" flipH="1">
            <a:off x="1575855" y="2351343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7" name="Shape 57"/>
          <p:cNvSpPr/>
          <p:nvPr/>
        </p:nvSpPr>
        <p:spPr>
          <a:xfrm rot="12943029" flipH="1">
            <a:off x="3411809" y="1021714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8" name="Shape 58"/>
          <p:cNvSpPr/>
          <p:nvPr/>
        </p:nvSpPr>
        <p:spPr>
          <a:xfrm>
            <a:off x="4119543" y="2260819"/>
            <a:ext cx="843180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Research Question</a:t>
            </a:r>
          </a:p>
        </p:txBody>
      </p:sp>
      <p:sp>
        <p:nvSpPr>
          <p:cNvPr id="59" name="Shape 59"/>
          <p:cNvSpPr/>
          <p:nvPr/>
        </p:nvSpPr>
        <p:spPr>
          <a:xfrm rot="21600000">
            <a:off x="4224085" y="1438151"/>
            <a:ext cx="679232" cy="146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800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sz="949"/>
              <a:t>Variables</a:t>
            </a:r>
          </a:p>
        </p:txBody>
      </p:sp>
      <p:sp>
        <p:nvSpPr>
          <p:cNvPr id="60" name="Shape 60"/>
          <p:cNvSpPr/>
          <p:nvPr/>
        </p:nvSpPr>
        <p:spPr>
          <a:xfrm>
            <a:off x="6021167" y="2630846"/>
            <a:ext cx="721351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Process Support</a:t>
            </a:r>
          </a:p>
        </p:txBody>
      </p:sp>
      <p:sp>
        <p:nvSpPr>
          <p:cNvPr id="61" name="Shape 61"/>
          <p:cNvSpPr/>
          <p:nvPr/>
        </p:nvSpPr>
        <p:spPr>
          <a:xfrm>
            <a:off x="5139764" y="5779054"/>
            <a:ext cx="1165153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Sample</a:t>
            </a:r>
          </a:p>
        </p:txBody>
      </p:sp>
      <p:sp>
        <p:nvSpPr>
          <p:cNvPr id="62" name="Shape 62"/>
          <p:cNvSpPr/>
          <p:nvPr/>
        </p:nvSpPr>
        <p:spPr>
          <a:xfrm>
            <a:off x="3222178" y="5779054"/>
            <a:ext cx="352661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Analysis</a:t>
            </a:r>
          </a:p>
        </p:txBody>
      </p:sp>
      <p:sp>
        <p:nvSpPr>
          <p:cNvPr id="63" name="Shape 63"/>
          <p:cNvSpPr/>
          <p:nvPr/>
        </p:nvSpPr>
        <p:spPr>
          <a:xfrm>
            <a:off x="2033117" y="2703597"/>
            <a:ext cx="1409572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Data gathering methods</a:t>
            </a:r>
          </a:p>
        </p:txBody>
      </p:sp>
      <p:sp>
        <p:nvSpPr>
          <p:cNvPr id="64" name="Shape 64"/>
          <p:cNvSpPr/>
          <p:nvPr/>
        </p:nvSpPr>
        <p:spPr>
          <a:xfrm>
            <a:off x="3292538" y="4483346"/>
            <a:ext cx="163506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Type</a:t>
            </a:r>
          </a:p>
        </p:txBody>
      </p:sp>
      <p:sp>
        <p:nvSpPr>
          <p:cNvPr id="65" name="Shape 65"/>
          <p:cNvSpPr/>
          <p:nvPr/>
        </p:nvSpPr>
        <p:spPr>
          <a:xfrm>
            <a:off x="2329072" y="5134062"/>
            <a:ext cx="2192601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66" name="Shape 66"/>
          <p:cNvSpPr/>
          <p:nvPr/>
        </p:nvSpPr>
        <p:spPr>
          <a:xfrm>
            <a:off x="2525873" y="5742429"/>
            <a:ext cx="1798998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67" name="Shape 67"/>
          <p:cNvSpPr/>
          <p:nvPr/>
        </p:nvSpPr>
        <p:spPr>
          <a:xfrm>
            <a:off x="2938054" y="5166456"/>
            <a:ext cx="974638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# of groups</a:t>
            </a:r>
          </a:p>
        </p:txBody>
      </p:sp>
      <p:sp>
        <p:nvSpPr>
          <p:cNvPr id="68" name="Shape 68"/>
          <p:cNvSpPr/>
          <p:nvPr/>
        </p:nvSpPr>
        <p:spPr>
          <a:xfrm>
            <a:off x="4626040" y="5124309"/>
            <a:ext cx="2192601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69" name="Shape 69"/>
          <p:cNvSpPr/>
          <p:nvPr/>
        </p:nvSpPr>
        <p:spPr>
          <a:xfrm>
            <a:off x="4822842" y="5739277"/>
            <a:ext cx="1798998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70" name="Shape 70"/>
          <p:cNvSpPr/>
          <p:nvPr/>
        </p:nvSpPr>
        <p:spPr>
          <a:xfrm>
            <a:off x="4826965" y="5165891"/>
            <a:ext cx="746064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Groups</a:t>
            </a:r>
          </a:p>
        </p:txBody>
      </p:sp>
      <p:sp>
        <p:nvSpPr>
          <p:cNvPr id="71" name="Shape 71"/>
          <p:cNvSpPr/>
          <p:nvPr/>
        </p:nvSpPr>
        <p:spPr>
          <a:xfrm>
            <a:off x="5255546" y="4600198"/>
            <a:ext cx="933589" cy="19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Control of Independent variable</a:t>
            </a:r>
          </a:p>
        </p:txBody>
      </p:sp>
      <p:sp>
        <p:nvSpPr>
          <p:cNvPr id="72" name="Shape 72"/>
          <p:cNvSpPr/>
          <p:nvPr/>
        </p:nvSpPr>
        <p:spPr>
          <a:xfrm flipV="1">
            <a:off x="5726463" y="5122432"/>
            <a:ext cx="1" cy="628733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73" name="Shape 73"/>
          <p:cNvSpPr/>
          <p:nvPr/>
        </p:nvSpPr>
        <p:spPr>
          <a:xfrm>
            <a:off x="5714881" y="5158830"/>
            <a:ext cx="980636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Representativeness</a:t>
            </a:r>
          </a:p>
        </p:txBody>
      </p:sp>
      <p:sp>
        <p:nvSpPr>
          <p:cNvPr id="74" name="Shape 74"/>
          <p:cNvSpPr/>
          <p:nvPr/>
        </p:nvSpPr>
        <p:spPr>
          <a:xfrm>
            <a:off x="3569218" y="447537"/>
            <a:ext cx="1984117" cy="248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2400" b="1"/>
            </a:lvl1pPr>
          </a:lstStyle>
          <a:p>
            <a:pPr lvl="0">
              <a:defRPr sz="1800" b="0"/>
            </a:pPr>
            <a:r>
              <a:rPr lang="en-US" sz="1266" dirty="0">
                <a:solidFill>
                  <a:srgbClr val="042B3B"/>
                </a:solidFill>
              </a:rPr>
              <a:t>Quasi-experimental </a:t>
            </a:r>
            <a:r>
              <a:rPr sz="1266" dirty="0">
                <a:solidFill>
                  <a:srgbClr val="042B3B"/>
                </a:solidFill>
              </a:rPr>
              <a:t>design</a:t>
            </a:r>
          </a:p>
        </p:txBody>
      </p:sp>
      <p:sp>
        <p:nvSpPr>
          <p:cNvPr id="75" name="Shape 75"/>
          <p:cNvSpPr/>
          <p:nvPr/>
        </p:nvSpPr>
        <p:spPr>
          <a:xfrm>
            <a:off x="4105040" y="1737686"/>
            <a:ext cx="942429" cy="200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800"/>
            </a:lvl1pPr>
          </a:lstStyle>
          <a:p>
            <a:pPr lvl="0"/>
            <a:r>
              <a:rPr sz="949" dirty="0"/>
              <a:t>IV              </a:t>
            </a:r>
            <a:r>
              <a:rPr lang="en-US" sz="949" dirty="0"/>
              <a:t>   </a:t>
            </a:r>
            <a:r>
              <a:rPr sz="949" dirty="0"/>
              <a:t>DV</a:t>
            </a:r>
          </a:p>
        </p:txBody>
      </p:sp>
      <p:sp>
        <p:nvSpPr>
          <p:cNvPr id="76" name="Shape 76"/>
          <p:cNvSpPr/>
          <p:nvPr/>
        </p:nvSpPr>
        <p:spPr>
          <a:xfrm>
            <a:off x="4538514" y="3353250"/>
            <a:ext cx="54166" cy="15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defTabSz="241082">
              <a:defRPr sz="1800"/>
            </a:pPr>
            <a:endParaRPr sz="633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7" name="Shape 77"/>
          <p:cNvSpPr/>
          <p:nvPr/>
        </p:nvSpPr>
        <p:spPr>
          <a:xfrm>
            <a:off x="3900269" y="1075393"/>
            <a:ext cx="1351970" cy="146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800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 algn="ctr">
              <a:defRPr>
                <a:solidFill>
                  <a:srgbClr val="000000"/>
                </a:solidFill>
              </a:defRPr>
            </a:pPr>
            <a:r>
              <a:rPr sz="949" dirty="0"/>
              <a:t>Hypothesis </a:t>
            </a:r>
          </a:p>
        </p:txBody>
      </p:sp>
      <p:sp>
        <p:nvSpPr>
          <p:cNvPr id="78" name="Shape 78"/>
          <p:cNvSpPr/>
          <p:nvPr/>
        </p:nvSpPr>
        <p:spPr>
          <a:xfrm>
            <a:off x="3869588" y="2474057"/>
            <a:ext cx="1408538" cy="2812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400"/>
            </a:lvl1pPr>
          </a:lstStyle>
          <a:p>
            <a:pPr lvl="0">
              <a:defRPr sz="1800"/>
            </a:pPr>
            <a:r>
              <a:rPr sz="738"/>
              <a:t>Which is the influence of an IV in a DV?</a:t>
            </a:r>
          </a:p>
        </p:txBody>
      </p:sp>
      <p:sp>
        <p:nvSpPr>
          <p:cNvPr id="79" name="Shape 79"/>
          <p:cNvSpPr/>
          <p:nvPr/>
        </p:nvSpPr>
        <p:spPr>
          <a:xfrm>
            <a:off x="1923823" y="3099669"/>
            <a:ext cx="605534" cy="37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marL="130214" indent="-130214">
              <a:buSzPct val="75000"/>
              <a:buChar char="•"/>
              <a:defRPr sz="1800"/>
            </a:pPr>
            <a:r>
              <a:rPr sz="1055"/>
              <a:t>Survey</a:t>
            </a:r>
          </a:p>
          <a:p>
            <a:pPr marL="130214" indent="-130214">
              <a:buSzPct val="75000"/>
              <a:buChar char="•"/>
              <a:defRPr sz="1800"/>
            </a:pPr>
            <a:r>
              <a:rPr sz="1055"/>
              <a:t>Scales</a:t>
            </a:r>
          </a:p>
        </p:txBody>
      </p:sp>
      <p:sp>
        <p:nvSpPr>
          <p:cNvPr id="80" name="Shape 80"/>
          <p:cNvSpPr/>
          <p:nvPr/>
        </p:nvSpPr>
        <p:spPr>
          <a:xfrm>
            <a:off x="5630625" y="2927130"/>
            <a:ext cx="1634662" cy="5411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marL="130214" indent="-130214">
              <a:buSzPct val="75000"/>
              <a:buChar char="•"/>
              <a:defRPr sz="1800"/>
            </a:pPr>
            <a:r>
              <a:rPr sz="1055"/>
              <a:t>SPSS</a:t>
            </a:r>
          </a:p>
          <a:p>
            <a:pPr marL="130214" indent="-130214">
              <a:buSzPct val="75000"/>
              <a:buChar char="•"/>
              <a:defRPr sz="1800"/>
            </a:pPr>
            <a:r>
              <a:rPr sz="1055"/>
              <a:t>Web-based survey tools</a:t>
            </a:r>
          </a:p>
          <a:p>
            <a:pPr marL="130214" indent="-130214">
              <a:buSzPct val="75000"/>
              <a:buChar char="•"/>
              <a:defRPr sz="1800"/>
            </a:pPr>
            <a:r>
              <a:rPr sz="1055"/>
              <a:t>EZAnalyze </a:t>
            </a:r>
          </a:p>
        </p:txBody>
      </p:sp>
      <p:sp>
        <p:nvSpPr>
          <p:cNvPr id="81" name="Shape 81"/>
          <p:cNvSpPr/>
          <p:nvPr/>
        </p:nvSpPr>
        <p:spPr>
          <a:xfrm>
            <a:off x="4724481" y="3241451"/>
            <a:ext cx="26790" cy="102324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  <a:effectLst>
            <a:outerShdw blurRad="355600" rotWithShape="0">
              <a:srgbClr val="FFFFFF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82" name="Shape 82"/>
          <p:cNvSpPr/>
          <p:nvPr/>
        </p:nvSpPr>
        <p:spPr>
          <a:xfrm>
            <a:off x="4704389" y="3725350"/>
            <a:ext cx="26790" cy="102324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  <a:effectLst>
            <a:outerShdw blurRad="355600" rotWithShape="0">
              <a:srgbClr val="FFFFFF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83" name="dropped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167215" y="3091536"/>
            <a:ext cx="237027" cy="194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dropped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91987" y="6037592"/>
            <a:ext cx="289239" cy="18145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dropped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013453" y="5934420"/>
            <a:ext cx="256957" cy="222699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hape 86"/>
          <p:cNvSpPr/>
          <p:nvPr/>
        </p:nvSpPr>
        <p:spPr>
          <a:xfrm>
            <a:off x="3129169" y="4784648"/>
            <a:ext cx="589504" cy="17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Explanatory</a:t>
            </a:r>
          </a:p>
        </p:txBody>
      </p:sp>
      <p:sp>
        <p:nvSpPr>
          <p:cNvPr id="87" name="Shape 87"/>
          <p:cNvSpPr/>
          <p:nvPr/>
        </p:nvSpPr>
        <p:spPr>
          <a:xfrm>
            <a:off x="4905122" y="5307648"/>
            <a:ext cx="668052" cy="29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/>
            </a:pPr>
            <a:r>
              <a:rPr sz="791"/>
              <a:t>Treatment &amp;</a:t>
            </a:r>
          </a:p>
          <a:p>
            <a:pPr lvl="0">
              <a:defRPr sz="1800"/>
            </a:pPr>
            <a:r>
              <a:rPr sz="791"/>
              <a:t>control Group</a:t>
            </a:r>
          </a:p>
        </p:txBody>
      </p:sp>
      <p:sp>
        <p:nvSpPr>
          <p:cNvPr id="88" name="Shape 88"/>
          <p:cNvSpPr/>
          <p:nvPr/>
        </p:nvSpPr>
        <p:spPr>
          <a:xfrm>
            <a:off x="5841036" y="5372624"/>
            <a:ext cx="719348" cy="17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Natural groups</a:t>
            </a:r>
          </a:p>
        </p:txBody>
      </p:sp>
      <p:sp>
        <p:nvSpPr>
          <p:cNvPr id="89" name="Shape 89"/>
          <p:cNvSpPr/>
          <p:nvPr/>
        </p:nvSpPr>
        <p:spPr>
          <a:xfrm>
            <a:off x="5296693" y="6048561"/>
            <a:ext cx="1165153" cy="159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300"/>
            </a:lvl1pPr>
          </a:lstStyle>
          <a:p>
            <a:pPr lvl="0">
              <a:defRPr sz="1800"/>
            </a:pPr>
            <a:r>
              <a:rPr sz="685"/>
              <a:t>Not at random</a:t>
            </a:r>
          </a:p>
        </p:txBody>
      </p:sp>
      <p:sp>
        <p:nvSpPr>
          <p:cNvPr id="90" name="Shape 90"/>
          <p:cNvSpPr/>
          <p:nvPr/>
        </p:nvSpPr>
        <p:spPr>
          <a:xfrm>
            <a:off x="3089438" y="5350345"/>
            <a:ext cx="655228" cy="17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2 or + groups</a:t>
            </a:r>
          </a:p>
        </p:txBody>
      </p:sp>
      <p:sp>
        <p:nvSpPr>
          <p:cNvPr id="91" name="Shape 91"/>
          <p:cNvSpPr/>
          <p:nvPr/>
        </p:nvSpPr>
        <p:spPr>
          <a:xfrm>
            <a:off x="3055897" y="5985523"/>
            <a:ext cx="1165153" cy="370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300"/>
            </a:lvl1pPr>
          </a:lstStyle>
          <a:p>
            <a:pPr lvl="0">
              <a:defRPr sz="1800"/>
            </a:pPr>
            <a:r>
              <a:rPr sz="685"/>
              <a:t>It depends on the # of IV and DV, and the relation between groups</a:t>
            </a:r>
          </a:p>
        </p:txBody>
      </p:sp>
      <p:sp>
        <p:nvSpPr>
          <p:cNvPr id="92" name="Shape 92"/>
          <p:cNvSpPr/>
          <p:nvPr/>
        </p:nvSpPr>
        <p:spPr>
          <a:xfrm>
            <a:off x="4398091" y="1208192"/>
            <a:ext cx="325009" cy="159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300"/>
            </a:lvl1pPr>
          </a:lstStyle>
          <a:p>
            <a:pPr lvl="0">
              <a:defRPr sz="1800"/>
            </a:pPr>
            <a:r>
              <a:rPr sz="685"/>
              <a:t>Causal</a:t>
            </a:r>
          </a:p>
        </p:txBody>
      </p:sp>
      <p:sp>
        <p:nvSpPr>
          <p:cNvPr id="93" name="Shape 93"/>
          <p:cNvSpPr/>
          <p:nvPr/>
        </p:nvSpPr>
        <p:spPr>
          <a:xfrm>
            <a:off x="4366363" y="1843115"/>
            <a:ext cx="406388" cy="1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94" name="Shape 94"/>
          <p:cNvSpPr/>
          <p:nvPr/>
        </p:nvSpPr>
        <p:spPr>
          <a:xfrm>
            <a:off x="4941239" y="4801865"/>
            <a:ext cx="1562204" cy="29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Manipulation of IV with control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59BF8F-BDF8-4049-9464-F29F15C77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503" y="99164"/>
            <a:ext cx="1968996" cy="55587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/>
        </p:nvSpPr>
        <p:spPr>
          <a:xfrm flipV="1">
            <a:off x="3670249" y="2239995"/>
            <a:ext cx="1798998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33" name="Shape 33"/>
          <p:cNvSpPr/>
          <p:nvPr/>
        </p:nvSpPr>
        <p:spPr>
          <a:xfrm rot="10800000" flipH="1">
            <a:off x="3474010" y="2973393"/>
            <a:ext cx="2195981" cy="2087585"/>
          </a:xfrm>
          <a:prstGeom prst="pentagon">
            <a:avLst/>
          </a:prstGeom>
          <a:solidFill>
            <a:srgbClr val="51A7F9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34" name="Shape 34"/>
          <p:cNvSpPr/>
          <p:nvPr/>
        </p:nvSpPr>
        <p:spPr>
          <a:xfrm>
            <a:off x="3993678" y="4247765"/>
            <a:ext cx="1165153" cy="3407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lvl="0">
              <a:defRPr sz="1800"/>
            </a:pPr>
            <a:r>
              <a:rPr sz="1107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Phenomenon </a:t>
            </a:r>
          </a:p>
          <a:p>
            <a:pPr lvl="0">
              <a:defRPr sz="1800"/>
            </a:pPr>
            <a:r>
              <a:rPr sz="1107" b="1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rPr>
              <a:t>under study</a:t>
            </a:r>
          </a:p>
        </p:txBody>
      </p:sp>
      <p:grpSp>
        <p:nvGrpSpPr>
          <p:cNvPr id="38" name="Group 38"/>
          <p:cNvGrpSpPr/>
          <p:nvPr/>
        </p:nvGrpSpPr>
        <p:grpSpPr>
          <a:xfrm rot="10800000" flipH="1">
            <a:off x="4085936" y="3729988"/>
            <a:ext cx="980636" cy="102324"/>
            <a:chOff x="0" y="87800"/>
            <a:chExt cx="1859575" cy="194036"/>
          </a:xfrm>
        </p:grpSpPr>
        <p:sp>
          <p:nvSpPr>
            <p:cNvPr id="35" name="Shape 35"/>
            <p:cNvSpPr/>
            <p:nvPr/>
          </p:nvSpPr>
          <p:spPr>
            <a:xfrm>
              <a:off x="0" y="87800"/>
              <a:ext cx="1859575" cy="194036"/>
            </a:xfrm>
            <a:prstGeom prst="roundRect">
              <a:avLst>
                <a:gd name="adj" fmla="val 21793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36" name="Shape 36"/>
            <p:cNvSpPr/>
            <p:nvPr/>
          </p:nvSpPr>
          <p:spPr>
            <a:xfrm>
              <a:off x="82310" y="140099"/>
              <a:ext cx="1694955" cy="92861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37" name="Shape 37"/>
            <p:cNvSpPr/>
            <p:nvPr/>
          </p:nvSpPr>
          <p:spPr>
            <a:xfrm>
              <a:off x="82309" y="186529"/>
              <a:ext cx="1670817" cy="10030"/>
            </a:xfrm>
            <a:prstGeom prst="line">
              <a:avLst/>
            </a:pr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1687"/>
            </a:p>
          </p:txBody>
        </p:sp>
      </p:grpSp>
      <p:grpSp>
        <p:nvGrpSpPr>
          <p:cNvPr id="42" name="Group 42"/>
          <p:cNvGrpSpPr/>
          <p:nvPr/>
        </p:nvGrpSpPr>
        <p:grpSpPr>
          <a:xfrm rot="10800000" flipH="1">
            <a:off x="4081715" y="3232733"/>
            <a:ext cx="980636" cy="102325"/>
            <a:chOff x="0" y="105386"/>
            <a:chExt cx="1859575" cy="194037"/>
          </a:xfrm>
        </p:grpSpPr>
        <p:sp>
          <p:nvSpPr>
            <p:cNvPr id="39" name="Shape 39"/>
            <p:cNvSpPr/>
            <p:nvPr/>
          </p:nvSpPr>
          <p:spPr>
            <a:xfrm>
              <a:off x="0" y="105386"/>
              <a:ext cx="1859575" cy="194037"/>
            </a:xfrm>
            <a:prstGeom prst="roundRect">
              <a:avLst>
                <a:gd name="adj" fmla="val 21793"/>
              </a:avLst>
            </a:prstGeom>
            <a:blipFill rotWithShape="1">
              <a:blip r:embed="rId2"/>
              <a:srcRect/>
              <a:tile tx="0" ty="0" sx="100000" sy="100000" flip="none" algn="tl"/>
            </a:blip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40" name="Shape 40"/>
            <p:cNvSpPr/>
            <p:nvPr/>
          </p:nvSpPr>
          <p:spPr>
            <a:xfrm>
              <a:off x="82310" y="157685"/>
              <a:ext cx="1694955" cy="92861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41" name="Shape 41"/>
            <p:cNvSpPr/>
            <p:nvPr/>
          </p:nvSpPr>
          <p:spPr>
            <a:xfrm flipV="1">
              <a:off x="82309" y="198414"/>
              <a:ext cx="1685202" cy="5702"/>
            </a:xfrm>
            <a:prstGeom prst="line">
              <a:avLst/>
            </a:prstGeom>
            <a:noFill/>
            <a:ln w="25400" cap="flat">
              <a:solidFill>
                <a:srgbClr val="70BF41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/>
              </a:pPr>
              <a:endParaRPr sz="1687"/>
            </a:p>
          </p:txBody>
        </p:sp>
      </p:grpSp>
      <p:sp>
        <p:nvSpPr>
          <p:cNvPr id="43" name="Shape 43"/>
          <p:cNvSpPr/>
          <p:nvPr/>
        </p:nvSpPr>
        <p:spPr>
          <a:xfrm>
            <a:off x="4344658" y="3453201"/>
            <a:ext cx="451646" cy="18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6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844"/>
              <a:t>Causality</a:t>
            </a:r>
          </a:p>
        </p:txBody>
      </p:sp>
      <p:sp>
        <p:nvSpPr>
          <p:cNvPr id="44" name="Shape 44"/>
          <p:cNvSpPr/>
          <p:nvPr/>
        </p:nvSpPr>
        <p:spPr>
          <a:xfrm>
            <a:off x="4107062" y="2992615"/>
            <a:ext cx="964607" cy="184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6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844"/>
              <a:t>Control of  Variance</a:t>
            </a:r>
          </a:p>
        </p:txBody>
      </p:sp>
      <p:sp>
        <p:nvSpPr>
          <p:cNvPr id="45" name="Shape 45"/>
          <p:cNvSpPr/>
          <p:nvPr/>
        </p:nvSpPr>
        <p:spPr>
          <a:xfrm>
            <a:off x="3657988" y="3901608"/>
            <a:ext cx="427601" cy="15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2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33"/>
              <a:t>Descriptive</a:t>
            </a:r>
          </a:p>
        </p:txBody>
      </p:sp>
      <p:sp>
        <p:nvSpPr>
          <p:cNvPr id="46" name="Shape 46"/>
          <p:cNvSpPr/>
          <p:nvPr/>
        </p:nvSpPr>
        <p:spPr>
          <a:xfrm>
            <a:off x="5038147" y="3902858"/>
            <a:ext cx="483706" cy="15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200">
                <a:solidFill>
                  <a:srgbClr val="53585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633"/>
              <a:t>Experimental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3778590" y="3397433"/>
            <a:ext cx="196176" cy="362519"/>
            <a:chOff x="0" y="-13520"/>
            <a:chExt cx="372006" cy="687441"/>
          </a:xfrm>
        </p:grpSpPr>
        <p:sp>
          <p:nvSpPr>
            <p:cNvPr id="47" name="Shape 47"/>
            <p:cNvSpPr/>
            <p:nvPr/>
          </p:nvSpPr>
          <p:spPr>
            <a:xfrm rot="10800000" flipH="1">
              <a:off x="0" y="80170"/>
              <a:ext cx="372006" cy="373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48" name="Shape 48"/>
            <p:cNvSpPr/>
            <p:nvPr/>
          </p:nvSpPr>
          <p:spPr>
            <a:xfrm rot="10800000" flipH="1">
              <a:off x="54884" y="-13520"/>
              <a:ext cx="260658" cy="687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sz="38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004"/>
                <a:t>-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179800" y="3363946"/>
            <a:ext cx="204783" cy="362519"/>
            <a:chOff x="3902" y="-13520"/>
            <a:chExt cx="388327" cy="687440"/>
          </a:xfrm>
        </p:grpSpPr>
        <p:sp>
          <p:nvSpPr>
            <p:cNvPr id="50" name="Shape 50"/>
            <p:cNvSpPr/>
            <p:nvPr/>
          </p:nvSpPr>
          <p:spPr>
            <a:xfrm rot="10800000" flipH="1">
              <a:off x="13543" y="143670"/>
              <a:ext cx="372006" cy="3730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79" h="19679" extrusionOk="0">
                  <a:moveTo>
                    <a:pt x="16796" y="2882"/>
                  </a:moveTo>
                  <a:cubicBezTo>
                    <a:pt x="20639" y="6724"/>
                    <a:pt x="20639" y="12954"/>
                    <a:pt x="16796" y="16796"/>
                  </a:cubicBezTo>
                  <a:cubicBezTo>
                    <a:pt x="12954" y="20639"/>
                    <a:pt x="6724" y="20639"/>
                    <a:pt x="2882" y="16796"/>
                  </a:cubicBezTo>
                  <a:cubicBezTo>
                    <a:pt x="-961" y="12954"/>
                    <a:pt x="-961" y="6724"/>
                    <a:pt x="2882" y="2882"/>
                  </a:cubicBezTo>
                  <a:cubicBezTo>
                    <a:pt x="6724" y="-961"/>
                    <a:pt x="12954" y="-961"/>
                    <a:pt x="16796" y="2882"/>
                  </a:cubicBezTo>
                  <a:close/>
                </a:path>
              </a:pathLst>
            </a:cu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1687"/>
            </a:p>
          </p:txBody>
        </p:sp>
        <p:sp>
          <p:nvSpPr>
            <p:cNvPr id="51" name="Shape 51"/>
            <p:cNvSpPr/>
            <p:nvPr/>
          </p:nvSpPr>
          <p:spPr>
            <a:xfrm rot="10800000" flipH="1">
              <a:off x="3902" y="-13520"/>
              <a:ext cx="388327" cy="687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26789" tIns="26789" rIns="26789" bIns="26789" numCol="1" anchor="ctr">
              <a:spAutoFit/>
            </a:bodyPr>
            <a:lstStyle>
              <a:lvl1pPr>
                <a:defRPr sz="3800">
                  <a:solidFill>
                    <a:srgbClr val="FFFFFF"/>
                  </a:solidFill>
                  <a:latin typeface="Gill Sans"/>
                  <a:ea typeface="Gill Sans"/>
                  <a:cs typeface="Gill Sans"/>
                  <a:sym typeface="Gill Sans"/>
                </a:defRPr>
              </a:lvl1pPr>
            </a:lstStyle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sz="2004"/>
                <a:t>+</a:t>
              </a:r>
            </a:p>
          </p:txBody>
        </p:sp>
      </p:grpSp>
      <p:sp>
        <p:nvSpPr>
          <p:cNvPr id="53" name="Shape 53"/>
          <p:cNvSpPr/>
          <p:nvPr/>
        </p:nvSpPr>
        <p:spPr>
          <a:xfrm rot="12943029" flipH="1">
            <a:off x="2263325" y="4512746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4" name="Shape 54"/>
          <p:cNvSpPr/>
          <p:nvPr/>
        </p:nvSpPr>
        <p:spPr>
          <a:xfrm rot="12943029" flipH="1">
            <a:off x="4560293" y="4512746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5" name="Shape 55"/>
          <p:cNvSpPr/>
          <p:nvPr/>
        </p:nvSpPr>
        <p:spPr>
          <a:xfrm rot="12943029" flipH="1">
            <a:off x="5245860" y="2353243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6" name="Shape 56"/>
          <p:cNvSpPr/>
          <p:nvPr/>
        </p:nvSpPr>
        <p:spPr>
          <a:xfrm rot="12943029" flipH="1">
            <a:off x="1575855" y="2351343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7" name="Shape 57"/>
          <p:cNvSpPr/>
          <p:nvPr/>
        </p:nvSpPr>
        <p:spPr>
          <a:xfrm rot="12943029" flipH="1">
            <a:off x="3411809" y="1021714"/>
            <a:ext cx="2198819" cy="2090953"/>
          </a:xfrm>
          <a:prstGeom prst="pentagon">
            <a:avLst/>
          </a:prstGeom>
          <a:ln w="25400">
            <a:solidFill>
              <a:srgbClr val="C0C0C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58" name="Shape 58"/>
          <p:cNvSpPr/>
          <p:nvPr/>
        </p:nvSpPr>
        <p:spPr>
          <a:xfrm>
            <a:off x="4119543" y="2260819"/>
            <a:ext cx="843180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Research Question</a:t>
            </a:r>
          </a:p>
        </p:txBody>
      </p:sp>
      <p:sp>
        <p:nvSpPr>
          <p:cNvPr id="59" name="Shape 59"/>
          <p:cNvSpPr/>
          <p:nvPr/>
        </p:nvSpPr>
        <p:spPr>
          <a:xfrm rot="21600000">
            <a:off x="4224085" y="1438151"/>
            <a:ext cx="679232" cy="146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800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sz="949"/>
              <a:t>Variables</a:t>
            </a:r>
          </a:p>
        </p:txBody>
      </p:sp>
      <p:sp>
        <p:nvSpPr>
          <p:cNvPr id="60" name="Shape 60"/>
          <p:cNvSpPr/>
          <p:nvPr/>
        </p:nvSpPr>
        <p:spPr>
          <a:xfrm>
            <a:off x="6021167" y="2630846"/>
            <a:ext cx="721351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Process Support</a:t>
            </a:r>
          </a:p>
        </p:txBody>
      </p:sp>
      <p:sp>
        <p:nvSpPr>
          <p:cNvPr id="61" name="Shape 61"/>
          <p:cNvSpPr/>
          <p:nvPr/>
        </p:nvSpPr>
        <p:spPr>
          <a:xfrm>
            <a:off x="5139764" y="5779054"/>
            <a:ext cx="1165153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Sample</a:t>
            </a:r>
          </a:p>
        </p:txBody>
      </p:sp>
      <p:sp>
        <p:nvSpPr>
          <p:cNvPr id="62" name="Shape 62"/>
          <p:cNvSpPr/>
          <p:nvPr/>
        </p:nvSpPr>
        <p:spPr>
          <a:xfrm>
            <a:off x="3222178" y="5779054"/>
            <a:ext cx="352661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Analysis</a:t>
            </a:r>
          </a:p>
        </p:txBody>
      </p:sp>
      <p:sp>
        <p:nvSpPr>
          <p:cNvPr id="63" name="Shape 63"/>
          <p:cNvSpPr/>
          <p:nvPr/>
        </p:nvSpPr>
        <p:spPr>
          <a:xfrm>
            <a:off x="2033117" y="2703597"/>
            <a:ext cx="1409572" cy="129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/>
            </a:pPr>
            <a:r>
              <a:rPr sz="844"/>
              <a:t>Data gathering methods</a:t>
            </a:r>
          </a:p>
        </p:txBody>
      </p:sp>
      <p:sp>
        <p:nvSpPr>
          <p:cNvPr id="64" name="Shape 64"/>
          <p:cNvSpPr/>
          <p:nvPr/>
        </p:nvSpPr>
        <p:spPr>
          <a:xfrm>
            <a:off x="3292538" y="4483346"/>
            <a:ext cx="163506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Type</a:t>
            </a:r>
          </a:p>
        </p:txBody>
      </p:sp>
      <p:sp>
        <p:nvSpPr>
          <p:cNvPr id="65" name="Shape 65"/>
          <p:cNvSpPr/>
          <p:nvPr/>
        </p:nvSpPr>
        <p:spPr>
          <a:xfrm>
            <a:off x="2329072" y="5134062"/>
            <a:ext cx="2192601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66" name="Shape 66"/>
          <p:cNvSpPr/>
          <p:nvPr/>
        </p:nvSpPr>
        <p:spPr>
          <a:xfrm>
            <a:off x="2525873" y="5742429"/>
            <a:ext cx="1798998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67" name="Shape 67"/>
          <p:cNvSpPr/>
          <p:nvPr/>
        </p:nvSpPr>
        <p:spPr>
          <a:xfrm>
            <a:off x="2938054" y="5166456"/>
            <a:ext cx="974638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# of groups</a:t>
            </a:r>
          </a:p>
        </p:txBody>
      </p:sp>
      <p:sp>
        <p:nvSpPr>
          <p:cNvPr id="68" name="Shape 68"/>
          <p:cNvSpPr/>
          <p:nvPr/>
        </p:nvSpPr>
        <p:spPr>
          <a:xfrm>
            <a:off x="4626040" y="5124309"/>
            <a:ext cx="2192601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69" name="Shape 69"/>
          <p:cNvSpPr/>
          <p:nvPr/>
        </p:nvSpPr>
        <p:spPr>
          <a:xfrm>
            <a:off x="4822842" y="5739277"/>
            <a:ext cx="1798998" cy="1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70" name="Shape 70"/>
          <p:cNvSpPr/>
          <p:nvPr/>
        </p:nvSpPr>
        <p:spPr>
          <a:xfrm>
            <a:off x="4826965" y="5165891"/>
            <a:ext cx="746064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Groups</a:t>
            </a:r>
          </a:p>
        </p:txBody>
      </p:sp>
      <p:sp>
        <p:nvSpPr>
          <p:cNvPr id="71" name="Shape 71"/>
          <p:cNvSpPr/>
          <p:nvPr/>
        </p:nvSpPr>
        <p:spPr>
          <a:xfrm>
            <a:off x="5255546" y="4600198"/>
            <a:ext cx="933589" cy="194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Control of Independent variable</a:t>
            </a:r>
          </a:p>
        </p:txBody>
      </p:sp>
      <p:sp>
        <p:nvSpPr>
          <p:cNvPr id="72" name="Shape 72"/>
          <p:cNvSpPr/>
          <p:nvPr/>
        </p:nvSpPr>
        <p:spPr>
          <a:xfrm flipV="1">
            <a:off x="5726463" y="5122432"/>
            <a:ext cx="1" cy="628733"/>
          </a:xfrm>
          <a:prstGeom prst="line">
            <a:avLst/>
          </a:prstGeom>
          <a:ln w="50800">
            <a:solidFill>
              <a:srgbClr val="C0C0C0"/>
            </a:solidFill>
            <a:miter lim="400000"/>
          </a:ln>
        </p:spPr>
        <p:txBody>
          <a:bodyPr lIns="0" tIns="0" rIns="0" bIns="0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73" name="Shape 73"/>
          <p:cNvSpPr/>
          <p:nvPr/>
        </p:nvSpPr>
        <p:spPr>
          <a:xfrm>
            <a:off x="5714881" y="5158830"/>
            <a:ext cx="980636" cy="97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 b="1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sz="633"/>
              <a:t>Representativeness</a:t>
            </a:r>
          </a:p>
        </p:txBody>
      </p:sp>
      <p:sp>
        <p:nvSpPr>
          <p:cNvPr id="74" name="Shape 74"/>
          <p:cNvSpPr/>
          <p:nvPr/>
        </p:nvSpPr>
        <p:spPr>
          <a:xfrm>
            <a:off x="3819014" y="447537"/>
            <a:ext cx="1496804" cy="2488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2400" b="1"/>
            </a:lvl1pPr>
          </a:lstStyle>
          <a:p>
            <a:pPr lvl="0">
              <a:defRPr sz="1800" b="0"/>
            </a:pPr>
            <a:r>
              <a:rPr lang="en-US" sz="949" dirty="0">
                <a:solidFill>
                  <a:srgbClr val="042B3B"/>
                </a:solidFill>
              </a:rPr>
              <a:t>E</a:t>
            </a:r>
            <a:r>
              <a:rPr lang="en-US" sz="1266" dirty="0">
                <a:solidFill>
                  <a:srgbClr val="042B3B"/>
                </a:solidFill>
              </a:rPr>
              <a:t>xperimental </a:t>
            </a:r>
            <a:r>
              <a:rPr sz="1266" dirty="0">
                <a:solidFill>
                  <a:srgbClr val="042B3B"/>
                </a:solidFill>
              </a:rPr>
              <a:t>design</a:t>
            </a:r>
          </a:p>
        </p:txBody>
      </p:sp>
      <p:sp>
        <p:nvSpPr>
          <p:cNvPr id="75" name="Shape 75"/>
          <p:cNvSpPr/>
          <p:nvPr/>
        </p:nvSpPr>
        <p:spPr>
          <a:xfrm>
            <a:off x="4105040" y="1737686"/>
            <a:ext cx="942429" cy="200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800"/>
            </a:lvl1pPr>
          </a:lstStyle>
          <a:p>
            <a:pPr lvl="0"/>
            <a:r>
              <a:rPr sz="949"/>
              <a:t>IV              DV</a:t>
            </a:r>
          </a:p>
        </p:txBody>
      </p:sp>
      <p:sp>
        <p:nvSpPr>
          <p:cNvPr id="76" name="Shape 76"/>
          <p:cNvSpPr/>
          <p:nvPr/>
        </p:nvSpPr>
        <p:spPr>
          <a:xfrm>
            <a:off x="4538514" y="3353250"/>
            <a:ext cx="54166" cy="151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defTabSz="241082">
              <a:defRPr sz="1800"/>
            </a:pPr>
            <a:endParaRPr sz="633"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77" name="Shape 77"/>
          <p:cNvSpPr/>
          <p:nvPr/>
        </p:nvSpPr>
        <p:spPr>
          <a:xfrm>
            <a:off x="3900269" y="1075393"/>
            <a:ext cx="1351970" cy="146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800">
                <a:solidFill>
                  <a:srgbClr val="00549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 sz="949"/>
              <a:t>Hypothesis </a:t>
            </a:r>
          </a:p>
        </p:txBody>
      </p:sp>
      <p:sp>
        <p:nvSpPr>
          <p:cNvPr id="78" name="Shape 78"/>
          <p:cNvSpPr/>
          <p:nvPr/>
        </p:nvSpPr>
        <p:spPr>
          <a:xfrm>
            <a:off x="3869588" y="2530835"/>
            <a:ext cx="1408538" cy="1676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400"/>
            </a:lvl1pPr>
          </a:lstStyle>
          <a:p>
            <a:pPr lvl="0">
              <a:defRPr sz="1800"/>
            </a:pPr>
            <a:r>
              <a:rPr lang="en-US" sz="738" dirty="0"/>
              <a:t>Text</a:t>
            </a:r>
            <a:endParaRPr sz="738" dirty="0"/>
          </a:p>
        </p:txBody>
      </p:sp>
      <p:sp>
        <p:nvSpPr>
          <p:cNvPr id="79" name="Shape 79"/>
          <p:cNvSpPr/>
          <p:nvPr/>
        </p:nvSpPr>
        <p:spPr>
          <a:xfrm>
            <a:off x="2017770" y="3100547"/>
            <a:ext cx="401953" cy="37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marL="130214" indent="-130214">
              <a:buSzPct val="75000"/>
              <a:buChar char="•"/>
              <a:defRPr sz="1800"/>
            </a:pPr>
            <a:r>
              <a:rPr lang="en-US" sz="1055" dirty="0"/>
              <a:t>text</a:t>
            </a:r>
            <a:endParaRPr sz="1055" dirty="0"/>
          </a:p>
          <a:p>
            <a:pPr marL="130214" indent="-130214">
              <a:buSzPct val="75000"/>
              <a:buChar char="•"/>
              <a:defRPr sz="1800"/>
            </a:pPr>
            <a:r>
              <a:rPr lang="en-US" sz="1055" dirty="0"/>
              <a:t>text</a:t>
            </a:r>
            <a:endParaRPr sz="1055" dirty="0"/>
          </a:p>
        </p:txBody>
      </p:sp>
      <p:sp>
        <p:nvSpPr>
          <p:cNvPr id="80" name="Shape 80"/>
          <p:cNvSpPr/>
          <p:nvPr/>
        </p:nvSpPr>
        <p:spPr>
          <a:xfrm>
            <a:off x="5630625" y="3089482"/>
            <a:ext cx="401953" cy="216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marL="130214" indent="-130214">
              <a:buSzPct val="75000"/>
              <a:buChar char="•"/>
              <a:defRPr sz="1800"/>
            </a:pPr>
            <a:r>
              <a:rPr lang="en-US" sz="1055" dirty="0"/>
              <a:t>text</a:t>
            </a:r>
            <a:endParaRPr sz="1055" dirty="0"/>
          </a:p>
        </p:txBody>
      </p:sp>
      <p:sp>
        <p:nvSpPr>
          <p:cNvPr id="81" name="Shape 81"/>
          <p:cNvSpPr/>
          <p:nvPr/>
        </p:nvSpPr>
        <p:spPr>
          <a:xfrm>
            <a:off x="5013802" y="3241451"/>
            <a:ext cx="26790" cy="102324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  <a:effectLst>
            <a:outerShdw blurRad="355600" rotWithShape="0">
              <a:srgbClr val="FFFFFF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sp>
        <p:nvSpPr>
          <p:cNvPr id="82" name="Shape 82"/>
          <p:cNvSpPr/>
          <p:nvPr/>
        </p:nvSpPr>
        <p:spPr>
          <a:xfrm>
            <a:off x="4986663" y="3724124"/>
            <a:ext cx="26790" cy="102324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  <a:effectLst>
            <a:outerShdw blurRad="355600" rotWithShape="0">
              <a:srgbClr val="FFFFFF">
                <a:alpha val="75000"/>
              </a:srgbClr>
            </a:outerShdw>
          </a:effectLst>
        </p:spPr>
        <p:txBody>
          <a:bodyPr lIns="0" tIns="0" rIns="0" bIns="0" anchor="ctr"/>
          <a:lstStyle/>
          <a:p>
            <a:pPr lvl="0">
              <a:defRPr sz="3200">
                <a:solidFill>
                  <a:srgbClr val="FFFFFF"/>
                </a:solidFill>
              </a:defRPr>
            </a:pPr>
            <a:endParaRPr sz="1687"/>
          </a:p>
        </p:txBody>
      </p:sp>
      <p:pic>
        <p:nvPicPr>
          <p:cNvPr id="83" name="dropped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167215" y="3091536"/>
            <a:ext cx="237027" cy="194464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dropped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2791987" y="6037592"/>
            <a:ext cx="289239" cy="181454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dropped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5013453" y="5934420"/>
            <a:ext cx="256957" cy="222699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Shape 86"/>
          <p:cNvSpPr/>
          <p:nvPr/>
        </p:nvSpPr>
        <p:spPr>
          <a:xfrm>
            <a:off x="3316747" y="4784648"/>
            <a:ext cx="219211" cy="17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lang="en-US" sz="791" dirty="0"/>
              <a:t>text</a:t>
            </a:r>
            <a:endParaRPr sz="791" dirty="0"/>
          </a:p>
        </p:txBody>
      </p:sp>
      <p:sp>
        <p:nvSpPr>
          <p:cNvPr id="87" name="Shape 87"/>
          <p:cNvSpPr/>
          <p:nvPr/>
        </p:nvSpPr>
        <p:spPr>
          <a:xfrm>
            <a:off x="4905122" y="5307648"/>
            <a:ext cx="668052" cy="29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lvl="0">
              <a:defRPr sz="1800"/>
            </a:pPr>
            <a:r>
              <a:rPr sz="791" dirty="0"/>
              <a:t>Treatment &amp;</a:t>
            </a:r>
          </a:p>
          <a:p>
            <a:pPr lvl="0">
              <a:defRPr sz="1800"/>
            </a:pPr>
            <a:r>
              <a:rPr sz="791" dirty="0"/>
              <a:t>control Group</a:t>
            </a:r>
          </a:p>
        </p:txBody>
      </p:sp>
      <p:sp>
        <p:nvSpPr>
          <p:cNvPr id="88" name="Shape 88"/>
          <p:cNvSpPr/>
          <p:nvPr/>
        </p:nvSpPr>
        <p:spPr>
          <a:xfrm>
            <a:off x="5841036" y="5372624"/>
            <a:ext cx="719348" cy="17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Natural groups</a:t>
            </a:r>
          </a:p>
        </p:txBody>
      </p:sp>
      <p:sp>
        <p:nvSpPr>
          <p:cNvPr id="89" name="Shape 89"/>
          <p:cNvSpPr/>
          <p:nvPr/>
        </p:nvSpPr>
        <p:spPr>
          <a:xfrm>
            <a:off x="5296693" y="5995855"/>
            <a:ext cx="1165153" cy="2649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300"/>
            </a:lvl1pPr>
          </a:lstStyle>
          <a:p>
            <a:pPr lvl="0">
              <a:defRPr sz="1800"/>
            </a:pPr>
            <a:r>
              <a:rPr lang="en-US" sz="685" dirty="0"/>
              <a:t>Groups assigned</a:t>
            </a:r>
          </a:p>
          <a:p>
            <a:pPr lvl="0">
              <a:defRPr sz="1800"/>
            </a:pPr>
            <a:r>
              <a:rPr sz="685" dirty="0"/>
              <a:t> at random</a:t>
            </a:r>
          </a:p>
        </p:txBody>
      </p:sp>
      <p:sp>
        <p:nvSpPr>
          <p:cNvPr id="90" name="Shape 90"/>
          <p:cNvSpPr/>
          <p:nvPr/>
        </p:nvSpPr>
        <p:spPr>
          <a:xfrm>
            <a:off x="3089438" y="5350345"/>
            <a:ext cx="655228" cy="17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2 or + groups</a:t>
            </a:r>
          </a:p>
        </p:txBody>
      </p:sp>
      <p:sp>
        <p:nvSpPr>
          <p:cNvPr id="91" name="Shape 91"/>
          <p:cNvSpPr/>
          <p:nvPr/>
        </p:nvSpPr>
        <p:spPr>
          <a:xfrm>
            <a:off x="3055897" y="5985523"/>
            <a:ext cx="1165153" cy="370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300"/>
            </a:lvl1pPr>
          </a:lstStyle>
          <a:p>
            <a:pPr lvl="0">
              <a:defRPr sz="1800"/>
            </a:pPr>
            <a:r>
              <a:rPr sz="685"/>
              <a:t>It depends on the # of IV and DV, and the relation between groups</a:t>
            </a:r>
          </a:p>
        </p:txBody>
      </p:sp>
      <p:sp>
        <p:nvSpPr>
          <p:cNvPr id="92" name="Shape 92"/>
          <p:cNvSpPr/>
          <p:nvPr/>
        </p:nvSpPr>
        <p:spPr>
          <a:xfrm>
            <a:off x="4398091" y="1208192"/>
            <a:ext cx="325009" cy="159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>
            <a:lvl1pPr>
              <a:defRPr sz="1300"/>
            </a:lvl1pPr>
          </a:lstStyle>
          <a:p>
            <a:pPr lvl="0">
              <a:defRPr sz="1800"/>
            </a:pPr>
            <a:r>
              <a:rPr sz="685"/>
              <a:t>Causal</a:t>
            </a:r>
          </a:p>
        </p:txBody>
      </p:sp>
      <p:sp>
        <p:nvSpPr>
          <p:cNvPr id="93" name="Shape 93"/>
          <p:cNvSpPr/>
          <p:nvPr/>
        </p:nvSpPr>
        <p:spPr>
          <a:xfrm>
            <a:off x="4366363" y="1843115"/>
            <a:ext cx="406388" cy="1"/>
          </a:xfrm>
          <a:prstGeom prst="line">
            <a:avLst/>
          </a:prstGeom>
          <a:ln w="25400">
            <a:solidFill/>
            <a:miter lim="400000"/>
            <a:tailEnd type="triangle"/>
          </a:ln>
        </p:spPr>
        <p:txBody>
          <a:bodyPr lIns="26789" tIns="26789" rIns="26789" bIns="26789" anchor="ctr"/>
          <a:lstStyle/>
          <a:p>
            <a:pPr lvl="0">
              <a:defRPr sz="3200"/>
            </a:pPr>
            <a:endParaRPr sz="1687"/>
          </a:p>
        </p:txBody>
      </p:sp>
      <p:sp>
        <p:nvSpPr>
          <p:cNvPr id="94" name="Shape 94"/>
          <p:cNvSpPr/>
          <p:nvPr/>
        </p:nvSpPr>
        <p:spPr>
          <a:xfrm>
            <a:off x="4941239" y="4801865"/>
            <a:ext cx="1562204" cy="29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>
            <a:lvl1pPr>
              <a:defRPr sz="1500"/>
            </a:lvl1pPr>
          </a:lstStyle>
          <a:p>
            <a:pPr lvl="0">
              <a:defRPr sz="1800"/>
            </a:pPr>
            <a:r>
              <a:rPr sz="791"/>
              <a:t>Manipulation of IV with control group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59BF8F-BDF8-4049-9464-F29F15C772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4503" y="99164"/>
            <a:ext cx="1968996" cy="555873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282</Words>
  <Application>Microsoft Macintosh PowerPoint</Application>
  <PresentationFormat>On-screen Show (4:3)</PresentationFormat>
  <Paragraphs>128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Gill Sans</vt:lpstr>
      <vt:lpstr>Helvetica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Jorrin Abellan</cp:lastModifiedBy>
  <cp:revision>3</cp:revision>
  <dcterms:modified xsi:type="dcterms:W3CDTF">2026-07-22T17:22:43Z</dcterms:modified>
</cp:coreProperties>
</file>