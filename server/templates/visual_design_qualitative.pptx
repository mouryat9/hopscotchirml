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0"/>
  </p:notesMasterIdLst>
  <p:sldIdLst>
    <p:sldId id="263" r:id="rId2"/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3A5F"/>
    <a:srgbClr val="6CBF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65"/>
  </p:normalViewPr>
  <p:slideViewPr>
    <p:cSldViewPr snapToGrid="0">
      <p:cViewPr varScale="1">
        <p:scale>
          <a:sx n="120" d="100"/>
          <a:sy n="120" d="100"/>
        </p:scale>
        <p:origin x="3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3a73c7542_1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3a73c7542_1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3a73c7542_1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3a73c7542_1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3a73c7542_1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3a73c7542_1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3a73c7542_1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3a73c7542_1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3a73c7542_1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3a73c7542_1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3a73c7542_1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3a73c7542_1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3a73c7542_1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3a73c7542_1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54;p13">
            <a:extLst>
              <a:ext uri="{FF2B5EF4-FFF2-40B4-BE49-F238E27FC236}">
                <a16:creationId xmlns:a16="http://schemas.microsoft.com/office/drawing/2014/main" id="{9702A5B4-63E4-6A95-47FE-CCDEFDA1CC40}"/>
              </a:ext>
            </a:extLst>
          </p:cNvPr>
          <p:cNvSpPr/>
          <p:nvPr/>
        </p:nvSpPr>
        <p:spPr>
          <a:xfrm>
            <a:off x="4349675" y="242050"/>
            <a:ext cx="2420400" cy="21138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FFFFF"/>
          </a:solidFill>
          <a:ln w="9525" cap="flat" cmpd="sng">
            <a:solidFill>
              <a:srgbClr val="02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55;p13">
            <a:extLst>
              <a:ext uri="{FF2B5EF4-FFF2-40B4-BE49-F238E27FC236}">
                <a16:creationId xmlns:a16="http://schemas.microsoft.com/office/drawing/2014/main" id="{E63DB309-5626-22C6-BAFF-390BE9EB21C2}"/>
              </a:ext>
            </a:extLst>
          </p:cNvPr>
          <p:cNvSpPr/>
          <p:nvPr/>
        </p:nvSpPr>
        <p:spPr>
          <a:xfrm>
            <a:off x="6309375" y="1314200"/>
            <a:ext cx="2420400" cy="21138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FFFFF"/>
          </a:solidFill>
          <a:ln w="9525" cap="flat" cmpd="sng">
            <a:solidFill>
              <a:srgbClr val="02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56;p13">
            <a:extLst>
              <a:ext uri="{FF2B5EF4-FFF2-40B4-BE49-F238E27FC236}">
                <a16:creationId xmlns:a16="http://schemas.microsoft.com/office/drawing/2014/main" id="{6FB0E550-E060-B82F-571A-4EA4B7C97487}"/>
              </a:ext>
            </a:extLst>
          </p:cNvPr>
          <p:cNvSpPr/>
          <p:nvPr/>
        </p:nvSpPr>
        <p:spPr>
          <a:xfrm>
            <a:off x="2379225" y="1314200"/>
            <a:ext cx="2420400" cy="21138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FFFFF"/>
          </a:solidFill>
          <a:ln w="9525" cap="flat" cmpd="sng">
            <a:solidFill>
              <a:srgbClr val="02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57;p13">
            <a:extLst>
              <a:ext uri="{FF2B5EF4-FFF2-40B4-BE49-F238E27FC236}">
                <a16:creationId xmlns:a16="http://schemas.microsoft.com/office/drawing/2014/main" id="{3D0B7EC1-3B02-24B8-5714-EBFB2028B223}"/>
              </a:ext>
            </a:extLst>
          </p:cNvPr>
          <p:cNvSpPr/>
          <p:nvPr/>
        </p:nvSpPr>
        <p:spPr>
          <a:xfrm>
            <a:off x="2379225" y="3507000"/>
            <a:ext cx="2420400" cy="21138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FFFFF"/>
          </a:solidFill>
          <a:ln w="22225" cap="flat" cmpd="sng">
            <a:solidFill>
              <a:srgbClr val="02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58;p13">
            <a:extLst>
              <a:ext uri="{FF2B5EF4-FFF2-40B4-BE49-F238E27FC236}">
                <a16:creationId xmlns:a16="http://schemas.microsoft.com/office/drawing/2014/main" id="{13E799C3-BC86-AD9C-8477-DB32F39DF4A6}"/>
              </a:ext>
            </a:extLst>
          </p:cNvPr>
          <p:cNvSpPr/>
          <p:nvPr/>
        </p:nvSpPr>
        <p:spPr>
          <a:xfrm>
            <a:off x="6309375" y="3507000"/>
            <a:ext cx="2420400" cy="21138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FFFFF"/>
          </a:solidFill>
          <a:ln w="9525" cap="flat" cmpd="sng">
            <a:solidFill>
              <a:srgbClr val="02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59;p13">
            <a:extLst>
              <a:ext uri="{FF2B5EF4-FFF2-40B4-BE49-F238E27FC236}">
                <a16:creationId xmlns:a16="http://schemas.microsoft.com/office/drawing/2014/main" id="{3AD1FB34-675A-50B6-3399-4F3CB4EADF0A}"/>
              </a:ext>
            </a:extLst>
          </p:cNvPr>
          <p:cNvSpPr/>
          <p:nvPr/>
        </p:nvSpPr>
        <p:spPr>
          <a:xfrm>
            <a:off x="4349675" y="4602500"/>
            <a:ext cx="2420400" cy="21138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EFEFEF"/>
          </a:solidFill>
          <a:ln w="28575" cap="flat" cmpd="sng">
            <a:solidFill>
              <a:srgbClr val="6CBF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" name="Google Shape;73;p13">
            <a:extLst>
              <a:ext uri="{FF2B5EF4-FFF2-40B4-BE49-F238E27FC236}">
                <a16:creationId xmlns:a16="http://schemas.microsoft.com/office/drawing/2014/main" id="{097EA141-671F-8D12-E727-9F2CBC20C043}"/>
              </a:ext>
            </a:extLst>
          </p:cNvPr>
          <p:cNvCxnSpPr>
            <a:stCxn id="9" idx="3"/>
            <a:endCxn id="9" idx="0"/>
          </p:cNvCxnSpPr>
          <p:nvPr/>
        </p:nvCxnSpPr>
        <p:spPr>
          <a:xfrm>
            <a:off x="4349675" y="5659400"/>
            <a:ext cx="2420400" cy="0"/>
          </a:xfrm>
          <a:prstGeom prst="straightConnector1">
            <a:avLst/>
          </a:prstGeom>
          <a:noFill/>
          <a:ln w="19050" cap="flat" cmpd="sng">
            <a:solidFill>
              <a:srgbClr val="6CBF4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Google Shape;60;p13">
            <a:extLst>
              <a:ext uri="{FF2B5EF4-FFF2-40B4-BE49-F238E27FC236}">
                <a16:creationId xmlns:a16="http://schemas.microsoft.com/office/drawing/2014/main" id="{974DED03-3CF3-092E-EA6A-4C64905AFD77}"/>
              </a:ext>
            </a:extLst>
          </p:cNvPr>
          <p:cNvSpPr/>
          <p:nvPr/>
        </p:nvSpPr>
        <p:spPr>
          <a:xfrm>
            <a:off x="4349675" y="2422275"/>
            <a:ext cx="2420400" cy="21138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6CBF47"/>
          </a:solidFill>
          <a:ln w="9525" cap="flat" cmpd="sng">
            <a:solidFill>
              <a:srgbClr val="02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98E1606-7B97-5981-D29B-2115F6429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85" y="5977880"/>
            <a:ext cx="3189767" cy="751272"/>
          </a:xfrm>
          <a:prstGeom prst="rect">
            <a:avLst/>
          </a:prstGeom>
        </p:spPr>
      </p:pic>
      <p:cxnSp>
        <p:nvCxnSpPr>
          <p:cNvPr id="15" name="Google Shape;94;p13">
            <a:extLst>
              <a:ext uri="{FF2B5EF4-FFF2-40B4-BE49-F238E27FC236}">
                <a16:creationId xmlns:a16="http://schemas.microsoft.com/office/drawing/2014/main" id="{3D81CE23-8C2A-A740-0AC8-01136547DDDA}"/>
              </a:ext>
            </a:extLst>
          </p:cNvPr>
          <p:cNvCxnSpPr/>
          <p:nvPr/>
        </p:nvCxnSpPr>
        <p:spPr>
          <a:xfrm>
            <a:off x="0" y="470031"/>
            <a:ext cx="2420400" cy="0"/>
          </a:xfrm>
          <a:prstGeom prst="straightConnector1">
            <a:avLst/>
          </a:prstGeom>
          <a:noFill/>
          <a:ln w="19050" cap="flat" cmpd="sng">
            <a:solidFill>
              <a:srgbClr val="023A5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Google Shape;74;p13">
            <a:extLst>
              <a:ext uri="{FF2B5EF4-FFF2-40B4-BE49-F238E27FC236}">
                <a16:creationId xmlns:a16="http://schemas.microsoft.com/office/drawing/2014/main" id="{0D9B9472-E5BF-06C3-73AD-02C3FB0AF3D1}"/>
              </a:ext>
            </a:extLst>
          </p:cNvPr>
          <p:cNvSpPr txBox="1"/>
          <p:nvPr/>
        </p:nvSpPr>
        <p:spPr>
          <a:xfrm>
            <a:off x="0" y="44131"/>
            <a:ext cx="31221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 dirty="0">
                <a:solidFill>
                  <a:srgbClr val="0B5394"/>
                </a:solidFill>
              </a:rPr>
              <a:t>Research Design Type</a:t>
            </a:r>
            <a:endParaRPr b="1" dirty="0">
              <a:solidFill>
                <a:srgbClr val="0B5394"/>
              </a:solidFill>
            </a:endParaRPr>
          </a:p>
        </p:txBody>
      </p:sp>
      <p:sp>
        <p:nvSpPr>
          <p:cNvPr id="17" name="Google Shape;81;p13">
            <a:extLst>
              <a:ext uri="{FF2B5EF4-FFF2-40B4-BE49-F238E27FC236}">
                <a16:creationId xmlns:a16="http://schemas.microsoft.com/office/drawing/2014/main" id="{0B36B8BC-A34D-F442-4A43-FB4E183285C5}"/>
              </a:ext>
            </a:extLst>
          </p:cNvPr>
          <p:cNvSpPr txBox="1"/>
          <p:nvPr/>
        </p:nvSpPr>
        <p:spPr>
          <a:xfrm>
            <a:off x="191385" y="972416"/>
            <a:ext cx="1938900" cy="45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 dirty="0"/>
              <a:t>&lt;&lt;Context&gt;&gt;</a:t>
            </a:r>
            <a:endParaRPr sz="900" dirty="0"/>
          </a:p>
        </p:txBody>
      </p:sp>
      <p:sp>
        <p:nvSpPr>
          <p:cNvPr id="18" name="Google Shape;83;p13">
            <a:extLst>
              <a:ext uri="{FF2B5EF4-FFF2-40B4-BE49-F238E27FC236}">
                <a16:creationId xmlns:a16="http://schemas.microsoft.com/office/drawing/2014/main" id="{42EA6712-1B9F-D53C-0F42-A78570BA506E}"/>
              </a:ext>
            </a:extLst>
          </p:cNvPr>
          <p:cNvSpPr txBox="1"/>
          <p:nvPr/>
        </p:nvSpPr>
        <p:spPr>
          <a:xfrm>
            <a:off x="-140328" y="585116"/>
            <a:ext cx="22869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rgbClr val="0B5394"/>
                </a:solidFill>
              </a:rPr>
              <a:t>Context of the Study</a:t>
            </a:r>
            <a:endParaRPr dirty="0">
              <a:solidFill>
                <a:srgbClr val="0B5394"/>
              </a:solidFill>
            </a:endParaRPr>
          </a:p>
        </p:txBody>
      </p:sp>
      <p:sp>
        <p:nvSpPr>
          <p:cNvPr id="20" name="Google Shape;77;p13">
            <a:extLst>
              <a:ext uri="{FF2B5EF4-FFF2-40B4-BE49-F238E27FC236}">
                <a16:creationId xmlns:a16="http://schemas.microsoft.com/office/drawing/2014/main" id="{89F9289A-FCB6-6E21-2F53-499C8AD4AFFA}"/>
              </a:ext>
            </a:extLst>
          </p:cNvPr>
          <p:cNvSpPr txBox="1"/>
          <p:nvPr/>
        </p:nvSpPr>
        <p:spPr>
          <a:xfrm>
            <a:off x="4882075" y="294769"/>
            <a:ext cx="13233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 dirty="0">
                <a:solidFill>
                  <a:srgbClr val="023A5F"/>
                </a:solidFill>
              </a:rPr>
              <a:t>Informants</a:t>
            </a:r>
            <a:endParaRPr b="1" dirty="0">
              <a:solidFill>
                <a:srgbClr val="023A5F"/>
              </a:solidFill>
            </a:endParaRPr>
          </a:p>
        </p:txBody>
      </p:sp>
      <p:sp>
        <p:nvSpPr>
          <p:cNvPr id="22" name="Google Shape;81;p13">
            <a:extLst>
              <a:ext uri="{FF2B5EF4-FFF2-40B4-BE49-F238E27FC236}">
                <a16:creationId xmlns:a16="http://schemas.microsoft.com/office/drawing/2014/main" id="{30926127-7BC5-2334-2E65-01CCBD028CBF}"/>
              </a:ext>
            </a:extLst>
          </p:cNvPr>
          <p:cNvSpPr txBox="1"/>
          <p:nvPr/>
        </p:nvSpPr>
        <p:spPr>
          <a:xfrm>
            <a:off x="2920600" y="1226350"/>
            <a:ext cx="13233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 dirty="0">
                <a:solidFill>
                  <a:srgbClr val="023A5F"/>
                </a:solidFill>
              </a:rPr>
              <a:t>Other documents</a:t>
            </a:r>
            <a:endParaRPr b="1" dirty="0">
              <a:solidFill>
                <a:srgbClr val="023A5F"/>
              </a:solidFill>
            </a:endParaRPr>
          </a:p>
        </p:txBody>
      </p:sp>
      <p:sp>
        <p:nvSpPr>
          <p:cNvPr id="24" name="Google Shape;83;p13">
            <a:extLst>
              <a:ext uri="{FF2B5EF4-FFF2-40B4-BE49-F238E27FC236}">
                <a16:creationId xmlns:a16="http://schemas.microsoft.com/office/drawing/2014/main" id="{3995266D-950C-5F41-C3A7-F19352C2347F}"/>
              </a:ext>
            </a:extLst>
          </p:cNvPr>
          <p:cNvSpPr txBox="1"/>
          <p:nvPr/>
        </p:nvSpPr>
        <p:spPr>
          <a:xfrm>
            <a:off x="6675175" y="1226350"/>
            <a:ext cx="17202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solidFill>
                  <a:srgbClr val="023A5F"/>
                </a:solidFill>
              </a:rPr>
              <a:t>Data Gathering Methods</a:t>
            </a:r>
            <a:endParaRPr b="1">
              <a:solidFill>
                <a:srgbClr val="023A5F"/>
              </a:solidFill>
            </a:endParaRPr>
          </a:p>
        </p:txBody>
      </p:sp>
      <p:sp>
        <p:nvSpPr>
          <p:cNvPr id="26" name="Google Shape;87;p13">
            <a:extLst>
              <a:ext uri="{FF2B5EF4-FFF2-40B4-BE49-F238E27FC236}">
                <a16:creationId xmlns:a16="http://schemas.microsoft.com/office/drawing/2014/main" id="{797EF7E5-FFEB-7031-2040-DDDAD262BBFA}"/>
              </a:ext>
            </a:extLst>
          </p:cNvPr>
          <p:cNvSpPr txBox="1"/>
          <p:nvPr/>
        </p:nvSpPr>
        <p:spPr>
          <a:xfrm>
            <a:off x="6675175" y="3491650"/>
            <a:ext cx="17202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 b="1">
                <a:solidFill>
                  <a:srgbClr val="023A5F"/>
                </a:solidFill>
              </a:rPr>
              <a:t>Process Support</a:t>
            </a:r>
            <a:endParaRPr sz="1300" b="1">
              <a:solidFill>
                <a:srgbClr val="023A5F"/>
              </a:solidFill>
            </a:endParaRPr>
          </a:p>
        </p:txBody>
      </p:sp>
      <p:sp>
        <p:nvSpPr>
          <p:cNvPr id="27" name="Google Shape;78;p13">
            <a:extLst>
              <a:ext uri="{FF2B5EF4-FFF2-40B4-BE49-F238E27FC236}">
                <a16:creationId xmlns:a16="http://schemas.microsoft.com/office/drawing/2014/main" id="{8595FB0A-DD21-8FEE-4FC7-F00413D7F31E}"/>
              </a:ext>
            </a:extLst>
          </p:cNvPr>
          <p:cNvSpPr txBox="1"/>
          <p:nvPr/>
        </p:nvSpPr>
        <p:spPr>
          <a:xfrm>
            <a:off x="4637668" y="2585952"/>
            <a:ext cx="1855565" cy="1684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1200" b="1" dirty="0">
                <a:solidFill>
                  <a:srgbClr val="FFFFFF"/>
                </a:solidFill>
              </a:rPr>
              <a:t>Case, aspect to improve, culture to be studied, narrative portraits, phenomenon under study, Phenomenon that has not been covered in the literature</a:t>
            </a:r>
          </a:p>
          <a:p>
            <a:pPr lvl="0" algn="ctr"/>
            <a:endParaRPr lang="en-US" sz="1200" b="1" dirty="0">
              <a:solidFill>
                <a:srgbClr val="FFFFFF"/>
              </a:solidFill>
            </a:endParaRPr>
          </a:p>
        </p:txBody>
      </p:sp>
      <p:sp>
        <p:nvSpPr>
          <p:cNvPr id="28" name="Google Shape;89;p13">
            <a:extLst>
              <a:ext uri="{FF2B5EF4-FFF2-40B4-BE49-F238E27FC236}">
                <a16:creationId xmlns:a16="http://schemas.microsoft.com/office/drawing/2014/main" id="{84E7B155-A4BC-F7FF-9592-F499859AF620}"/>
              </a:ext>
            </a:extLst>
          </p:cNvPr>
          <p:cNvSpPr txBox="1"/>
          <p:nvPr/>
        </p:nvSpPr>
        <p:spPr>
          <a:xfrm>
            <a:off x="4649006" y="4615075"/>
            <a:ext cx="1860009" cy="1120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900" b="1" dirty="0">
                <a:solidFill>
                  <a:srgbClr val="0B5394"/>
                </a:solidFill>
              </a:rPr>
              <a:t>Issues, practical question, ethnographic question, narrative question, phenomenological question, </a:t>
            </a:r>
            <a:r>
              <a:rPr lang="en-US" sz="900" b="1" dirty="0" err="1">
                <a:solidFill>
                  <a:srgbClr val="0B5394"/>
                </a:solidFill>
              </a:rPr>
              <a:t>phenomenographic</a:t>
            </a:r>
            <a:r>
              <a:rPr lang="en-US" sz="900" b="1" dirty="0">
                <a:solidFill>
                  <a:srgbClr val="0B5394"/>
                </a:solidFill>
              </a:rPr>
              <a:t> question, grounded theory question</a:t>
            </a:r>
          </a:p>
          <a:p>
            <a:pPr lvl="0" algn="ctr"/>
            <a:endParaRPr lang="en-US" sz="900" b="1" dirty="0">
              <a:solidFill>
                <a:srgbClr val="0B5394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1" dirty="0">
              <a:solidFill>
                <a:srgbClr val="0B5394"/>
              </a:solidFill>
            </a:endParaRPr>
          </a:p>
        </p:txBody>
      </p:sp>
      <p:sp>
        <p:nvSpPr>
          <p:cNvPr id="29" name="Google Shape;91;p13">
            <a:extLst>
              <a:ext uri="{FF2B5EF4-FFF2-40B4-BE49-F238E27FC236}">
                <a16:creationId xmlns:a16="http://schemas.microsoft.com/office/drawing/2014/main" id="{3AF8C9CD-CABA-8F22-4B93-C02D24442134}"/>
              </a:ext>
            </a:extLst>
          </p:cNvPr>
          <p:cNvSpPr txBox="1"/>
          <p:nvPr/>
        </p:nvSpPr>
        <p:spPr>
          <a:xfrm>
            <a:off x="4882075" y="5560800"/>
            <a:ext cx="13233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 dirty="0">
                <a:solidFill>
                  <a:srgbClr val="0B5394"/>
                </a:solidFill>
              </a:rPr>
              <a:t>Topics</a:t>
            </a:r>
            <a:endParaRPr b="1" dirty="0">
              <a:solidFill>
                <a:srgbClr val="0B5394"/>
              </a:solidFill>
            </a:endParaRPr>
          </a:p>
        </p:txBody>
      </p:sp>
      <p:sp>
        <p:nvSpPr>
          <p:cNvPr id="30" name="Google Shape;85;p13">
            <a:extLst>
              <a:ext uri="{FF2B5EF4-FFF2-40B4-BE49-F238E27FC236}">
                <a16:creationId xmlns:a16="http://schemas.microsoft.com/office/drawing/2014/main" id="{BC218466-65E1-D1A1-646A-CAEC4AD93C93}"/>
              </a:ext>
            </a:extLst>
          </p:cNvPr>
          <p:cNvSpPr txBox="1"/>
          <p:nvPr/>
        </p:nvSpPr>
        <p:spPr>
          <a:xfrm>
            <a:off x="2920600" y="3491650"/>
            <a:ext cx="13233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 dirty="0">
                <a:solidFill>
                  <a:srgbClr val="0B5394"/>
                </a:solidFill>
              </a:rPr>
              <a:t>Strategies</a:t>
            </a:r>
            <a:endParaRPr b="1" dirty="0">
              <a:solidFill>
                <a:srgbClr val="0B5394"/>
              </a:solidFill>
            </a:endParaRPr>
          </a:p>
        </p:txBody>
      </p:sp>
      <p:sp>
        <p:nvSpPr>
          <p:cNvPr id="31" name="Google Shape;73;p13">
            <a:extLst>
              <a:ext uri="{FF2B5EF4-FFF2-40B4-BE49-F238E27FC236}">
                <a16:creationId xmlns:a16="http://schemas.microsoft.com/office/drawing/2014/main" id="{08555921-F5BB-8D36-E5FD-96A46679957C}"/>
              </a:ext>
            </a:extLst>
          </p:cNvPr>
          <p:cNvSpPr txBox="1"/>
          <p:nvPr/>
        </p:nvSpPr>
        <p:spPr>
          <a:xfrm>
            <a:off x="2933150" y="4615075"/>
            <a:ext cx="13233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 dirty="0">
                <a:solidFill>
                  <a:srgbClr val="0B5394"/>
                </a:solidFill>
              </a:rPr>
              <a:t>Cycles</a:t>
            </a:r>
            <a:endParaRPr b="1" dirty="0">
              <a:solidFill>
                <a:srgbClr val="0B5394"/>
              </a:solidFill>
            </a:endParaRPr>
          </a:p>
        </p:txBody>
      </p:sp>
      <p:sp>
        <p:nvSpPr>
          <p:cNvPr id="32" name="Google Shape;61;p13">
            <a:extLst>
              <a:ext uri="{FF2B5EF4-FFF2-40B4-BE49-F238E27FC236}">
                <a16:creationId xmlns:a16="http://schemas.microsoft.com/office/drawing/2014/main" id="{EB2C86B9-FEE8-8900-2E3B-9C6E47575B13}"/>
              </a:ext>
            </a:extLst>
          </p:cNvPr>
          <p:cNvSpPr/>
          <p:nvPr/>
        </p:nvSpPr>
        <p:spPr>
          <a:xfrm>
            <a:off x="2921600" y="242050"/>
            <a:ext cx="1912175" cy="1032725"/>
          </a:xfrm>
          <a:custGeom>
            <a:avLst/>
            <a:gdLst/>
            <a:ahLst/>
            <a:cxnLst/>
            <a:rect l="l" t="t" r="r" b="b"/>
            <a:pathLst>
              <a:path w="76487" h="41309" extrusionOk="0">
                <a:moveTo>
                  <a:pt x="55187" y="40664"/>
                </a:moveTo>
                <a:lnTo>
                  <a:pt x="76487" y="0"/>
                </a:lnTo>
                <a:lnTo>
                  <a:pt x="0" y="41309"/>
                </a:lnTo>
                <a:close/>
              </a:path>
            </a:pathLst>
          </a:custGeom>
          <a:solidFill>
            <a:srgbClr val="023A5F"/>
          </a:solidFill>
          <a:ln w="9525" cap="flat" cmpd="sng">
            <a:solidFill>
              <a:srgbClr val="023A5F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3" name="Google Shape;62;p13">
            <a:extLst>
              <a:ext uri="{FF2B5EF4-FFF2-40B4-BE49-F238E27FC236}">
                <a16:creationId xmlns:a16="http://schemas.microsoft.com/office/drawing/2014/main" id="{F8840F1F-0A66-8D18-4B0F-842708C93443}"/>
              </a:ext>
            </a:extLst>
          </p:cNvPr>
          <p:cNvSpPr txBox="1"/>
          <p:nvPr/>
        </p:nvSpPr>
        <p:spPr>
          <a:xfrm rot="-1691596">
            <a:off x="3221106" y="656211"/>
            <a:ext cx="1548745" cy="51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b="1" dirty="0">
                <a:solidFill>
                  <a:srgbClr val="FFFFFF"/>
                </a:solidFill>
              </a:rPr>
              <a:t>Context</a:t>
            </a:r>
            <a:endParaRPr sz="1200" dirty="0">
              <a:solidFill>
                <a:srgbClr val="FFFFFF"/>
              </a:solidFill>
            </a:endParaRPr>
          </a:p>
        </p:txBody>
      </p:sp>
      <p:sp>
        <p:nvSpPr>
          <p:cNvPr id="34" name="Google Shape;63;p13">
            <a:extLst>
              <a:ext uri="{FF2B5EF4-FFF2-40B4-BE49-F238E27FC236}">
                <a16:creationId xmlns:a16="http://schemas.microsoft.com/office/drawing/2014/main" id="{7C6FF42E-B0B0-1E01-C39F-1A537D3A1D9D}"/>
              </a:ext>
            </a:extLst>
          </p:cNvPr>
          <p:cNvSpPr/>
          <p:nvPr/>
        </p:nvSpPr>
        <p:spPr>
          <a:xfrm>
            <a:off x="6302200" y="242050"/>
            <a:ext cx="1871825" cy="1032725"/>
          </a:xfrm>
          <a:custGeom>
            <a:avLst/>
            <a:gdLst/>
            <a:ahLst/>
            <a:cxnLst/>
            <a:rect l="l" t="t" r="r" b="b"/>
            <a:pathLst>
              <a:path w="74873" h="41309" extrusionOk="0">
                <a:moveTo>
                  <a:pt x="0" y="0"/>
                </a:moveTo>
                <a:lnTo>
                  <a:pt x="74873" y="41309"/>
                </a:lnTo>
                <a:lnTo>
                  <a:pt x="20331" y="40664"/>
                </a:lnTo>
                <a:close/>
              </a:path>
            </a:pathLst>
          </a:custGeom>
          <a:solidFill>
            <a:srgbClr val="023A5F"/>
          </a:solidFill>
          <a:ln w="9525" cap="flat" cmpd="sng">
            <a:solidFill>
              <a:srgbClr val="023A5F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5" name="Google Shape;64;p13">
            <a:extLst>
              <a:ext uri="{FF2B5EF4-FFF2-40B4-BE49-F238E27FC236}">
                <a16:creationId xmlns:a16="http://schemas.microsoft.com/office/drawing/2014/main" id="{056F1760-2DA0-8ED0-E9B4-3073BEA4305B}"/>
              </a:ext>
            </a:extLst>
          </p:cNvPr>
          <p:cNvSpPr/>
          <p:nvPr/>
        </p:nvSpPr>
        <p:spPr>
          <a:xfrm>
            <a:off x="8230500" y="2420475"/>
            <a:ext cx="524425" cy="2113875"/>
          </a:xfrm>
          <a:custGeom>
            <a:avLst/>
            <a:gdLst/>
            <a:ahLst/>
            <a:cxnLst/>
            <a:rect l="l" t="t" r="r" b="b"/>
            <a:pathLst>
              <a:path w="20977" h="84555" extrusionOk="0">
                <a:moveTo>
                  <a:pt x="20977" y="0"/>
                </a:moveTo>
                <a:lnTo>
                  <a:pt x="20977" y="84555"/>
                </a:lnTo>
                <a:lnTo>
                  <a:pt x="0" y="41632"/>
                </a:lnTo>
                <a:close/>
              </a:path>
            </a:pathLst>
          </a:custGeom>
          <a:solidFill>
            <a:srgbClr val="023A5F"/>
          </a:solidFill>
          <a:ln w="9525" cap="flat" cmpd="sng">
            <a:solidFill>
              <a:srgbClr val="023A5F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6" name="Google Shape;65;p13">
            <a:extLst>
              <a:ext uri="{FF2B5EF4-FFF2-40B4-BE49-F238E27FC236}">
                <a16:creationId xmlns:a16="http://schemas.microsoft.com/office/drawing/2014/main" id="{62FAAB95-8BF5-F871-2936-6D7B688D1F7E}"/>
              </a:ext>
            </a:extLst>
          </p:cNvPr>
          <p:cNvSpPr/>
          <p:nvPr/>
        </p:nvSpPr>
        <p:spPr>
          <a:xfrm>
            <a:off x="2340675" y="2396275"/>
            <a:ext cx="532525" cy="2138075"/>
          </a:xfrm>
          <a:custGeom>
            <a:avLst/>
            <a:gdLst/>
            <a:ahLst/>
            <a:cxnLst/>
            <a:rect l="l" t="t" r="r" b="b"/>
            <a:pathLst>
              <a:path w="21301" h="85523" extrusionOk="0">
                <a:moveTo>
                  <a:pt x="21301" y="43245"/>
                </a:moveTo>
                <a:lnTo>
                  <a:pt x="0" y="0"/>
                </a:lnTo>
                <a:lnTo>
                  <a:pt x="323" y="85523"/>
                </a:lnTo>
                <a:close/>
              </a:path>
            </a:pathLst>
          </a:custGeom>
          <a:solidFill>
            <a:srgbClr val="023A5F"/>
          </a:solidFill>
          <a:ln w="9525" cap="flat" cmpd="sng">
            <a:solidFill>
              <a:srgbClr val="023A5F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7" name="Google Shape;66;p13">
            <a:extLst>
              <a:ext uri="{FF2B5EF4-FFF2-40B4-BE49-F238E27FC236}">
                <a16:creationId xmlns:a16="http://schemas.microsoft.com/office/drawing/2014/main" id="{64CD5BC3-8685-C862-9640-8DCA1790FE9E}"/>
              </a:ext>
            </a:extLst>
          </p:cNvPr>
          <p:cNvSpPr/>
          <p:nvPr/>
        </p:nvSpPr>
        <p:spPr>
          <a:xfrm>
            <a:off x="6317425" y="5671975"/>
            <a:ext cx="1872725" cy="1040800"/>
          </a:xfrm>
          <a:custGeom>
            <a:avLst/>
            <a:gdLst/>
            <a:ahLst/>
            <a:cxnLst/>
            <a:rect l="l" t="t" r="r" b="b"/>
            <a:pathLst>
              <a:path w="74909" h="41632" extrusionOk="0">
                <a:moveTo>
                  <a:pt x="0" y="41632"/>
                </a:moveTo>
                <a:lnTo>
                  <a:pt x="20655" y="645"/>
                </a:lnTo>
                <a:lnTo>
                  <a:pt x="74909" y="0"/>
                </a:lnTo>
                <a:close/>
              </a:path>
            </a:pathLst>
          </a:custGeom>
          <a:solidFill>
            <a:srgbClr val="023A5F"/>
          </a:solidFill>
          <a:ln w="9525" cap="flat" cmpd="sng">
            <a:solidFill>
              <a:srgbClr val="023A5F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8" name="Google Shape;67;p13">
            <a:extLst>
              <a:ext uri="{FF2B5EF4-FFF2-40B4-BE49-F238E27FC236}">
                <a16:creationId xmlns:a16="http://schemas.microsoft.com/office/drawing/2014/main" id="{16FF042B-B1EC-DFB9-5327-F8A2C1A0FE08}"/>
              </a:ext>
            </a:extLst>
          </p:cNvPr>
          <p:cNvSpPr/>
          <p:nvPr/>
        </p:nvSpPr>
        <p:spPr>
          <a:xfrm>
            <a:off x="2929675" y="5671975"/>
            <a:ext cx="1896025" cy="1048875"/>
          </a:xfrm>
          <a:custGeom>
            <a:avLst/>
            <a:gdLst/>
            <a:ahLst/>
            <a:cxnLst/>
            <a:rect l="l" t="t" r="r" b="b"/>
            <a:pathLst>
              <a:path w="75841" h="41955" extrusionOk="0">
                <a:moveTo>
                  <a:pt x="75841" y="41955"/>
                </a:moveTo>
                <a:lnTo>
                  <a:pt x="54218" y="0"/>
                </a:lnTo>
                <a:lnTo>
                  <a:pt x="0" y="0"/>
                </a:lnTo>
                <a:close/>
              </a:path>
            </a:pathLst>
          </a:custGeom>
          <a:solidFill>
            <a:srgbClr val="023A5F"/>
          </a:solidFill>
          <a:ln w="9525" cap="flat" cmpd="sng">
            <a:solidFill>
              <a:srgbClr val="023A5F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9" name="Google Shape;68;p13">
            <a:extLst>
              <a:ext uri="{FF2B5EF4-FFF2-40B4-BE49-F238E27FC236}">
                <a16:creationId xmlns:a16="http://schemas.microsoft.com/office/drawing/2014/main" id="{8D523A5C-C20D-DBF2-A9E5-9154F173E6D9}"/>
              </a:ext>
            </a:extLst>
          </p:cNvPr>
          <p:cNvSpPr txBox="1"/>
          <p:nvPr/>
        </p:nvSpPr>
        <p:spPr>
          <a:xfrm rot="1804600">
            <a:off x="6334114" y="656160"/>
            <a:ext cx="1548612" cy="515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b="1">
                <a:solidFill>
                  <a:srgbClr val="FFFFFF"/>
                </a:solidFill>
              </a:rPr>
              <a:t>Context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40" name="Google Shape;69;p13">
            <a:extLst>
              <a:ext uri="{FF2B5EF4-FFF2-40B4-BE49-F238E27FC236}">
                <a16:creationId xmlns:a16="http://schemas.microsoft.com/office/drawing/2014/main" id="{507BE382-33A3-6D15-1CF5-C8EDFFCA6418}"/>
              </a:ext>
            </a:extLst>
          </p:cNvPr>
          <p:cNvSpPr txBox="1"/>
          <p:nvPr/>
        </p:nvSpPr>
        <p:spPr>
          <a:xfrm rot="5401332">
            <a:off x="7843077" y="3221617"/>
            <a:ext cx="1548600" cy="5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b="1">
                <a:solidFill>
                  <a:srgbClr val="FFFFFF"/>
                </a:solidFill>
              </a:rPr>
              <a:t>Context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41" name="Google Shape;70;p13">
            <a:extLst>
              <a:ext uri="{FF2B5EF4-FFF2-40B4-BE49-F238E27FC236}">
                <a16:creationId xmlns:a16="http://schemas.microsoft.com/office/drawing/2014/main" id="{C71D1E2C-75F4-49D7-907C-751EC9E503DC}"/>
              </a:ext>
            </a:extLst>
          </p:cNvPr>
          <p:cNvSpPr txBox="1"/>
          <p:nvPr/>
        </p:nvSpPr>
        <p:spPr>
          <a:xfrm rot="-5398668">
            <a:off x="1728087" y="3171441"/>
            <a:ext cx="1548600" cy="5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b="1">
                <a:solidFill>
                  <a:srgbClr val="FFFFFF"/>
                </a:solidFill>
              </a:rPr>
              <a:t>Context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42" name="Google Shape;71;p13">
            <a:extLst>
              <a:ext uri="{FF2B5EF4-FFF2-40B4-BE49-F238E27FC236}">
                <a16:creationId xmlns:a16="http://schemas.microsoft.com/office/drawing/2014/main" id="{EB00F587-449E-5DB0-527C-E9F847C732EF}"/>
              </a:ext>
            </a:extLst>
          </p:cNvPr>
          <p:cNvSpPr txBox="1"/>
          <p:nvPr/>
        </p:nvSpPr>
        <p:spPr>
          <a:xfrm rot="1764041">
            <a:off x="3221194" y="5798859"/>
            <a:ext cx="1548540" cy="515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b="1">
                <a:solidFill>
                  <a:srgbClr val="FFFFFF"/>
                </a:solidFill>
              </a:rPr>
              <a:t>Context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43" name="Google Shape;72;p13">
            <a:extLst>
              <a:ext uri="{FF2B5EF4-FFF2-40B4-BE49-F238E27FC236}">
                <a16:creationId xmlns:a16="http://schemas.microsoft.com/office/drawing/2014/main" id="{B2E1F36D-984B-553C-F442-2778783B7F67}"/>
              </a:ext>
            </a:extLst>
          </p:cNvPr>
          <p:cNvSpPr txBox="1"/>
          <p:nvPr/>
        </p:nvSpPr>
        <p:spPr>
          <a:xfrm rot="-1756858">
            <a:off x="6334033" y="5779540"/>
            <a:ext cx="1548786" cy="515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b="1">
                <a:solidFill>
                  <a:srgbClr val="FFFFFF"/>
                </a:solidFill>
              </a:rPr>
              <a:t>Context</a:t>
            </a:r>
            <a:endParaRPr sz="12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2997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4349675" y="242050"/>
            <a:ext cx="2420400" cy="21138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3"/>
          <p:cNvSpPr/>
          <p:nvPr/>
        </p:nvSpPr>
        <p:spPr>
          <a:xfrm>
            <a:off x="6309375" y="1314200"/>
            <a:ext cx="2420400" cy="21138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2379225" y="1314200"/>
            <a:ext cx="2420400" cy="21138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2379225" y="3507000"/>
            <a:ext cx="2420400" cy="21138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13"/>
          <p:cNvSpPr/>
          <p:nvPr/>
        </p:nvSpPr>
        <p:spPr>
          <a:xfrm>
            <a:off x="6309375" y="3507000"/>
            <a:ext cx="2420400" cy="21138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3"/>
          <p:cNvSpPr/>
          <p:nvPr/>
        </p:nvSpPr>
        <p:spPr>
          <a:xfrm>
            <a:off x="4349675" y="4602500"/>
            <a:ext cx="2420400" cy="21138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EFEFEF"/>
          </a:solidFill>
          <a:ln w="2857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13"/>
          <p:cNvSpPr/>
          <p:nvPr/>
        </p:nvSpPr>
        <p:spPr>
          <a:xfrm>
            <a:off x="4349675" y="2422275"/>
            <a:ext cx="2420400" cy="21138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13"/>
          <p:cNvSpPr/>
          <p:nvPr/>
        </p:nvSpPr>
        <p:spPr>
          <a:xfrm>
            <a:off x="2921600" y="242050"/>
            <a:ext cx="1912175" cy="1032725"/>
          </a:xfrm>
          <a:custGeom>
            <a:avLst/>
            <a:gdLst/>
            <a:ahLst/>
            <a:cxnLst/>
            <a:rect l="l" t="t" r="r" b="b"/>
            <a:pathLst>
              <a:path w="76487" h="41309" extrusionOk="0">
                <a:moveTo>
                  <a:pt x="55187" y="40664"/>
                </a:moveTo>
                <a:lnTo>
                  <a:pt x="76487" y="0"/>
                </a:lnTo>
                <a:lnTo>
                  <a:pt x="0" y="41309"/>
                </a:lnTo>
                <a:close/>
              </a:path>
            </a:pathLst>
          </a:cu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2" name="Google Shape;62;p13"/>
          <p:cNvSpPr txBox="1"/>
          <p:nvPr/>
        </p:nvSpPr>
        <p:spPr>
          <a:xfrm rot="-1691596">
            <a:off x="3221106" y="656211"/>
            <a:ext cx="1548745" cy="51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b="1">
                <a:solidFill>
                  <a:srgbClr val="FFFFFF"/>
                </a:solidFill>
              </a:rPr>
              <a:t>Context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63" name="Google Shape;63;p13"/>
          <p:cNvSpPr/>
          <p:nvPr/>
        </p:nvSpPr>
        <p:spPr>
          <a:xfrm>
            <a:off x="6302200" y="242050"/>
            <a:ext cx="1871825" cy="1032725"/>
          </a:xfrm>
          <a:custGeom>
            <a:avLst/>
            <a:gdLst/>
            <a:ahLst/>
            <a:cxnLst/>
            <a:rect l="l" t="t" r="r" b="b"/>
            <a:pathLst>
              <a:path w="74873" h="41309" extrusionOk="0">
                <a:moveTo>
                  <a:pt x="0" y="0"/>
                </a:moveTo>
                <a:lnTo>
                  <a:pt x="74873" y="41309"/>
                </a:lnTo>
                <a:lnTo>
                  <a:pt x="20331" y="40664"/>
                </a:lnTo>
                <a:close/>
              </a:path>
            </a:pathLst>
          </a:cu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4" name="Google Shape;64;p13"/>
          <p:cNvSpPr/>
          <p:nvPr/>
        </p:nvSpPr>
        <p:spPr>
          <a:xfrm>
            <a:off x="8230500" y="2420475"/>
            <a:ext cx="524425" cy="2113875"/>
          </a:xfrm>
          <a:custGeom>
            <a:avLst/>
            <a:gdLst/>
            <a:ahLst/>
            <a:cxnLst/>
            <a:rect l="l" t="t" r="r" b="b"/>
            <a:pathLst>
              <a:path w="20977" h="84555" extrusionOk="0">
                <a:moveTo>
                  <a:pt x="20977" y="0"/>
                </a:moveTo>
                <a:lnTo>
                  <a:pt x="20977" y="84555"/>
                </a:lnTo>
                <a:lnTo>
                  <a:pt x="0" y="41632"/>
                </a:lnTo>
                <a:close/>
              </a:path>
            </a:pathLst>
          </a:cu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5" name="Google Shape;65;p13"/>
          <p:cNvSpPr/>
          <p:nvPr/>
        </p:nvSpPr>
        <p:spPr>
          <a:xfrm>
            <a:off x="2340675" y="2396275"/>
            <a:ext cx="532525" cy="2138075"/>
          </a:xfrm>
          <a:custGeom>
            <a:avLst/>
            <a:gdLst/>
            <a:ahLst/>
            <a:cxnLst/>
            <a:rect l="l" t="t" r="r" b="b"/>
            <a:pathLst>
              <a:path w="21301" h="85523" extrusionOk="0">
                <a:moveTo>
                  <a:pt x="21301" y="43245"/>
                </a:moveTo>
                <a:lnTo>
                  <a:pt x="0" y="0"/>
                </a:lnTo>
                <a:lnTo>
                  <a:pt x="323" y="85523"/>
                </a:lnTo>
                <a:close/>
              </a:path>
            </a:pathLst>
          </a:cu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6" name="Google Shape;66;p13"/>
          <p:cNvSpPr/>
          <p:nvPr/>
        </p:nvSpPr>
        <p:spPr>
          <a:xfrm>
            <a:off x="6317425" y="5671975"/>
            <a:ext cx="1872725" cy="1040800"/>
          </a:xfrm>
          <a:custGeom>
            <a:avLst/>
            <a:gdLst/>
            <a:ahLst/>
            <a:cxnLst/>
            <a:rect l="l" t="t" r="r" b="b"/>
            <a:pathLst>
              <a:path w="74909" h="41632" extrusionOk="0">
                <a:moveTo>
                  <a:pt x="0" y="41632"/>
                </a:moveTo>
                <a:lnTo>
                  <a:pt x="20655" y="645"/>
                </a:lnTo>
                <a:lnTo>
                  <a:pt x="74909" y="0"/>
                </a:lnTo>
                <a:close/>
              </a:path>
            </a:pathLst>
          </a:cu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7" name="Google Shape;67;p13"/>
          <p:cNvSpPr/>
          <p:nvPr/>
        </p:nvSpPr>
        <p:spPr>
          <a:xfrm>
            <a:off x="2929675" y="5671975"/>
            <a:ext cx="1896025" cy="1048875"/>
          </a:xfrm>
          <a:custGeom>
            <a:avLst/>
            <a:gdLst/>
            <a:ahLst/>
            <a:cxnLst/>
            <a:rect l="l" t="t" r="r" b="b"/>
            <a:pathLst>
              <a:path w="75841" h="41955" extrusionOk="0">
                <a:moveTo>
                  <a:pt x="75841" y="41955"/>
                </a:moveTo>
                <a:lnTo>
                  <a:pt x="54218" y="0"/>
                </a:lnTo>
                <a:lnTo>
                  <a:pt x="0" y="0"/>
                </a:lnTo>
                <a:close/>
              </a:path>
            </a:pathLst>
          </a:cu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8" name="Google Shape;68;p13"/>
          <p:cNvSpPr txBox="1"/>
          <p:nvPr/>
        </p:nvSpPr>
        <p:spPr>
          <a:xfrm rot="1804600">
            <a:off x="6334114" y="656160"/>
            <a:ext cx="1548612" cy="515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b="1">
                <a:solidFill>
                  <a:srgbClr val="FFFFFF"/>
                </a:solidFill>
              </a:rPr>
              <a:t>Context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69" name="Google Shape;69;p13"/>
          <p:cNvSpPr txBox="1"/>
          <p:nvPr/>
        </p:nvSpPr>
        <p:spPr>
          <a:xfrm rot="5401332">
            <a:off x="7843077" y="3221617"/>
            <a:ext cx="1548600" cy="5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b="1">
                <a:solidFill>
                  <a:srgbClr val="FFFFFF"/>
                </a:solidFill>
              </a:rPr>
              <a:t>Context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70" name="Google Shape;70;p13"/>
          <p:cNvSpPr txBox="1"/>
          <p:nvPr/>
        </p:nvSpPr>
        <p:spPr>
          <a:xfrm rot="-5398668">
            <a:off x="1728087" y="3171441"/>
            <a:ext cx="1548600" cy="5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b="1">
                <a:solidFill>
                  <a:srgbClr val="FFFFFF"/>
                </a:solidFill>
              </a:rPr>
              <a:t>Context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71" name="Google Shape;71;p13"/>
          <p:cNvSpPr txBox="1"/>
          <p:nvPr/>
        </p:nvSpPr>
        <p:spPr>
          <a:xfrm rot="1764041">
            <a:off x="3221194" y="5798859"/>
            <a:ext cx="1548540" cy="515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b="1">
                <a:solidFill>
                  <a:srgbClr val="FFFFFF"/>
                </a:solidFill>
              </a:rPr>
              <a:t>Context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72" name="Google Shape;72;p13"/>
          <p:cNvSpPr txBox="1"/>
          <p:nvPr/>
        </p:nvSpPr>
        <p:spPr>
          <a:xfrm rot="-1756858">
            <a:off x="6334033" y="5779540"/>
            <a:ext cx="1548786" cy="515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b="1">
                <a:solidFill>
                  <a:srgbClr val="FFFFFF"/>
                </a:solidFill>
              </a:rPr>
              <a:t>Context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73" name="Google Shape;73;p13"/>
          <p:cNvCxnSpPr>
            <a:stCxn id="59" idx="3"/>
            <a:endCxn id="59" idx="0"/>
          </p:cNvCxnSpPr>
          <p:nvPr/>
        </p:nvCxnSpPr>
        <p:spPr>
          <a:xfrm>
            <a:off x="4349675" y="5659400"/>
            <a:ext cx="2420400" cy="0"/>
          </a:xfrm>
          <a:prstGeom prst="straightConnector1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4" name="Google Shape;74;p13"/>
          <p:cNvSpPr txBox="1"/>
          <p:nvPr/>
        </p:nvSpPr>
        <p:spPr>
          <a:xfrm>
            <a:off x="201975" y="120125"/>
            <a:ext cx="31221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 dirty="0">
                <a:solidFill>
                  <a:srgbClr val="0B5394"/>
                </a:solidFill>
              </a:rPr>
              <a:t>&lt;&lt;Name&gt;&gt;</a:t>
            </a:r>
            <a:endParaRPr b="1" dirty="0">
              <a:solidFill>
                <a:srgbClr val="0B5394"/>
              </a:solidFill>
            </a:endParaRPr>
          </a:p>
        </p:txBody>
      </p:sp>
      <p:sp>
        <p:nvSpPr>
          <p:cNvPr id="75" name="Google Shape;75;p13"/>
          <p:cNvSpPr txBox="1"/>
          <p:nvPr/>
        </p:nvSpPr>
        <p:spPr>
          <a:xfrm>
            <a:off x="201975" y="369350"/>
            <a:ext cx="35151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 b="1"/>
              <a:t>&lt;&lt;email&gt;&gt;</a:t>
            </a:r>
            <a:endParaRPr sz="1100" b="1"/>
          </a:p>
        </p:txBody>
      </p:sp>
      <p:sp>
        <p:nvSpPr>
          <p:cNvPr id="76" name="Google Shape;76;p13"/>
          <p:cNvSpPr txBox="1"/>
          <p:nvPr/>
        </p:nvSpPr>
        <p:spPr>
          <a:xfrm>
            <a:off x="4655575" y="537000"/>
            <a:ext cx="1791000" cy="16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/>
              <a:t>&lt;&lt;Informants&gt;&gt;</a:t>
            </a:r>
            <a:endParaRPr sz="900"/>
          </a:p>
        </p:txBody>
      </p:sp>
      <p:sp>
        <p:nvSpPr>
          <p:cNvPr id="77" name="Google Shape;77;p13"/>
          <p:cNvSpPr txBox="1"/>
          <p:nvPr/>
        </p:nvSpPr>
        <p:spPr>
          <a:xfrm>
            <a:off x="4882075" y="294769"/>
            <a:ext cx="13233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 dirty="0">
                <a:solidFill>
                  <a:srgbClr val="0B5394"/>
                </a:solidFill>
              </a:rPr>
              <a:t>Informants</a:t>
            </a:r>
            <a:endParaRPr b="1" dirty="0">
              <a:solidFill>
                <a:srgbClr val="0B5394"/>
              </a:solidFill>
            </a:endParaRPr>
          </a:p>
        </p:txBody>
      </p:sp>
      <p:sp>
        <p:nvSpPr>
          <p:cNvPr id="78" name="Google Shape;78;p13"/>
          <p:cNvSpPr txBox="1"/>
          <p:nvPr/>
        </p:nvSpPr>
        <p:spPr>
          <a:xfrm>
            <a:off x="4882075" y="2388175"/>
            <a:ext cx="13233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 dirty="0">
                <a:solidFill>
                  <a:srgbClr val="FFFFFF"/>
                </a:solidFill>
              </a:rPr>
              <a:t>CASE</a:t>
            </a:r>
            <a:endParaRPr b="1" dirty="0">
              <a:solidFill>
                <a:srgbClr val="FFFFFF"/>
              </a:solidFill>
            </a:endParaRPr>
          </a:p>
        </p:txBody>
      </p:sp>
      <p:sp>
        <p:nvSpPr>
          <p:cNvPr id="79" name="Google Shape;79;p13"/>
          <p:cNvSpPr txBox="1"/>
          <p:nvPr/>
        </p:nvSpPr>
        <p:spPr>
          <a:xfrm>
            <a:off x="4655575" y="2717950"/>
            <a:ext cx="1791000" cy="16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rgbClr val="FFFFFF"/>
                </a:solidFill>
              </a:rPr>
              <a:t>&lt;&lt;Name of your case&gt;&gt;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80" name="Google Shape;80;p13"/>
          <p:cNvSpPr txBox="1"/>
          <p:nvPr/>
        </p:nvSpPr>
        <p:spPr>
          <a:xfrm>
            <a:off x="2606050" y="1754400"/>
            <a:ext cx="1912200" cy="15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/>
              <a:t>&lt;&lt;Other documents to be analyzed&gt;&gt;</a:t>
            </a:r>
            <a:endParaRPr sz="900"/>
          </a:p>
        </p:txBody>
      </p:sp>
      <p:sp>
        <p:nvSpPr>
          <p:cNvPr id="81" name="Google Shape;81;p13"/>
          <p:cNvSpPr txBox="1"/>
          <p:nvPr/>
        </p:nvSpPr>
        <p:spPr>
          <a:xfrm>
            <a:off x="2920600" y="1226350"/>
            <a:ext cx="13233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solidFill>
                  <a:srgbClr val="0B5394"/>
                </a:solidFill>
              </a:rPr>
              <a:t>Other documents</a:t>
            </a:r>
            <a:endParaRPr b="1">
              <a:solidFill>
                <a:srgbClr val="0B5394"/>
              </a:solidFill>
            </a:endParaRPr>
          </a:p>
        </p:txBody>
      </p:sp>
      <p:sp>
        <p:nvSpPr>
          <p:cNvPr id="82" name="Google Shape;82;p13"/>
          <p:cNvSpPr txBox="1"/>
          <p:nvPr/>
        </p:nvSpPr>
        <p:spPr>
          <a:xfrm>
            <a:off x="6617050" y="1754400"/>
            <a:ext cx="1872600" cy="15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/>
              <a:t>&lt;&lt;Data Gathering Methods&gt;&gt;</a:t>
            </a:r>
            <a:endParaRPr sz="900"/>
          </a:p>
        </p:txBody>
      </p:sp>
      <p:sp>
        <p:nvSpPr>
          <p:cNvPr id="83" name="Google Shape;83;p13"/>
          <p:cNvSpPr txBox="1"/>
          <p:nvPr/>
        </p:nvSpPr>
        <p:spPr>
          <a:xfrm>
            <a:off x="6675175" y="1226350"/>
            <a:ext cx="17202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solidFill>
                  <a:srgbClr val="0B5394"/>
                </a:solidFill>
              </a:rPr>
              <a:t>Data Gathering Methods</a:t>
            </a:r>
            <a:endParaRPr b="1">
              <a:solidFill>
                <a:srgbClr val="0B5394"/>
              </a:solidFill>
            </a:endParaRPr>
          </a:p>
        </p:txBody>
      </p:sp>
      <p:sp>
        <p:nvSpPr>
          <p:cNvPr id="84" name="Google Shape;84;p13"/>
          <p:cNvSpPr txBox="1"/>
          <p:nvPr/>
        </p:nvSpPr>
        <p:spPr>
          <a:xfrm>
            <a:off x="2694100" y="3726550"/>
            <a:ext cx="1791000" cy="18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/>
              <a:t>&lt;&lt;Case Study Strategies&gt;&gt;</a:t>
            </a:r>
            <a:endParaRPr sz="900"/>
          </a:p>
        </p:txBody>
      </p:sp>
      <p:sp>
        <p:nvSpPr>
          <p:cNvPr id="85" name="Google Shape;85;p13"/>
          <p:cNvSpPr txBox="1"/>
          <p:nvPr/>
        </p:nvSpPr>
        <p:spPr>
          <a:xfrm>
            <a:off x="2920600" y="3491650"/>
            <a:ext cx="13233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 dirty="0">
                <a:solidFill>
                  <a:srgbClr val="0B5394"/>
                </a:solidFill>
              </a:rPr>
              <a:t>Strategies</a:t>
            </a:r>
            <a:endParaRPr b="1" dirty="0">
              <a:solidFill>
                <a:srgbClr val="0B5394"/>
              </a:solidFill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6550675" y="3762550"/>
            <a:ext cx="1871700" cy="7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/>
              <a:t>&lt;&lt;Process Support&gt;&gt;</a:t>
            </a:r>
            <a:endParaRPr sz="900"/>
          </a:p>
        </p:txBody>
      </p:sp>
      <p:sp>
        <p:nvSpPr>
          <p:cNvPr id="87" name="Google Shape;87;p13"/>
          <p:cNvSpPr txBox="1"/>
          <p:nvPr/>
        </p:nvSpPr>
        <p:spPr>
          <a:xfrm>
            <a:off x="6675175" y="3491650"/>
            <a:ext cx="17202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 b="1">
                <a:solidFill>
                  <a:srgbClr val="0B5394"/>
                </a:solidFill>
              </a:rPr>
              <a:t>Process Support</a:t>
            </a:r>
            <a:endParaRPr sz="1300" b="1">
              <a:solidFill>
                <a:srgbClr val="0B5394"/>
              </a:solidFill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4684975" y="4773863"/>
            <a:ext cx="1720200" cy="8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 b="1"/>
              <a:t>&lt;&lt;Issue&gt;&gt;</a:t>
            </a:r>
            <a:endParaRPr sz="700" b="1"/>
          </a:p>
        </p:txBody>
      </p:sp>
      <p:sp>
        <p:nvSpPr>
          <p:cNvPr id="89" name="Google Shape;89;p13"/>
          <p:cNvSpPr txBox="1"/>
          <p:nvPr/>
        </p:nvSpPr>
        <p:spPr>
          <a:xfrm>
            <a:off x="4882075" y="4500250"/>
            <a:ext cx="13233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 dirty="0">
                <a:solidFill>
                  <a:srgbClr val="0B5394"/>
                </a:solidFill>
              </a:rPr>
              <a:t>Issues</a:t>
            </a:r>
            <a:endParaRPr b="1" dirty="0">
              <a:solidFill>
                <a:srgbClr val="0B5394"/>
              </a:solidFill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4574750" y="5836050"/>
            <a:ext cx="1871700" cy="8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/>
              <a:t>&lt;&lt;Topics&gt;&gt;</a:t>
            </a:r>
            <a:endParaRPr sz="700"/>
          </a:p>
        </p:txBody>
      </p:sp>
      <p:sp>
        <p:nvSpPr>
          <p:cNvPr id="91" name="Google Shape;91;p13"/>
          <p:cNvSpPr txBox="1"/>
          <p:nvPr/>
        </p:nvSpPr>
        <p:spPr>
          <a:xfrm>
            <a:off x="4882075" y="5560800"/>
            <a:ext cx="13233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 dirty="0">
                <a:solidFill>
                  <a:srgbClr val="0B5394"/>
                </a:solidFill>
              </a:rPr>
              <a:t>Topics</a:t>
            </a:r>
            <a:endParaRPr b="1" dirty="0">
              <a:solidFill>
                <a:srgbClr val="0B5394"/>
              </a:solidFill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112950" y="935925"/>
            <a:ext cx="1419900" cy="44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145225" y="1302550"/>
            <a:ext cx="1938900" cy="45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/>
              <a:t>&lt;&lt;Context&gt;&gt;</a:t>
            </a:r>
            <a:endParaRPr sz="900"/>
          </a:p>
        </p:txBody>
      </p:sp>
      <p:cxnSp>
        <p:nvCxnSpPr>
          <p:cNvPr id="94" name="Google Shape;94;p13"/>
          <p:cNvCxnSpPr/>
          <p:nvPr/>
        </p:nvCxnSpPr>
        <p:spPr>
          <a:xfrm>
            <a:off x="0" y="832850"/>
            <a:ext cx="2420400" cy="0"/>
          </a:xfrm>
          <a:prstGeom prst="straightConnector1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5" name="Google Shape;95;p13"/>
          <p:cNvSpPr txBox="1"/>
          <p:nvPr/>
        </p:nvSpPr>
        <p:spPr>
          <a:xfrm>
            <a:off x="-22525" y="935925"/>
            <a:ext cx="22869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solidFill>
                  <a:srgbClr val="0B5394"/>
                </a:solidFill>
              </a:rPr>
              <a:t>Context of your Case</a:t>
            </a:r>
            <a:endParaRPr b="1">
              <a:solidFill>
                <a:srgbClr val="0B5394"/>
              </a:solidFill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6617050" y="4502450"/>
            <a:ext cx="17202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 b="1">
                <a:solidFill>
                  <a:srgbClr val="0B5394"/>
                </a:solidFill>
              </a:rPr>
              <a:t>Minicases</a:t>
            </a:r>
            <a:endParaRPr sz="1300" b="1">
              <a:solidFill>
                <a:srgbClr val="0B5394"/>
              </a:solidFill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6452650" y="4725125"/>
            <a:ext cx="2049000" cy="7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/>
              <a:t>&lt;&lt;Minicases&gt;&gt;</a:t>
            </a:r>
            <a:endParaRPr sz="900"/>
          </a:p>
        </p:txBody>
      </p:sp>
      <p:pic>
        <p:nvPicPr>
          <p:cNvPr id="98" name="Google Shape;9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738" y="6025154"/>
            <a:ext cx="2997475" cy="72289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62;p13">
            <a:extLst>
              <a:ext uri="{FF2B5EF4-FFF2-40B4-BE49-F238E27FC236}">
                <a16:creationId xmlns:a16="http://schemas.microsoft.com/office/drawing/2014/main" id="{C182307C-65D3-19E7-B94B-BD6B4F75A213}"/>
              </a:ext>
            </a:extLst>
          </p:cNvPr>
          <p:cNvSpPr txBox="1"/>
          <p:nvPr/>
        </p:nvSpPr>
        <p:spPr>
          <a:xfrm>
            <a:off x="7424794" y="6386602"/>
            <a:ext cx="1421494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b="1" dirty="0">
                <a:solidFill>
                  <a:srgbClr val="0B5394"/>
                </a:solidFill>
              </a:rPr>
              <a:t>Case Study</a:t>
            </a:r>
            <a:endParaRPr sz="1200" b="1" dirty="0">
              <a:solidFill>
                <a:srgbClr val="0B5394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4349675" y="242050"/>
            <a:ext cx="2420400" cy="21138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3"/>
          <p:cNvSpPr/>
          <p:nvPr/>
        </p:nvSpPr>
        <p:spPr>
          <a:xfrm>
            <a:off x="6309375" y="1314200"/>
            <a:ext cx="2420400" cy="21138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2379225" y="1314200"/>
            <a:ext cx="2420400" cy="21138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2379225" y="3507000"/>
            <a:ext cx="2420400" cy="21138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13"/>
          <p:cNvSpPr/>
          <p:nvPr/>
        </p:nvSpPr>
        <p:spPr>
          <a:xfrm>
            <a:off x="6309375" y="3507000"/>
            <a:ext cx="2420400" cy="21138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3"/>
          <p:cNvSpPr/>
          <p:nvPr/>
        </p:nvSpPr>
        <p:spPr>
          <a:xfrm>
            <a:off x="4349675" y="4602500"/>
            <a:ext cx="2420400" cy="21138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EFEFEF"/>
          </a:solidFill>
          <a:ln w="2857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13"/>
          <p:cNvSpPr/>
          <p:nvPr/>
        </p:nvSpPr>
        <p:spPr>
          <a:xfrm>
            <a:off x="4349675" y="2422275"/>
            <a:ext cx="2420400" cy="21138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FD9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1" name="Google Shape;61;p13"/>
          <p:cNvCxnSpPr>
            <a:stCxn id="59" idx="3"/>
            <a:endCxn id="59" idx="0"/>
          </p:cNvCxnSpPr>
          <p:nvPr/>
        </p:nvCxnSpPr>
        <p:spPr>
          <a:xfrm>
            <a:off x="4349675" y="5659400"/>
            <a:ext cx="2420400" cy="0"/>
          </a:xfrm>
          <a:prstGeom prst="straightConnector1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2" name="Google Shape;62;p13"/>
          <p:cNvSpPr txBox="1"/>
          <p:nvPr/>
        </p:nvSpPr>
        <p:spPr>
          <a:xfrm>
            <a:off x="49575" y="149700"/>
            <a:ext cx="40260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b="1">
                <a:solidFill>
                  <a:srgbClr val="0B5394"/>
                </a:solidFill>
              </a:rPr>
              <a:t>&lt;&lt;Name&gt;&gt;</a:t>
            </a:r>
            <a:endParaRPr sz="1200" b="1">
              <a:solidFill>
                <a:srgbClr val="0B5394"/>
              </a:solidFill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125775" y="369350"/>
            <a:ext cx="43002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/>
              <a:t>&lt;&lt;email&gt;&gt;</a:t>
            </a:r>
            <a:endParaRPr sz="1000" b="1"/>
          </a:p>
        </p:txBody>
      </p:sp>
      <p:sp>
        <p:nvSpPr>
          <p:cNvPr id="64" name="Google Shape;64;p13"/>
          <p:cNvSpPr txBox="1"/>
          <p:nvPr/>
        </p:nvSpPr>
        <p:spPr>
          <a:xfrm>
            <a:off x="4655575" y="537000"/>
            <a:ext cx="1791000" cy="16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/>
              <a:t>&lt;&lt;Informants&gt;&gt;</a:t>
            </a:r>
            <a:endParaRPr sz="900"/>
          </a:p>
        </p:txBody>
      </p:sp>
      <p:sp>
        <p:nvSpPr>
          <p:cNvPr id="65" name="Google Shape;65;p13"/>
          <p:cNvSpPr txBox="1"/>
          <p:nvPr/>
        </p:nvSpPr>
        <p:spPr>
          <a:xfrm>
            <a:off x="4882075" y="225900"/>
            <a:ext cx="13233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solidFill>
                  <a:srgbClr val="0B5394"/>
                </a:solidFill>
              </a:rPr>
              <a:t>Informants</a:t>
            </a:r>
            <a:endParaRPr b="1">
              <a:solidFill>
                <a:srgbClr val="0B5394"/>
              </a:solidFill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4792750" y="2379300"/>
            <a:ext cx="1549800" cy="5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b="1" dirty="0">
                <a:solidFill>
                  <a:srgbClr val="FFFFFF"/>
                </a:solidFill>
              </a:rPr>
              <a:t>Aspect to reflect upon and improve</a:t>
            </a:r>
            <a:endParaRPr sz="1200" b="1" dirty="0">
              <a:solidFill>
                <a:srgbClr val="FFFFFF"/>
              </a:solidFill>
            </a:endParaRPr>
          </a:p>
        </p:txBody>
      </p:sp>
      <p:sp>
        <p:nvSpPr>
          <p:cNvPr id="67" name="Google Shape;67;p13"/>
          <p:cNvSpPr txBox="1"/>
          <p:nvPr/>
        </p:nvSpPr>
        <p:spPr>
          <a:xfrm>
            <a:off x="4672150" y="2889100"/>
            <a:ext cx="1791000" cy="15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1C4587"/>
                </a:solidFill>
              </a:rPr>
              <a:t>&lt;&lt;Aspect to reflect upon and improve&gt;&gt;</a:t>
            </a:r>
            <a:endParaRPr sz="1000">
              <a:solidFill>
                <a:srgbClr val="1C4587"/>
              </a:solidFill>
            </a:endParaRPr>
          </a:p>
        </p:txBody>
      </p:sp>
      <p:sp>
        <p:nvSpPr>
          <p:cNvPr id="68" name="Google Shape;68;p13"/>
          <p:cNvSpPr txBox="1"/>
          <p:nvPr/>
        </p:nvSpPr>
        <p:spPr>
          <a:xfrm>
            <a:off x="2606050" y="1754400"/>
            <a:ext cx="1912200" cy="15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/>
              <a:t>&lt;&lt;Other documents to be analyzed&gt;&gt;</a:t>
            </a:r>
            <a:endParaRPr sz="900"/>
          </a:p>
        </p:txBody>
      </p:sp>
      <p:sp>
        <p:nvSpPr>
          <p:cNvPr id="69" name="Google Shape;69;p13"/>
          <p:cNvSpPr txBox="1"/>
          <p:nvPr/>
        </p:nvSpPr>
        <p:spPr>
          <a:xfrm>
            <a:off x="2920600" y="1226350"/>
            <a:ext cx="13233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solidFill>
                  <a:srgbClr val="0B5394"/>
                </a:solidFill>
              </a:rPr>
              <a:t>Other documents</a:t>
            </a:r>
            <a:endParaRPr b="1">
              <a:solidFill>
                <a:srgbClr val="0B5394"/>
              </a:solidFill>
            </a:endParaRPr>
          </a:p>
        </p:txBody>
      </p:sp>
      <p:sp>
        <p:nvSpPr>
          <p:cNvPr id="70" name="Google Shape;70;p13"/>
          <p:cNvSpPr txBox="1"/>
          <p:nvPr/>
        </p:nvSpPr>
        <p:spPr>
          <a:xfrm>
            <a:off x="6617050" y="1754400"/>
            <a:ext cx="1872600" cy="15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/>
              <a:t>&lt;&lt;Data Gathering Methods&gt;&gt;</a:t>
            </a:r>
            <a:endParaRPr sz="900"/>
          </a:p>
        </p:txBody>
      </p:sp>
      <p:sp>
        <p:nvSpPr>
          <p:cNvPr id="71" name="Google Shape;71;p13"/>
          <p:cNvSpPr txBox="1"/>
          <p:nvPr/>
        </p:nvSpPr>
        <p:spPr>
          <a:xfrm>
            <a:off x="6675175" y="1226350"/>
            <a:ext cx="17202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solidFill>
                  <a:srgbClr val="0B5394"/>
                </a:solidFill>
              </a:rPr>
              <a:t>Data Gathering Methods</a:t>
            </a:r>
            <a:endParaRPr b="1">
              <a:solidFill>
                <a:srgbClr val="0B5394"/>
              </a:solidFill>
            </a:endParaRPr>
          </a:p>
        </p:txBody>
      </p:sp>
      <p:sp>
        <p:nvSpPr>
          <p:cNvPr id="72" name="Google Shape;72;p13"/>
          <p:cNvSpPr txBox="1"/>
          <p:nvPr/>
        </p:nvSpPr>
        <p:spPr>
          <a:xfrm>
            <a:off x="2567200" y="3886750"/>
            <a:ext cx="1989900" cy="16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/>
              <a:t>&lt;&lt;Action Research Strategies&gt;&gt;</a:t>
            </a:r>
            <a:endParaRPr sz="900"/>
          </a:p>
        </p:txBody>
      </p:sp>
      <p:sp>
        <p:nvSpPr>
          <p:cNvPr id="73" name="Google Shape;73;p13"/>
          <p:cNvSpPr txBox="1"/>
          <p:nvPr/>
        </p:nvSpPr>
        <p:spPr>
          <a:xfrm>
            <a:off x="2920600" y="3491650"/>
            <a:ext cx="13233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 dirty="0">
                <a:solidFill>
                  <a:srgbClr val="0B5394"/>
                </a:solidFill>
              </a:rPr>
              <a:t>Cycles</a:t>
            </a:r>
            <a:endParaRPr b="1" dirty="0">
              <a:solidFill>
                <a:srgbClr val="0B5394"/>
              </a:solidFill>
            </a:endParaRPr>
          </a:p>
        </p:txBody>
      </p:sp>
      <p:sp>
        <p:nvSpPr>
          <p:cNvPr id="74" name="Google Shape;74;p13"/>
          <p:cNvSpPr txBox="1"/>
          <p:nvPr/>
        </p:nvSpPr>
        <p:spPr>
          <a:xfrm>
            <a:off x="6550675" y="3762550"/>
            <a:ext cx="1871700" cy="7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/>
              <a:t>&lt;&lt;Process Support&gt;&gt;</a:t>
            </a:r>
            <a:endParaRPr sz="900"/>
          </a:p>
        </p:txBody>
      </p:sp>
      <p:sp>
        <p:nvSpPr>
          <p:cNvPr id="75" name="Google Shape;75;p13"/>
          <p:cNvSpPr txBox="1"/>
          <p:nvPr/>
        </p:nvSpPr>
        <p:spPr>
          <a:xfrm>
            <a:off x="6675175" y="3491650"/>
            <a:ext cx="17202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 b="1">
                <a:solidFill>
                  <a:srgbClr val="0B5394"/>
                </a:solidFill>
              </a:rPr>
              <a:t>Process Support</a:t>
            </a:r>
            <a:endParaRPr sz="1300" b="1">
              <a:solidFill>
                <a:srgbClr val="0B5394"/>
              </a:solidFill>
            </a:endParaRPr>
          </a:p>
        </p:txBody>
      </p:sp>
      <p:sp>
        <p:nvSpPr>
          <p:cNvPr id="76" name="Google Shape;76;p13"/>
          <p:cNvSpPr txBox="1"/>
          <p:nvPr/>
        </p:nvSpPr>
        <p:spPr>
          <a:xfrm>
            <a:off x="4690975" y="4854769"/>
            <a:ext cx="1720200" cy="7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/>
              <a:t>&lt;&lt;Practical Question &gt;&gt;</a:t>
            </a:r>
            <a:endParaRPr sz="700"/>
          </a:p>
        </p:txBody>
      </p:sp>
      <p:sp>
        <p:nvSpPr>
          <p:cNvPr id="77" name="Google Shape;77;p13"/>
          <p:cNvSpPr txBox="1"/>
          <p:nvPr/>
        </p:nvSpPr>
        <p:spPr>
          <a:xfrm>
            <a:off x="4676275" y="4568900"/>
            <a:ext cx="17496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b="1">
                <a:solidFill>
                  <a:srgbClr val="0B5394"/>
                </a:solidFill>
              </a:rPr>
              <a:t>Practical Question</a:t>
            </a:r>
            <a:endParaRPr sz="1200" b="1">
              <a:solidFill>
                <a:srgbClr val="0B5394"/>
              </a:solidFill>
            </a:endParaRPr>
          </a:p>
        </p:txBody>
      </p:sp>
      <p:sp>
        <p:nvSpPr>
          <p:cNvPr id="78" name="Google Shape;78;p13"/>
          <p:cNvSpPr txBox="1"/>
          <p:nvPr/>
        </p:nvSpPr>
        <p:spPr>
          <a:xfrm>
            <a:off x="4574750" y="5836050"/>
            <a:ext cx="1871700" cy="8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/>
              <a:t>&lt;&lt;Topics&gt;&gt;</a:t>
            </a:r>
            <a:endParaRPr sz="700"/>
          </a:p>
        </p:txBody>
      </p:sp>
      <p:sp>
        <p:nvSpPr>
          <p:cNvPr id="79" name="Google Shape;79;p13"/>
          <p:cNvSpPr txBox="1"/>
          <p:nvPr/>
        </p:nvSpPr>
        <p:spPr>
          <a:xfrm>
            <a:off x="4882075" y="5560800"/>
            <a:ext cx="1323300" cy="2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b="1">
                <a:solidFill>
                  <a:srgbClr val="0B5394"/>
                </a:solidFill>
              </a:rPr>
              <a:t>Topics</a:t>
            </a:r>
            <a:endParaRPr sz="1200" b="1">
              <a:solidFill>
                <a:srgbClr val="0B5394"/>
              </a:solidFill>
            </a:endParaRPr>
          </a:p>
        </p:txBody>
      </p:sp>
      <p:sp>
        <p:nvSpPr>
          <p:cNvPr id="80" name="Google Shape;80;p13"/>
          <p:cNvSpPr txBox="1"/>
          <p:nvPr/>
        </p:nvSpPr>
        <p:spPr>
          <a:xfrm>
            <a:off x="112950" y="935925"/>
            <a:ext cx="1419900" cy="44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13"/>
          <p:cNvSpPr txBox="1"/>
          <p:nvPr/>
        </p:nvSpPr>
        <p:spPr>
          <a:xfrm>
            <a:off x="145225" y="1302550"/>
            <a:ext cx="1938900" cy="45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/>
              <a:t>&lt;&lt;Context&gt;&gt;</a:t>
            </a:r>
            <a:endParaRPr sz="900"/>
          </a:p>
        </p:txBody>
      </p:sp>
      <p:cxnSp>
        <p:nvCxnSpPr>
          <p:cNvPr id="82" name="Google Shape;82;p13"/>
          <p:cNvCxnSpPr/>
          <p:nvPr/>
        </p:nvCxnSpPr>
        <p:spPr>
          <a:xfrm>
            <a:off x="0" y="832850"/>
            <a:ext cx="2420400" cy="0"/>
          </a:xfrm>
          <a:prstGeom prst="straightConnector1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3" name="Google Shape;83;p13"/>
          <p:cNvSpPr txBox="1"/>
          <p:nvPr/>
        </p:nvSpPr>
        <p:spPr>
          <a:xfrm>
            <a:off x="-22525" y="935925"/>
            <a:ext cx="22869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 dirty="0">
                <a:solidFill>
                  <a:srgbClr val="0B5394"/>
                </a:solidFill>
              </a:rPr>
              <a:t>Context of your A-R</a:t>
            </a:r>
            <a:endParaRPr b="1" dirty="0">
              <a:solidFill>
                <a:srgbClr val="0B5394"/>
              </a:solidFill>
            </a:endParaRPr>
          </a:p>
        </p:txBody>
      </p:sp>
      <p:sp>
        <p:nvSpPr>
          <p:cNvPr id="84" name="Google Shape;84;p13"/>
          <p:cNvSpPr txBox="1"/>
          <p:nvPr/>
        </p:nvSpPr>
        <p:spPr>
          <a:xfrm>
            <a:off x="6617050" y="4502450"/>
            <a:ext cx="17202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 b="1">
                <a:solidFill>
                  <a:srgbClr val="0B5394"/>
                </a:solidFill>
              </a:rPr>
              <a:t>Minicases</a:t>
            </a:r>
            <a:endParaRPr sz="1300" b="1">
              <a:solidFill>
                <a:srgbClr val="0B5394"/>
              </a:solidFill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6452650" y="4725125"/>
            <a:ext cx="2049000" cy="7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/>
              <a:t>&lt;&lt;Minicases&gt;&gt;</a:t>
            </a:r>
            <a:endParaRPr sz="900"/>
          </a:p>
        </p:txBody>
      </p:sp>
      <p:pic>
        <p:nvPicPr>
          <p:cNvPr id="86" name="Google Shape;8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738" y="6025154"/>
            <a:ext cx="2997475" cy="72289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62;p13">
            <a:extLst>
              <a:ext uri="{FF2B5EF4-FFF2-40B4-BE49-F238E27FC236}">
                <a16:creationId xmlns:a16="http://schemas.microsoft.com/office/drawing/2014/main" id="{D998D881-905B-F85D-587F-2D1C429A4DEB}"/>
              </a:ext>
            </a:extLst>
          </p:cNvPr>
          <p:cNvSpPr txBox="1"/>
          <p:nvPr/>
        </p:nvSpPr>
        <p:spPr>
          <a:xfrm>
            <a:off x="7424794" y="6386602"/>
            <a:ext cx="1421494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b="1" dirty="0">
                <a:solidFill>
                  <a:srgbClr val="0B5394"/>
                </a:solidFill>
              </a:rPr>
              <a:t>Action Research</a:t>
            </a:r>
            <a:endParaRPr sz="1200" b="1" dirty="0">
              <a:solidFill>
                <a:srgbClr val="0B5394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4349675" y="242050"/>
            <a:ext cx="2420400" cy="21138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3"/>
          <p:cNvSpPr/>
          <p:nvPr/>
        </p:nvSpPr>
        <p:spPr>
          <a:xfrm>
            <a:off x="6309375" y="1314200"/>
            <a:ext cx="2420400" cy="21138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2379225" y="1314200"/>
            <a:ext cx="2420400" cy="21138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2379225" y="3507000"/>
            <a:ext cx="2420400" cy="21138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13"/>
          <p:cNvSpPr/>
          <p:nvPr/>
        </p:nvSpPr>
        <p:spPr>
          <a:xfrm>
            <a:off x="6309375" y="3507000"/>
            <a:ext cx="2420400" cy="21138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3"/>
          <p:cNvSpPr/>
          <p:nvPr/>
        </p:nvSpPr>
        <p:spPr>
          <a:xfrm>
            <a:off x="4349675" y="4602500"/>
            <a:ext cx="2420400" cy="21138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EFEFEF"/>
          </a:solidFill>
          <a:ln w="2857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13"/>
          <p:cNvSpPr/>
          <p:nvPr/>
        </p:nvSpPr>
        <p:spPr>
          <a:xfrm>
            <a:off x="4349675" y="2422275"/>
            <a:ext cx="2420400" cy="21138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E066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1" name="Google Shape;61;p13"/>
          <p:cNvCxnSpPr>
            <a:stCxn id="59" idx="3"/>
            <a:endCxn id="59" idx="0"/>
          </p:cNvCxnSpPr>
          <p:nvPr/>
        </p:nvCxnSpPr>
        <p:spPr>
          <a:xfrm>
            <a:off x="4349675" y="5659400"/>
            <a:ext cx="2420400" cy="0"/>
          </a:xfrm>
          <a:prstGeom prst="straightConnector1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2" name="Google Shape;62;p13"/>
          <p:cNvSpPr txBox="1"/>
          <p:nvPr/>
        </p:nvSpPr>
        <p:spPr>
          <a:xfrm>
            <a:off x="49575" y="149700"/>
            <a:ext cx="40260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b="1" dirty="0">
                <a:solidFill>
                  <a:srgbClr val="0B5394"/>
                </a:solidFill>
              </a:rPr>
              <a:t>&lt;&lt;Name&gt;&gt;</a:t>
            </a:r>
            <a:endParaRPr sz="1200" b="1" dirty="0">
              <a:solidFill>
                <a:srgbClr val="0B5394"/>
              </a:solidFill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125775" y="369350"/>
            <a:ext cx="43002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/>
              <a:t>&lt;&lt;email&gt;&gt;</a:t>
            </a:r>
            <a:endParaRPr sz="1000" b="1"/>
          </a:p>
        </p:txBody>
      </p:sp>
      <p:sp>
        <p:nvSpPr>
          <p:cNvPr id="64" name="Google Shape;64;p13"/>
          <p:cNvSpPr txBox="1"/>
          <p:nvPr/>
        </p:nvSpPr>
        <p:spPr>
          <a:xfrm>
            <a:off x="4655575" y="537000"/>
            <a:ext cx="1791000" cy="16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/>
              <a:t>&lt;&lt;Informants&gt;&gt;</a:t>
            </a:r>
            <a:endParaRPr sz="900"/>
          </a:p>
        </p:txBody>
      </p:sp>
      <p:sp>
        <p:nvSpPr>
          <p:cNvPr id="65" name="Google Shape;65;p13"/>
          <p:cNvSpPr txBox="1"/>
          <p:nvPr/>
        </p:nvSpPr>
        <p:spPr>
          <a:xfrm>
            <a:off x="4882075" y="225900"/>
            <a:ext cx="13233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solidFill>
                  <a:srgbClr val="0B5394"/>
                </a:solidFill>
              </a:rPr>
              <a:t>Informants</a:t>
            </a:r>
            <a:endParaRPr b="1">
              <a:solidFill>
                <a:srgbClr val="0B5394"/>
              </a:solidFill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4792750" y="2379300"/>
            <a:ext cx="1549800" cy="5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b="1">
                <a:solidFill>
                  <a:srgbClr val="FFFFFF"/>
                </a:solidFill>
              </a:rPr>
              <a:t>Culture/group under study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67" name="Google Shape;67;p13"/>
          <p:cNvSpPr txBox="1"/>
          <p:nvPr/>
        </p:nvSpPr>
        <p:spPr>
          <a:xfrm>
            <a:off x="4638963" y="2904950"/>
            <a:ext cx="1791000" cy="15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dirty="0">
                <a:solidFill>
                  <a:srgbClr val="FFFFFF"/>
                </a:solidFill>
              </a:rPr>
              <a:t>&lt;&lt;Culture to be studied&gt;&gt;</a:t>
            </a:r>
            <a:endParaRPr sz="1000" dirty="0">
              <a:solidFill>
                <a:srgbClr val="FFFFFF"/>
              </a:solidFill>
            </a:endParaRPr>
          </a:p>
        </p:txBody>
      </p:sp>
      <p:sp>
        <p:nvSpPr>
          <p:cNvPr id="68" name="Google Shape;68;p13"/>
          <p:cNvSpPr txBox="1"/>
          <p:nvPr/>
        </p:nvSpPr>
        <p:spPr>
          <a:xfrm>
            <a:off x="2606050" y="1754400"/>
            <a:ext cx="1912200" cy="15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/>
              <a:t>&lt;&lt;Other documents to be analyzed&gt;&gt;</a:t>
            </a:r>
            <a:endParaRPr sz="900"/>
          </a:p>
        </p:txBody>
      </p:sp>
      <p:sp>
        <p:nvSpPr>
          <p:cNvPr id="69" name="Google Shape;69;p13"/>
          <p:cNvSpPr txBox="1"/>
          <p:nvPr/>
        </p:nvSpPr>
        <p:spPr>
          <a:xfrm>
            <a:off x="2920600" y="1226350"/>
            <a:ext cx="13233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solidFill>
                  <a:srgbClr val="0B5394"/>
                </a:solidFill>
              </a:rPr>
              <a:t>Other documents</a:t>
            </a:r>
            <a:endParaRPr b="1">
              <a:solidFill>
                <a:srgbClr val="0B5394"/>
              </a:solidFill>
            </a:endParaRPr>
          </a:p>
        </p:txBody>
      </p:sp>
      <p:sp>
        <p:nvSpPr>
          <p:cNvPr id="70" name="Google Shape;70;p13"/>
          <p:cNvSpPr txBox="1"/>
          <p:nvPr/>
        </p:nvSpPr>
        <p:spPr>
          <a:xfrm>
            <a:off x="6617050" y="1754400"/>
            <a:ext cx="1872600" cy="15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/>
              <a:t>&lt;&lt;Data Gathering Methods&gt;&gt;</a:t>
            </a:r>
            <a:endParaRPr sz="900"/>
          </a:p>
        </p:txBody>
      </p:sp>
      <p:sp>
        <p:nvSpPr>
          <p:cNvPr id="71" name="Google Shape;71;p13"/>
          <p:cNvSpPr txBox="1"/>
          <p:nvPr/>
        </p:nvSpPr>
        <p:spPr>
          <a:xfrm>
            <a:off x="6675175" y="1226350"/>
            <a:ext cx="17202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solidFill>
                  <a:srgbClr val="0B5394"/>
                </a:solidFill>
              </a:rPr>
              <a:t>Data Gathering Methods</a:t>
            </a:r>
            <a:endParaRPr b="1">
              <a:solidFill>
                <a:srgbClr val="0B5394"/>
              </a:solidFill>
            </a:endParaRPr>
          </a:p>
        </p:txBody>
      </p:sp>
      <p:sp>
        <p:nvSpPr>
          <p:cNvPr id="72" name="Google Shape;72;p13"/>
          <p:cNvSpPr txBox="1"/>
          <p:nvPr/>
        </p:nvSpPr>
        <p:spPr>
          <a:xfrm>
            <a:off x="2567200" y="3886750"/>
            <a:ext cx="1989900" cy="16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/>
              <a:t>&lt;&lt;Ethnographic Research Strategies&gt;&gt;</a:t>
            </a:r>
            <a:endParaRPr sz="900"/>
          </a:p>
        </p:txBody>
      </p:sp>
      <p:sp>
        <p:nvSpPr>
          <p:cNvPr id="73" name="Google Shape;73;p13"/>
          <p:cNvSpPr txBox="1"/>
          <p:nvPr/>
        </p:nvSpPr>
        <p:spPr>
          <a:xfrm>
            <a:off x="2844675" y="3491650"/>
            <a:ext cx="14895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>
                <a:solidFill>
                  <a:srgbClr val="0B5394"/>
                </a:solidFill>
              </a:rPr>
              <a:t>Ethnographic Research Strategies</a:t>
            </a:r>
            <a:endParaRPr sz="1000" b="1">
              <a:solidFill>
                <a:srgbClr val="0B5394"/>
              </a:solidFill>
            </a:endParaRPr>
          </a:p>
        </p:txBody>
      </p:sp>
      <p:sp>
        <p:nvSpPr>
          <p:cNvPr id="74" name="Google Shape;74;p13"/>
          <p:cNvSpPr txBox="1"/>
          <p:nvPr/>
        </p:nvSpPr>
        <p:spPr>
          <a:xfrm>
            <a:off x="6550675" y="3762550"/>
            <a:ext cx="1871700" cy="7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/>
              <a:t>&lt;&lt;Process Support&gt;&gt;</a:t>
            </a:r>
            <a:endParaRPr sz="900"/>
          </a:p>
        </p:txBody>
      </p:sp>
      <p:sp>
        <p:nvSpPr>
          <p:cNvPr id="75" name="Google Shape;75;p13"/>
          <p:cNvSpPr txBox="1"/>
          <p:nvPr/>
        </p:nvSpPr>
        <p:spPr>
          <a:xfrm>
            <a:off x="6675175" y="3491650"/>
            <a:ext cx="17202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 b="1">
                <a:solidFill>
                  <a:srgbClr val="0B5394"/>
                </a:solidFill>
              </a:rPr>
              <a:t>Process Support</a:t>
            </a:r>
            <a:endParaRPr sz="1300" b="1">
              <a:solidFill>
                <a:srgbClr val="0B5394"/>
              </a:solidFill>
            </a:endParaRPr>
          </a:p>
        </p:txBody>
      </p:sp>
      <p:sp>
        <p:nvSpPr>
          <p:cNvPr id="76" name="Google Shape;76;p13"/>
          <p:cNvSpPr txBox="1"/>
          <p:nvPr/>
        </p:nvSpPr>
        <p:spPr>
          <a:xfrm>
            <a:off x="4690975" y="4854769"/>
            <a:ext cx="1720200" cy="7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/>
              <a:t>&lt;&lt;Ethnographic Question &gt;&gt;</a:t>
            </a:r>
            <a:endParaRPr sz="700"/>
          </a:p>
        </p:txBody>
      </p:sp>
      <p:sp>
        <p:nvSpPr>
          <p:cNvPr id="77" name="Google Shape;77;p13"/>
          <p:cNvSpPr txBox="1"/>
          <p:nvPr/>
        </p:nvSpPr>
        <p:spPr>
          <a:xfrm>
            <a:off x="4655575" y="4602500"/>
            <a:ext cx="17910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 dirty="0">
                <a:solidFill>
                  <a:srgbClr val="0B5394"/>
                </a:solidFill>
              </a:rPr>
              <a:t>Ethnographic Question</a:t>
            </a:r>
            <a:endParaRPr sz="1000" b="1" dirty="0">
              <a:solidFill>
                <a:srgbClr val="0B5394"/>
              </a:solidFill>
            </a:endParaRPr>
          </a:p>
        </p:txBody>
      </p:sp>
      <p:sp>
        <p:nvSpPr>
          <p:cNvPr id="78" name="Google Shape;78;p13"/>
          <p:cNvSpPr txBox="1"/>
          <p:nvPr/>
        </p:nvSpPr>
        <p:spPr>
          <a:xfrm>
            <a:off x="4574750" y="5836050"/>
            <a:ext cx="1871700" cy="8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/>
              <a:t>&lt;&lt;Topics&gt;&gt;</a:t>
            </a:r>
            <a:endParaRPr sz="700"/>
          </a:p>
        </p:txBody>
      </p:sp>
      <p:sp>
        <p:nvSpPr>
          <p:cNvPr id="79" name="Google Shape;79;p13"/>
          <p:cNvSpPr txBox="1"/>
          <p:nvPr/>
        </p:nvSpPr>
        <p:spPr>
          <a:xfrm>
            <a:off x="4882075" y="5560800"/>
            <a:ext cx="1323300" cy="2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b="1">
                <a:solidFill>
                  <a:srgbClr val="0B5394"/>
                </a:solidFill>
              </a:rPr>
              <a:t>Topics</a:t>
            </a:r>
            <a:endParaRPr sz="1200" b="1">
              <a:solidFill>
                <a:srgbClr val="0B5394"/>
              </a:solidFill>
            </a:endParaRPr>
          </a:p>
        </p:txBody>
      </p:sp>
      <p:sp>
        <p:nvSpPr>
          <p:cNvPr id="80" name="Google Shape;80;p13"/>
          <p:cNvSpPr txBox="1"/>
          <p:nvPr/>
        </p:nvSpPr>
        <p:spPr>
          <a:xfrm>
            <a:off x="112950" y="935925"/>
            <a:ext cx="1419900" cy="44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13"/>
          <p:cNvSpPr txBox="1"/>
          <p:nvPr/>
        </p:nvSpPr>
        <p:spPr>
          <a:xfrm>
            <a:off x="145225" y="1378750"/>
            <a:ext cx="2119200" cy="45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 dirty="0"/>
              <a:t>&lt;&lt;Context&gt;&gt;</a:t>
            </a:r>
            <a:endParaRPr sz="900" dirty="0"/>
          </a:p>
        </p:txBody>
      </p:sp>
      <p:cxnSp>
        <p:nvCxnSpPr>
          <p:cNvPr id="82" name="Google Shape;82;p13"/>
          <p:cNvCxnSpPr/>
          <p:nvPr/>
        </p:nvCxnSpPr>
        <p:spPr>
          <a:xfrm>
            <a:off x="0" y="832850"/>
            <a:ext cx="2420400" cy="0"/>
          </a:xfrm>
          <a:prstGeom prst="straightConnector1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3" name="Google Shape;83;p13"/>
          <p:cNvSpPr txBox="1"/>
          <p:nvPr/>
        </p:nvSpPr>
        <p:spPr>
          <a:xfrm>
            <a:off x="-22525" y="783525"/>
            <a:ext cx="22869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solidFill>
                  <a:srgbClr val="0B5394"/>
                </a:solidFill>
              </a:rPr>
              <a:t>Context of your Ethnography</a:t>
            </a:r>
            <a:endParaRPr b="1">
              <a:solidFill>
                <a:srgbClr val="0B5394"/>
              </a:solidFill>
            </a:endParaRPr>
          </a:p>
        </p:txBody>
      </p:sp>
      <p:pic>
        <p:nvPicPr>
          <p:cNvPr id="84" name="Google Shape;8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738" y="6025154"/>
            <a:ext cx="2997475" cy="72289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62;p13">
            <a:extLst>
              <a:ext uri="{FF2B5EF4-FFF2-40B4-BE49-F238E27FC236}">
                <a16:creationId xmlns:a16="http://schemas.microsoft.com/office/drawing/2014/main" id="{8149CA29-88DA-172C-DDC8-B92244EFFFFB}"/>
              </a:ext>
            </a:extLst>
          </p:cNvPr>
          <p:cNvSpPr txBox="1"/>
          <p:nvPr/>
        </p:nvSpPr>
        <p:spPr>
          <a:xfrm>
            <a:off x="7424794" y="6386602"/>
            <a:ext cx="1208843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b="1" dirty="0">
                <a:solidFill>
                  <a:srgbClr val="0B5394"/>
                </a:solidFill>
              </a:rPr>
              <a:t>Ethnography</a:t>
            </a:r>
            <a:endParaRPr sz="1200" b="1" dirty="0">
              <a:solidFill>
                <a:srgbClr val="0B5394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4349675" y="242050"/>
            <a:ext cx="2420400" cy="21138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3"/>
          <p:cNvSpPr/>
          <p:nvPr/>
        </p:nvSpPr>
        <p:spPr>
          <a:xfrm>
            <a:off x="6309375" y="1314200"/>
            <a:ext cx="2420400" cy="21138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2379225" y="1314200"/>
            <a:ext cx="2420400" cy="21138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2379225" y="3507000"/>
            <a:ext cx="2420400" cy="21138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13"/>
          <p:cNvSpPr/>
          <p:nvPr/>
        </p:nvSpPr>
        <p:spPr>
          <a:xfrm>
            <a:off x="6309375" y="3507000"/>
            <a:ext cx="2420400" cy="21138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3"/>
          <p:cNvSpPr/>
          <p:nvPr/>
        </p:nvSpPr>
        <p:spPr>
          <a:xfrm>
            <a:off x="4349675" y="4602500"/>
            <a:ext cx="2420400" cy="21138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EFEFEF"/>
          </a:solidFill>
          <a:ln w="2857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13"/>
          <p:cNvSpPr/>
          <p:nvPr/>
        </p:nvSpPr>
        <p:spPr>
          <a:xfrm>
            <a:off x="4349675" y="2422275"/>
            <a:ext cx="2420400" cy="21138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93C47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1" name="Google Shape;61;p13"/>
          <p:cNvCxnSpPr>
            <a:stCxn id="59" idx="3"/>
            <a:endCxn id="59" idx="0"/>
          </p:cNvCxnSpPr>
          <p:nvPr/>
        </p:nvCxnSpPr>
        <p:spPr>
          <a:xfrm>
            <a:off x="4349675" y="5659400"/>
            <a:ext cx="2420400" cy="0"/>
          </a:xfrm>
          <a:prstGeom prst="straightConnector1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2" name="Google Shape;62;p13"/>
          <p:cNvSpPr txBox="1"/>
          <p:nvPr/>
        </p:nvSpPr>
        <p:spPr>
          <a:xfrm>
            <a:off x="49575" y="149700"/>
            <a:ext cx="40260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b="1">
                <a:solidFill>
                  <a:srgbClr val="0B5394"/>
                </a:solidFill>
              </a:rPr>
              <a:t>&lt;&lt;Name&gt;&gt;</a:t>
            </a:r>
            <a:endParaRPr sz="1200" b="1">
              <a:solidFill>
                <a:srgbClr val="0B5394"/>
              </a:solidFill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125775" y="369350"/>
            <a:ext cx="43002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/>
              <a:t>&lt;&lt;email&gt;&gt;</a:t>
            </a:r>
            <a:endParaRPr sz="1000" b="1"/>
          </a:p>
        </p:txBody>
      </p:sp>
      <p:sp>
        <p:nvSpPr>
          <p:cNvPr id="64" name="Google Shape;64;p13"/>
          <p:cNvSpPr txBox="1"/>
          <p:nvPr/>
        </p:nvSpPr>
        <p:spPr>
          <a:xfrm>
            <a:off x="4655575" y="613200"/>
            <a:ext cx="1791000" cy="16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/>
              <a:t>&lt;&lt;Stories of the Informants&gt;&gt;</a:t>
            </a:r>
            <a:endParaRPr sz="900"/>
          </a:p>
        </p:txBody>
      </p:sp>
      <p:sp>
        <p:nvSpPr>
          <p:cNvPr id="65" name="Google Shape;65;p13"/>
          <p:cNvSpPr txBox="1"/>
          <p:nvPr/>
        </p:nvSpPr>
        <p:spPr>
          <a:xfrm>
            <a:off x="4882075" y="225900"/>
            <a:ext cx="13233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 b="1">
                <a:solidFill>
                  <a:srgbClr val="0B5394"/>
                </a:solidFill>
              </a:rPr>
              <a:t>Stories of the Informants</a:t>
            </a:r>
            <a:endParaRPr sz="1100" b="1">
              <a:solidFill>
                <a:srgbClr val="0B5394"/>
              </a:solidFill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4792750" y="2379300"/>
            <a:ext cx="1549800" cy="5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b="1">
                <a:solidFill>
                  <a:srgbClr val="FFFFFF"/>
                </a:solidFill>
              </a:rPr>
              <a:t>Narrative Portraits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67" name="Google Shape;67;p13"/>
          <p:cNvSpPr txBox="1"/>
          <p:nvPr/>
        </p:nvSpPr>
        <p:spPr>
          <a:xfrm>
            <a:off x="4638963" y="2904950"/>
            <a:ext cx="1791000" cy="15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dirty="0">
                <a:solidFill>
                  <a:srgbClr val="FFFFFF"/>
                </a:solidFill>
              </a:rPr>
              <a:t>&lt;&lt;Narrative Portraits&gt;&gt;</a:t>
            </a:r>
            <a:endParaRPr sz="1000" dirty="0">
              <a:solidFill>
                <a:srgbClr val="FFFFFF"/>
              </a:solidFill>
            </a:endParaRPr>
          </a:p>
        </p:txBody>
      </p:sp>
      <p:sp>
        <p:nvSpPr>
          <p:cNvPr id="68" name="Google Shape;68;p13"/>
          <p:cNvSpPr txBox="1"/>
          <p:nvPr/>
        </p:nvSpPr>
        <p:spPr>
          <a:xfrm>
            <a:off x="2606050" y="1754400"/>
            <a:ext cx="1912200" cy="15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/>
              <a:t>&lt;&lt;Other documents to be analyzed&gt;&gt;</a:t>
            </a:r>
            <a:endParaRPr sz="900"/>
          </a:p>
        </p:txBody>
      </p:sp>
      <p:sp>
        <p:nvSpPr>
          <p:cNvPr id="69" name="Google Shape;69;p13"/>
          <p:cNvSpPr txBox="1"/>
          <p:nvPr/>
        </p:nvSpPr>
        <p:spPr>
          <a:xfrm>
            <a:off x="2920600" y="1226350"/>
            <a:ext cx="13233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solidFill>
                  <a:srgbClr val="0B5394"/>
                </a:solidFill>
              </a:rPr>
              <a:t>Other documents</a:t>
            </a:r>
            <a:endParaRPr b="1">
              <a:solidFill>
                <a:srgbClr val="0B5394"/>
              </a:solidFill>
            </a:endParaRPr>
          </a:p>
        </p:txBody>
      </p:sp>
      <p:sp>
        <p:nvSpPr>
          <p:cNvPr id="70" name="Google Shape;70;p13"/>
          <p:cNvSpPr txBox="1"/>
          <p:nvPr/>
        </p:nvSpPr>
        <p:spPr>
          <a:xfrm>
            <a:off x="6617050" y="1754400"/>
            <a:ext cx="1872600" cy="15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/>
              <a:t>&lt;&lt;Data Gathering Methods&gt;&gt;</a:t>
            </a:r>
            <a:endParaRPr sz="900"/>
          </a:p>
        </p:txBody>
      </p:sp>
      <p:sp>
        <p:nvSpPr>
          <p:cNvPr id="71" name="Google Shape;71;p13"/>
          <p:cNvSpPr txBox="1"/>
          <p:nvPr/>
        </p:nvSpPr>
        <p:spPr>
          <a:xfrm>
            <a:off x="6675175" y="1226350"/>
            <a:ext cx="17202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solidFill>
                  <a:srgbClr val="0B5394"/>
                </a:solidFill>
              </a:rPr>
              <a:t>Data Gathering Methods</a:t>
            </a:r>
            <a:endParaRPr b="1">
              <a:solidFill>
                <a:srgbClr val="0B5394"/>
              </a:solidFill>
            </a:endParaRPr>
          </a:p>
        </p:txBody>
      </p:sp>
      <p:sp>
        <p:nvSpPr>
          <p:cNvPr id="72" name="Google Shape;72;p13"/>
          <p:cNvSpPr txBox="1"/>
          <p:nvPr/>
        </p:nvSpPr>
        <p:spPr>
          <a:xfrm>
            <a:off x="2567200" y="3886750"/>
            <a:ext cx="1989900" cy="16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/>
              <a:t>&lt;&lt;Narrative Research Strategies&gt;&gt;</a:t>
            </a:r>
            <a:endParaRPr sz="900"/>
          </a:p>
        </p:txBody>
      </p:sp>
      <p:sp>
        <p:nvSpPr>
          <p:cNvPr id="73" name="Google Shape;73;p13"/>
          <p:cNvSpPr txBox="1"/>
          <p:nvPr/>
        </p:nvSpPr>
        <p:spPr>
          <a:xfrm>
            <a:off x="2844675" y="3491650"/>
            <a:ext cx="14895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>
                <a:solidFill>
                  <a:srgbClr val="0B5394"/>
                </a:solidFill>
              </a:rPr>
              <a:t>Narrative Research Strategies</a:t>
            </a:r>
            <a:endParaRPr sz="1000" b="1">
              <a:solidFill>
                <a:srgbClr val="0B5394"/>
              </a:solidFill>
            </a:endParaRPr>
          </a:p>
        </p:txBody>
      </p:sp>
      <p:sp>
        <p:nvSpPr>
          <p:cNvPr id="74" name="Google Shape;74;p13"/>
          <p:cNvSpPr txBox="1"/>
          <p:nvPr/>
        </p:nvSpPr>
        <p:spPr>
          <a:xfrm>
            <a:off x="6550675" y="3762550"/>
            <a:ext cx="1871700" cy="7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/>
              <a:t>&lt;&lt;Process Support&gt;&gt;</a:t>
            </a:r>
            <a:endParaRPr sz="900"/>
          </a:p>
        </p:txBody>
      </p:sp>
      <p:sp>
        <p:nvSpPr>
          <p:cNvPr id="75" name="Google Shape;75;p13"/>
          <p:cNvSpPr txBox="1"/>
          <p:nvPr/>
        </p:nvSpPr>
        <p:spPr>
          <a:xfrm>
            <a:off x="6675175" y="3491650"/>
            <a:ext cx="17202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 b="1">
                <a:solidFill>
                  <a:srgbClr val="0B5394"/>
                </a:solidFill>
              </a:rPr>
              <a:t>Process Support</a:t>
            </a:r>
            <a:endParaRPr sz="1300" b="1">
              <a:solidFill>
                <a:srgbClr val="0B5394"/>
              </a:solidFill>
            </a:endParaRPr>
          </a:p>
        </p:txBody>
      </p:sp>
      <p:sp>
        <p:nvSpPr>
          <p:cNvPr id="76" name="Google Shape;76;p13"/>
          <p:cNvSpPr txBox="1"/>
          <p:nvPr/>
        </p:nvSpPr>
        <p:spPr>
          <a:xfrm>
            <a:off x="4655575" y="4602500"/>
            <a:ext cx="17910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 dirty="0">
                <a:solidFill>
                  <a:srgbClr val="0B5394"/>
                </a:solidFill>
              </a:rPr>
              <a:t>Narrative Question</a:t>
            </a:r>
            <a:endParaRPr sz="1000" b="1" dirty="0">
              <a:solidFill>
                <a:srgbClr val="0B5394"/>
              </a:solidFill>
            </a:endParaRPr>
          </a:p>
        </p:txBody>
      </p:sp>
      <p:sp>
        <p:nvSpPr>
          <p:cNvPr id="77" name="Google Shape;77;p13"/>
          <p:cNvSpPr txBox="1"/>
          <p:nvPr/>
        </p:nvSpPr>
        <p:spPr>
          <a:xfrm>
            <a:off x="4574750" y="5836050"/>
            <a:ext cx="1871700" cy="8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/>
              <a:t>&lt;&lt;Topics&gt;&gt;</a:t>
            </a:r>
            <a:endParaRPr sz="700"/>
          </a:p>
        </p:txBody>
      </p:sp>
      <p:sp>
        <p:nvSpPr>
          <p:cNvPr id="78" name="Google Shape;78;p13"/>
          <p:cNvSpPr txBox="1"/>
          <p:nvPr/>
        </p:nvSpPr>
        <p:spPr>
          <a:xfrm>
            <a:off x="4882075" y="5560800"/>
            <a:ext cx="1323300" cy="2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b="1">
                <a:solidFill>
                  <a:srgbClr val="0B5394"/>
                </a:solidFill>
              </a:rPr>
              <a:t>Topics</a:t>
            </a:r>
            <a:endParaRPr sz="1200" b="1">
              <a:solidFill>
                <a:srgbClr val="0B5394"/>
              </a:solidFill>
            </a:endParaRPr>
          </a:p>
        </p:txBody>
      </p:sp>
      <p:sp>
        <p:nvSpPr>
          <p:cNvPr id="79" name="Google Shape;79;p13"/>
          <p:cNvSpPr txBox="1"/>
          <p:nvPr/>
        </p:nvSpPr>
        <p:spPr>
          <a:xfrm>
            <a:off x="112950" y="935925"/>
            <a:ext cx="1419900" cy="44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3"/>
          <p:cNvSpPr txBox="1"/>
          <p:nvPr/>
        </p:nvSpPr>
        <p:spPr>
          <a:xfrm>
            <a:off x="145225" y="1378750"/>
            <a:ext cx="2119200" cy="45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/>
              <a:t>&lt;&lt;Context&gt;&gt;</a:t>
            </a:r>
            <a:endParaRPr sz="900"/>
          </a:p>
        </p:txBody>
      </p:sp>
      <p:cxnSp>
        <p:nvCxnSpPr>
          <p:cNvPr id="81" name="Google Shape;81;p13"/>
          <p:cNvCxnSpPr/>
          <p:nvPr/>
        </p:nvCxnSpPr>
        <p:spPr>
          <a:xfrm>
            <a:off x="0" y="832850"/>
            <a:ext cx="2420400" cy="0"/>
          </a:xfrm>
          <a:prstGeom prst="straightConnector1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2" name="Google Shape;82;p13"/>
          <p:cNvSpPr txBox="1"/>
          <p:nvPr/>
        </p:nvSpPr>
        <p:spPr>
          <a:xfrm>
            <a:off x="-22525" y="783525"/>
            <a:ext cx="22869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solidFill>
                  <a:srgbClr val="0B5394"/>
                </a:solidFill>
              </a:rPr>
              <a:t>Context of your Narrative Study</a:t>
            </a:r>
            <a:endParaRPr b="1">
              <a:solidFill>
                <a:srgbClr val="0B5394"/>
              </a:solidFill>
            </a:endParaRPr>
          </a:p>
        </p:txBody>
      </p:sp>
      <p:sp>
        <p:nvSpPr>
          <p:cNvPr id="83" name="Google Shape;83;p13"/>
          <p:cNvSpPr txBox="1"/>
          <p:nvPr/>
        </p:nvSpPr>
        <p:spPr>
          <a:xfrm>
            <a:off x="4690975" y="4854769"/>
            <a:ext cx="1720200" cy="7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/>
              <a:t>&lt;&lt;Narrative Question &gt;&gt;</a:t>
            </a:r>
            <a:endParaRPr sz="700"/>
          </a:p>
        </p:txBody>
      </p:sp>
      <p:pic>
        <p:nvPicPr>
          <p:cNvPr id="84" name="Google Shape;8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738" y="6025154"/>
            <a:ext cx="2997475" cy="72289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62;p13">
            <a:extLst>
              <a:ext uri="{FF2B5EF4-FFF2-40B4-BE49-F238E27FC236}">
                <a16:creationId xmlns:a16="http://schemas.microsoft.com/office/drawing/2014/main" id="{D69BF97A-2E56-F4F5-AFD3-F5FF83507785}"/>
              </a:ext>
            </a:extLst>
          </p:cNvPr>
          <p:cNvSpPr txBox="1"/>
          <p:nvPr/>
        </p:nvSpPr>
        <p:spPr>
          <a:xfrm>
            <a:off x="7424794" y="6386602"/>
            <a:ext cx="1430531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b="1" dirty="0">
                <a:solidFill>
                  <a:srgbClr val="0B5394"/>
                </a:solidFill>
              </a:rPr>
              <a:t>Narrative Study</a:t>
            </a:r>
            <a:endParaRPr sz="1200" b="1" dirty="0">
              <a:solidFill>
                <a:srgbClr val="0B5394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4349675" y="242050"/>
            <a:ext cx="2420400" cy="21138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3"/>
          <p:cNvSpPr/>
          <p:nvPr/>
        </p:nvSpPr>
        <p:spPr>
          <a:xfrm>
            <a:off x="6309375" y="1314200"/>
            <a:ext cx="2420400" cy="21138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2379225" y="1314200"/>
            <a:ext cx="2420400" cy="21138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2379225" y="3507000"/>
            <a:ext cx="2420400" cy="21138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13"/>
          <p:cNvSpPr/>
          <p:nvPr/>
        </p:nvSpPr>
        <p:spPr>
          <a:xfrm>
            <a:off x="6309375" y="3507000"/>
            <a:ext cx="2420400" cy="21138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3"/>
          <p:cNvSpPr/>
          <p:nvPr/>
        </p:nvSpPr>
        <p:spPr>
          <a:xfrm>
            <a:off x="4349675" y="4602500"/>
            <a:ext cx="2420400" cy="21138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EFEFEF"/>
          </a:solidFill>
          <a:ln w="2857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13"/>
          <p:cNvSpPr/>
          <p:nvPr/>
        </p:nvSpPr>
        <p:spPr>
          <a:xfrm>
            <a:off x="4349675" y="2422275"/>
            <a:ext cx="2420400" cy="21138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6FA8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1" name="Google Shape;61;p13"/>
          <p:cNvCxnSpPr>
            <a:stCxn id="59" idx="3"/>
            <a:endCxn id="59" idx="0"/>
          </p:cNvCxnSpPr>
          <p:nvPr/>
        </p:nvCxnSpPr>
        <p:spPr>
          <a:xfrm>
            <a:off x="4349675" y="5659400"/>
            <a:ext cx="2420400" cy="0"/>
          </a:xfrm>
          <a:prstGeom prst="straightConnector1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2" name="Google Shape;62;p13"/>
          <p:cNvSpPr txBox="1"/>
          <p:nvPr/>
        </p:nvSpPr>
        <p:spPr>
          <a:xfrm>
            <a:off x="201975" y="120125"/>
            <a:ext cx="31221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solidFill>
                  <a:srgbClr val="0B5394"/>
                </a:solidFill>
              </a:rPr>
              <a:t>&lt;&lt;Name&gt;&gt;</a:t>
            </a:r>
            <a:endParaRPr b="1">
              <a:solidFill>
                <a:srgbClr val="0B5394"/>
              </a:solidFill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201975" y="369350"/>
            <a:ext cx="28710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/>
              <a:t>&lt;&lt;email&gt;&gt;</a:t>
            </a:r>
            <a:endParaRPr b="1"/>
          </a:p>
        </p:txBody>
      </p:sp>
      <p:sp>
        <p:nvSpPr>
          <p:cNvPr id="64" name="Google Shape;64;p13"/>
          <p:cNvSpPr txBox="1"/>
          <p:nvPr/>
        </p:nvSpPr>
        <p:spPr>
          <a:xfrm>
            <a:off x="4655575" y="460800"/>
            <a:ext cx="1791000" cy="16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/>
              <a:t>&lt;&lt;Informants&gt;&gt;</a:t>
            </a:r>
            <a:endParaRPr sz="900"/>
          </a:p>
        </p:txBody>
      </p:sp>
      <p:sp>
        <p:nvSpPr>
          <p:cNvPr id="65" name="Google Shape;65;p13"/>
          <p:cNvSpPr txBox="1"/>
          <p:nvPr/>
        </p:nvSpPr>
        <p:spPr>
          <a:xfrm>
            <a:off x="4882075" y="225900"/>
            <a:ext cx="13233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solidFill>
                  <a:srgbClr val="0B5394"/>
                </a:solidFill>
              </a:rPr>
              <a:t>Informants</a:t>
            </a:r>
            <a:endParaRPr b="1">
              <a:solidFill>
                <a:srgbClr val="0B5394"/>
              </a:solidFill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4861675" y="2388175"/>
            <a:ext cx="14199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solidFill>
                  <a:srgbClr val="FFFFFF"/>
                </a:solidFill>
              </a:rPr>
              <a:t>Phenomenon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67" name="Google Shape;67;p13"/>
          <p:cNvSpPr txBox="1"/>
          <p:nvPr/>
        </p:nvSpPr>
        <p:spPr>
          <a:xfrm>
            <a:off x="4655575" y="2717950"/>
            <a:ext cx="1791000" cy="16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</a:rPr>
              <a:t>&lt;&lt;Phenomenon Under Study&gt;&gt;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8" name="Google Shape;68;p13"/>
          <p:cNvSpPr txBox="1"/>
          <p:nvPr/>
        </p:nvSpPr>
        <p:spPr>
          <a:xfrm>
            <a:off x="2606050" y="1754400"/>
            <a:ext cx="1912200" cy="15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/>
              <a:t>&lt;&lt;Other documents to be analyzed&gt;&gt;</a:t>
            </a:r>
            <a:endParaRPr sz="900"/>
          </a:p>
        </p:txBody>
      </p:sp>
      <p:sp>
        <p:nvSpPr>
          <p:cNvPr id="69" name="Google Shape;69;p13"/>
          <p:cNvSpPr txBox="1"/>
          <p:nvPr/>
        </p:nvSpPr>
        <p:spPr>
          <a:xfrm>
            <a:off x="2920600" y="1226350"/>
            <a:ext cx="13233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solidFill>
                  <a:srgbClr val="0B5394"/>
                </a:solidFill>
              </a:rPr>
              <a:t>Other documents</a:t>
            </a:r>
            <a:endParaRPr b="1">
              <a:solidFill>
                <a:srgbClr val="0B5394"/>
              </a:solidFill>
            </a:endParaRPr>
          </a:p>
        </p:txBody>
      </p:sp>
      <p:sp>
        <p:nvSpPr>
          <p:cNvPr id="70" name="Google Shape;70;p13"/>
          <p:cNvSpPr txBox="1"/>
          <p:nvPr/>
        </p:nvSpPr>
        <p:spPr>
          <a:xfrm>
            <a:off x="6617050" y="1754400"/>
            <a:ext cx="1872600" cy="15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/>
              <a:t>&lt;&lt;Data Gathering Methods&gt;&gt;</a:t>
            </a:r>
            <a:endParaRPr sz="900"/>
          </a:p>
        </p:txBody>
      </p:sp>
      <p:sp>
        <p:nvSpPr>
          <p:cNvPr id="71" name="Google Shape;71;p13"/>
          <p:cNvSpPr txBox="1"/>
          <p:nvPr/>
        </p:nvSpPr>
        <p:spPr>
          <a:xfrm>
            <a:off x="6675175" y="1226350"/>
            <a:ext cx="17202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solidFill>
                  <a:srgbClr val="0B5394"/>
                </a:solidFill>
              </a:rPr>
              <a:t>Data Gathering Methods</a:t>
            </a:r>
            <a:endParaRPr b="1">
              <a:solidFill>
                <a:srgbClr val="0B5394"/>
              </a:solidFill>
            </a:endParaRPr>
          </a:p>
        </p:txBody>
      </p:sp>
      <p:sp>
        <p:nvSpPr>
          <p:cNvPr id="72" name="Google Shape;72;p13"/>
          <p:cNvSpPr txBox="1"/>
          <p:nvPr/>
        </p:nvSpPr>
        <p:spPr>
          <a:xfrm>
            <a:off x="2694100" y="3726550"/>
            <a:ext cx="1791000" cy="18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/>
              <a:t>&lt;&lt;Phenomenological Strategies&gt;&gt;</a:t>
            </a:r>
            <a:endParaRPr sz="900"/>
          </a:p>
        </p:txBody>
      </p:sp>
      <p:sp>
        <p:nvSpPr>
          <p:cNvPr id="73" name="Google Shape;73;p13"/>
          <p:cNvSpPr txBox="1"/>
          <p:nvPr/>
        </p:nvSpPr>
        <p:spPr>
          <a:xfrm>
            <a:off x="2920600" y="3491650"/>
            <a:ext cx="13233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solidFill>
                  <a:srgbClr val="0B5394"/>
                </a:solidFill>
              </a:rPr>
              <a:t>Strategies</a:t>
            </a:r>
            <a:endParaRPr b="1">
              <a:solidFill>
                <a:srgbClr val="0B5394"/>
              </a:solidFill>
            </a:endParaRPr>
          </a:p>
        </p:txBody>
      </p:sp>
      <p:sp>
        <p:nvSpPr>
          <p:cNvPr id="74" name="Google Shape;74;p13"/>
          <p:cNvSpPr txBox="1"/>
          <p:nvPr/>
        </p:nvSpPr>
        <p:spPr>
          <a:xfrm>
            <a:off x="6491875" y="3762550"/>
            <a:ext cx="1997700" cy="7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/>
              <a:t>&lt;&lt;Process Support&gt;&gt;</a:t>
            </a:r>
            <a:endParaRPr sz="900"/>
          </a:p>
        </p:txBody>
      </p:sp>
      <p:sp>
        <p:nvSpPr>
          <p:cNvPr id="75" name="Google Shape;75;p13"/>
          <p:cNvSpPr txBox="1"/>
          <p:nvPr/>
        </p:nvSpPr>
        <p:spPr>
          <a:xfrm>
            <a:off x="6675175" y="3491650"/>
            <a:ext cx="17202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 b="1">
                <a:solidFill>
                  <a:srgbClr val="0B5394"/>
                </a:solidFill>
              </a:rPr>
              <a:t>Process Support</a:t>
            </a:r>
            <a:endParaRPr sz="1300" b="1">
              <a:solidFill>
                <a:srgbClr val="0B5394"/>
              </a:solidFill>
            </a:endParaRPr>
          </a:p>
        </p:txBody>
      </p:sp>
      <p:sp>
        <p:nvSpPr>
          <p:cNvPr id="76" name="Google Shape;76;p13"/>
          <p:cNvSpPr txBox="1"/>
          <p:nvPr/>
        </p:nvSpPr>
        <p:spPr>
          <a:xfrm>
            <a:off x="4882075" y="4500250"/>
            <a:ext cx="1323300" cy="8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solidFill>
                  <a:srgbClr val="0B5394"/>
                </a:solidFill>
              </a:rPr>
              <a:t>Questions</a:t>
            </a:r>
            <a:endParaRPr b="1">
              <a:solidFill>
                <a:srgbClr val="0B5394"/>
              </a:solidFill>
            </a:endParaRPr>
          </a:p>
        </p:txBody>
      </p:sp>
      <p:sp>
        <p:nvSpPr>
          <p:cNvPr id="77" name="Google Shape;77;p13"/>
          <p:cNvSpPr txBox="1"/>
          <p:nvPr/>
        </p:nvSpPr>
        <p:spPr>
          <a:xfrm>
            <a:off x="4655575" y="5836050"/>
            <a:ext cx="1791000" cy="8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/>
              <a:t>&lt;&lt;Topics&gt;&gt;</a:t>
            </a:r>
            <a:endParaRPr sz="700"/>
          </a:p>
        </p:txBody>
      </p:sp>
      <p:sp>
        <p:nvSpPr>
          <p:cNvPr id="78" name="Google Shape;78;p13"/>
          <p:cNvSpPr txBox="1"/>
          <p:nvPr/>
        </p:nvSpPr>
        <p:spPr>
          <a:xfrm>
            <a:off x="4882075" y="5560800"/>
            <a:ext cx="13233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solidFill>
                  <a:srgbClr val="0B5394"/>
                </a:solidFill>
              </a:rPr>
              <a:t>Topics</a:t>
            </a:r>
            <a:endParaRPr b="1">
              <a:solidFill>
                <a:srgbClr val="0B5394"/>
              </a:solidFill>
            </a:endParaRPr>
          </a:p>
        </p:txBody>
      </p:sp>
      <p:sp>
        <p:nvSpPr>
          <p:cNvPr id="79" name="Google Shape;79;p13"/>
          <p:cNvSpPr txBox="1"/>
          <p:nvPr/>
        </p:nvSpPr>
        <p:spPr>
          <a:xfrm>
            <a:off x="112950" y="935925"/>
            <a:ext cx="1419900" cy="44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3"/>
          <p:cNvSpPr txBox="1"/>
          <p:nvPr/>
        </p:nvSpPr>
        <p:spPr>
          <a:xfrm>
            <a:off x="145225" y="1531150"/>
            <a:ext cx="1938900" cy="45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/>
              <a:t>&lt;&lt;Context&gt;&gt;</a:t>
            </a:r>
            <a:endParaRPr sz="900"/>
          </a:p>
        </p:txBody>
      </p:sp>
      <p:cxnSp>
        <p:nvCxnSpPr>
          <p:cNvPr id="81" name="Google Shape;81;p13"/>
          <p:cNvCxnSpPr/>
          <p:nvPr/>
        </p:nvCxnSpPr>
        <p:spPr>
          <a:xfrm>
            <a:off x="0" y="832850"/>
            <a:ext cx="2420400" cy="0"/>
          </a:xfrm>
          <a:prstGeom prst="straightConnector1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2" name="Google Shape;82;p13"/>
          <p:cNvSpPr txBox="1"/>
          <p:nvPr/>
        </p:nvSpPr>
        <p:spPr>
          <a:xfrm>
            <a:off x="-22525" y="935925"/>
            <a:ext cx="24204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solidFill>
                  <a:srgbClr val="0B5394"/>
                </a:solidFill>
              </a:rPr>
              <a:t>Context of your Phenomenological Study</a:t>
            </a:r>
            <a:endParaRPr b="1">
              <a:solidFill>
                <a:srgbClr val="0B5394"/>
              </a:solidFill>
            </a:endParaRPr>
          </a:p>
        </p:txBody>
      </p:sp>
      <p:sp>
        <p:nvSpPr>
          <p:cNvPr id="83" name="Google Shape;83;p13"/>
          <p:cNvSpPr txBox="1"/>
          <p:nvPr/>
        </p:nvSpPr>
        <p:spPr>
          <a:xfrm>
            <a:off x="4709925" y="4791650"/>
            <a:ext cx="1608300" cy="8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 b="1" dirty="0"/>
              <a:t>&lt;&lt;Phenomenological Questions&gt;&gt;</a:t>
            </a:r>
            <a:endParaRPr sz="700" b="1" dirty="0"/>
          </a:p>
        </p:txBody>
      </p:sp>
      <p:pic>
        <p:nvPicPr>
          <p:cNvPr id="84" name="Google Shape;8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738" y="6025154"/>
            <a:ext cx="2997475" cy="72289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62;p13">
            <a:extLst>
              <a:ext uri="{FF2B5EF4-FFF2-40B4-BE49-F238E27FC236}">
                <a16:creationId xmlns:a16="http://schemas.microsoft.com/office/drawing/2014/main" id="{A0A08B73-CE23-D151-541D-697B9966599F}"/>
              </a:ext>
            </a:extLst>
          </p:cNvPr>
          <p:cNvSpPr txBox="1"/>
          <p:nvPr/>
        </p:nvSpPr>
        <p:spPr>
          <a:xfrm>
            <a:off x="7424794" y="6386602"/>
            <a:ext cx="1430531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b="1" dirty="0">
                <a:solidFill>
                  <a:srgbClr val="0B5394"/>
                </a:solidFill>
              </a:rPr>
              <a:t>Phenomenology</a:t>
            </a:r>
            <a:endParaRPr sz="1200" b="1" dirty="0">
              <a:solidFill>
                <a:srgbClr val="0B5394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4349675" y="242050"/>
            <a:ext cx="2420400" cy="21138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3"/>
          <p:cNvSpPr/>
          <p:nvPr/>
        </p:nvSpPr>
        <p:spPr>
          <a:xfrm>
            <a:off x="6309375" y="1314200"/>
            <a:ext cx="2420400" cy="21138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2379225" y="1314200"/>
            <a:ext cx="2420400" cy="21138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2379225" y="3507000"/>
            <a:ext cx="2420400" cy="21138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13"/>
          <p:cNvSpPr/>
          <p:nvPr/>
        </p:nvSpPr>
        <p:spPr>
          <a:xfrm>
            <a:off x="6309375" y="3507000"/>
            <a:ext cx="2420400" cy="21138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3"/>
          <p:cNvSpPr/>
          <p:nvPr/>
        </p:nvSpPr>
        <p:spPr>
          <a:xfrm>
            <a:off x="4349675" y="4602500"/>
            <a:ext cx="2420400" cy="21138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EFEFEF"/>
          </a:solidFill>
          <a:ln w="2857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13"/>
          <p:cNvSpPr/>
          <p:nvPr/>
        </p:nvSpPr>
        <p:spPr>
          <a:xfrm>
            <a:off x="4349675" y="2422275"/>
            <a:ext cx="2420400" cy="21138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B539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1" name="Google Shape;61;p13"/>
          <p:cNvCxnSpPr>
            <a:stCxn id="59" idx="3"/>
            <a:endCxn id="59" idx="0"/>
          </p:cNvCxnSpPr>
          <p:nvPr/>
        </p:nvCxnSpPr>
        <p:spPr>
          <a:xfrm>
            <a:off x="4349675" y="5659400"/>
            <a:ext cx="2420400" cy="0"/>
          </a:xfrm>
          <a:prstGeom prst="straightConnector1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2" name="Google Shape;62;p13"/>
          <p:cNvSpPr txBox="1"/>
          <p:nvPr/>
        </p:nvSpPr>
        <p:spPr>
          <a:xfrm>
            <a:off x="201975" y="120125"/>
            <a:ext cx="31221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solidFill>
                  <a:srgbClr val="0B5394"/>
                </a:solidFill>
              </a:rPr>
              <a:t>&lt;&lt;Name&gt;&gt;</a:t>
            </a:r>
            <a:endParaRPr b="1">
              <a:solidFill>
                <a:srgbClr val="0B5394"/>
              </a:solidFill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201975" y="369350"/>
            <a:ext cx="28710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/>
              <a:t>&lt;&lt;email&gt;&gt;</a:t>
            </a:r>
            <a:endParaRPr b="1"/>
          </a:p>
        </p:txBody>
      </p:sp>
      <p:sp>
        <p:nvSpPr>
          <p:cNvPr id="64" name="Google Shape;64;p13"/>
          <p:cNvSpPr txBox="1"/>
          <p:nvPr/>
        </p:nvSpPr>
        <p:spPr>
          <a:xfrm>
            <a:off x="4655575" y="460800"/>
            <a:ext cx="1791000" cy="16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/>
              <a:t>&lt;&lt;Informants&gt;&gt;</a:t>
            </a:r>
            <a:endParaRPr sz="900"/>
          </a:p>
        </p:txBody>
      </p:sp>
      <p:sp>
        <p:nvSpPr>
          <p:cNvPr id="65" name="Google Shape;65;p13"/>
          <p:cNvSpPr txBox="1"/>
          <p:nvPr/>
        </p:nvSpPr>
        <p:spPr>
          <a:xfrm>
            <a:off x="4882075" y="225900"/>
            <a:ext cx="13233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solidFill>
                  <a:srgbClr val="0B5394"/>
                </a:solidFill>
              </a:rPr>
              <a:t>Informants</a:t>
            </a:r>
            <a:endParaRPr b="1">
              <a:solidFill>
                <a:srgbClr val="0B5394"/>
              </a:solidFill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4861675" y="2388175"/>
            <a:ext cx="14199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solidFill>
                  <a:srgbClr val="FFFFFF"/>
                </a:solidFill>
              </a:rPr>
              <a:t>Phenomenon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67" name="Google Shape;67;p13"/>
          <p:cNvSpPr txBox="1"/>
          <p:nvPr/>
        </p:nvSpPr>
        <p:spPr>
          <a:xfrm>
            <a:off x="4655575" y="2717950"/>
            <a:ext cx="1791000" cy="16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</a:rPr>
              <a:t>&lt;&lt;Phenomenon Under Study&gt;&gt;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8" name="Google Shape;68;p13"/>
          <p:cNvSpPr txBox="1"/>
          <p:nvPr/>
        </p:nvSpPr>
        <p:spPr>
          <a:xfrm>
            <a:off x="2606050" y="1754400"/>
            <a:ext cx="1912200" cy="15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/>
              <a:t>&lt;&lt;Other documents to be analyzed&gt;&gt;</a:t>
            </a:r>
            <a:endParaRPr sz="900"/>
          </a:p>
        </p:txBody>
      </p:sp>
      <p:sp>
        <p:nvSpPr>
          <p:cNvPr id="69" name="Google Shape;69;p13"/>
          <p:cNvSpPr txBox="1"/>
          <p:nvPr/>
        </p:nvSpPr>
        <p:spPr>
          <a:xfrm>
            <a:off x="2920600" y="1226350"/>
            <a:ext cx="13233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solidFill>
                  <a:srgbClr val="0B5394"/>
                </a:solidFill>
              </a:rPr>
              <a:t>Other documents</a:t>
            </a:r>
            <a:endParaRPr b="1">
              <a:solidFill>
                <a:srgbClr val="0B5394"/>
              </a:solidFill>
            </a:endParaRPr>
          </a:p>
        </p:txBody>
      </p:sp>
      <p:sp>
        <p:nvSpPr>
          <p:cNvPr id="70" name="Google Shape;70;p13"/>
          <p:cNvSpPr txBox="1"/>
          <p:nvPr/>
        </p:nvSpPr>
        <p:spPr>
          <a:xfrm>
            <a:off x="6617050" y="1754400"/>
            <a:ext cx="1872600" cy="15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/>
              <a:t>&lt;&lt;Data Gathering Methods&gt;&gt;</a:t>
            </a:r>
            <a:endParaRPr sz="900"/>
          </a:p>
        </p:txBody>
      </p:sp>
      <p:sp>
        <p:nvSpPr>
          <p:cNvPr id="71" name="Google Shape;71;p13"/>
          <p:cNvSpPr txBox="1"/>
          <p:nvPr/>
        </p:nvSpPr>
        <p:spPr>
          <a:xfrm>
            <a:off x="6675175" y="1226350"/>
            <a:ext cx="17202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solidFill>
                  <a:srgbClr val="0B5394"/>
                </a:solidFill>
              </a:rPr>
              <a:t>Data Gathering Methods</a:t>
            </a:r>
            <a:endParaRPr b="1">
              <a:solidFill>
                <a:srgbClr val="0B5394"/>
              </a:solidFill>
            </a:endParaRPr>
          </a:p>
        </p:txBody>
      </p:sp>
      <p:sp>
        <p:nvSpPr>
          <p:cNvPr id="72" name="Google Shape;72;p13"/>
          <p:cNvSpPr txBox="1"/>
          <p:nvPr/>
        </p:nvSpPr>
        <p:spPr>
          <a:xfrm>
            <a:off x="2694100" y="3726550"/>
            <a:ext cx="1791000" cy="18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/>
              <a:t>&lt;&lt;Phenomenographic Strategies&gt;&gt;</a:t>
            </a:r>
            <a:endParaRPr sz="900"/>
          </a:p>
        </p:txBody>
      </p:sp>
      <p:sp>
        <p:nvSpPr>
          <p:cNvPr id="73" name="Google Shape;73;p13"/>
          <p:cNvSpPr txBox="1"/>
          <p:nvPr/>
        </p:nvSpPr>
        <p:spPr>
          <a:xfrm>
            <a:off x="2920600" y="3491650"/>
            <a:ext cx="13233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solidFill>
                  <a:srgbClr val="0B5394"/>
                </a:solidFill>
              </a:rPr>
              <a:t>Strategies</a:t>
            </a:r>
            <a:endParaRPr b="1">
              <a:solidFill>
                <a:srgbClr val="0B5394"/>
              </a:solidFill>
            </a:endParaRPr>
          </a:p>
        </p:txBody>
      </p:sp>
      <p:sp>
        <p:nvSpPr>
          <p:cNvPr id="74" name="Google Shape;74;p13"/>
          <p:cNvSpPr txBox="1"/>
          <p:nvPr/>
        </p:nvSpPr>
        <p:spPr>
          <a:xfrm>
            <a:off x="6491875" y="3762550"/>
            <a:ext cx="1997700" cy="7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/>
              <a:t>&lt;&lt;Process Support&gt;&gt;</a:t>
            </a:r>
            <a:endParaRPr sz="900"/>
          </a:p>
        </p:txBody>
      </p:sp>
      <p:sp>
        <p:nvSpPr>
          <p:cNvPr id="75" name="Google Shape;75;p13"/>
          <p:cNvSpPr txBox="1"/>
          <p:nvPr/>
        </p:nvSpPr>
        <p:spPr>
          <a:xfrm>
            <a:off x="6675175" y="3491650"/>
            <a:ext cx="17202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 b="1">
                <a:solidFill>
                  <a:srgbClr val="0B5394"/>
                </a:solidFill>
              </a:rPr>
              <a:t>Process Support</a:t>
            </a:r>
            <a:endParaRPr sz="1300" b="1">
              <a:solidFill>
                <a:srgbClr val="0B5394"/>
              </a:solidFill>
            </a:endParaRPr>
          </a:p>
        </p:txBody>
      </p:sp>
      <p:sp>
        <p:nvSpPr>
          <p:cNvPr id="76" name="Google Shape;76;p13"/>
          <p:cNvSpPr txBox="1"/>
          <p:nvPr/>
        </p:nvSpPr>
        <p:spPr>
          <a:xfrm>
            <a:off x="4882075" y="4500250"/>
            <a:ext cx="1323300" cy="8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solidFill>
                  <a:srgbClr val="0B5394"/>
                </a:solidFill>
              </a:rPr>
              <a:t>Questions</a:t>
            </a:r>
            <a:endParaRPr b="1">
              <a:solidFill>
                <a:srgbClr val="0B5394"/>
              </a:solidFill>
            </a:endParaRPr>
          </a:p>
        </p:txBody>
      </p:sp>
      <p:sp>
        <p:nvSpPr>
          <p:cNvPr id="77" name="Google Shape;77;p13"/>
          <p:cNvSpPr txBox="1"/>
          <p:nvPr/>
        </p:nvSpPr>
        <p:spPr>
          <a:xfrm>
            <a:off x="4655575" y="5836050"/>
            <a:ext cx="1791000" cy="8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/>
              <a:t>&lt;&lt;Topics&gt;&gt;</a:t>
            </a:r>
            <a:endParaRPr sz="700"/>
          </a:p>
        </p:txBody>
      </p:sp>
      <p:sp>
        <p:nvSpPr>
          <p:cNvPr id="78" name="Google Shape;78;p13"/>
          <p:cNvSpPr txBox="1"/>
          <p:nvPr/>
        </p:nvSpPr>
        <p:spPr>
          <a:xfrm>
            <a:off x="4882075" y="5560800"/>
            <a:ext cx="13233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solidFill>
                  <a:srgbClr val="0B5394"/>
                </a:solidFill>
              </a:rPr>
              <a:t>Topics</a:t>
            </a:r>
            <a:endParaRPr b="1">
              <a:solidFill>
                <a:srgbClr val="0B5394"/>
              </a:solidFill>
            </a:endParaRPr>
          </a:p>
        </p:txBody>
      </p:sp>
      <p:sp>
        <p:nvSpPr>
          <p:cNvPr id="79" name="Google Shape;79;p13"/>
          <p:cNvSpPr txBox="1"/>
          <p:nvPr/>
        </p:nvSpPr>
        <p:spPr>
          <a:xfrm>
            <a:off x="112950" y="935925"/>
            <a:ext cx="1419900" cy="44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3"/>
          <p:cNvSpPr txBox="1"/>
          <p:nvPr/>
        </p:nvSpPr>
        <p:spPr>
          <a:xfrm>
            <a:off x="145225" y="1531150"/>
            <a:ext cx="1938900" cy="45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/>
              <a:t>&lt;&lt;Context&gt;&gt;</a:t>
            </a:r>
            <a:endParaRPr sz="900"/>
          </a:p>
        </p:txBody>
      </p:sp>
      <p:cxnSp>
        <p:nvCxnSpPr>
          <p:cNvPr id="81" name="Google Shape;81;p13"/>
          <p:cNvCxnSpPr/>
          <p:nvPr/>
        </p:nvCxnSpPr>
        <p:spPr>
          <a:xfrm>
            <a:off x="0" y="832850"/>
            <a:ext cx="2420400" cy="0"/>
          </a:xfrm>
          <a:prstGeom prst="straightConnector1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2" name="Google Shape;82;p13"/>
          <p:cNvSpPr txBox="1"/>
          <p:nvPr/>
        </p:nvSpPr>
        <p:spPr>
          <a:xfrm>
            <a:off x="-22525" y="935925"/>
            <a:ext cx="27519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solidFill>
                  <a:srgbClr val="0B5394"/>
                </a:solidFill>
              </a:rPr>
              <a:t>Context of your Phenomenographic Study</a:t>
            </a:r>
            <a:endParaRPr b="1">
              <a:solidFill>
                <a:srgbClr val="0B5394"/>
              </a:solidFill>
            </a:endParaRPr>
          </a:p>
        </p:txBody>
      </p:sp>
      <p:sp>
        <p:nvSpPr>
          <p:cNvPr id="83" name="Google Shape;83;p13"/>
          <p:cNvSpPr txBox="1"/>
          <p:nvPr/>
        </p:nvSpPr>
        <p:spPr>
          <a:xfrm>
            <a:off x="4709925" y="4791650"/>
            <a:ext cx="1678800" cy="8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 b="1"/>
              <a:t>&lt;&lt;Phenomenographic Questions&gt;&gt;</a:t>
            </a:r>
            <a:endParaRPr sz="700" b="1"/>
          </a:p>
        </p:txBody>
      </p:sp>
      <p:pic>
        <p:nvPicPr>
          <p:cNvPr id="84" name="Google Shape;8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738" y="6025154"/>
            <a:ext cx="2997475" cy="72289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62;p13">
            <a:extLst>
              <a:ext uri="{FF2B5EF4-FFF2-40B4-BE49-F238E27FC236}">
                <a16:creationId xmlns:a16="http://schemas.microsoft.com/office/drawing/2014/main" id="{0F687C28-CD11-B5F2-D5BC-1FE09416F7C4}"/>
              </a:ext>
            </a:extLst>
          </p:cNvPr>
          <p:cNvSpPr txBox="1"/>
          <p:nvPr/>
        </p:nvSpPr>
        <p:spPr>
          <a:xfrm>
            <a:off x="7219508" y="6386602"/>
            <a:ext cx="1635818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b="1" dirty="0">
                <a:solidFill>
                  <a:srgbClr val="0B5394"/>
                </a:solidFill>
              </a:rPr>
              <a:t>Phenomenography</a:t>
            </a:r>
            <a:endParaRPr sz="1200" b="1" dirty="0">
              <a:solidFill>
                <a:srgbClr val="0B5394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4349675" y="242050"/>
            <a:ext cx="2420400" cy="21138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3"/>
          <p:cNvSpPr/>
          <p:nvPr/>
        </p:nvSpPr>
        <p:spPr>
          <a:xfrm>
            <a:off x="6309375" y="1314200"/>
            <a:ext cx="2420400" cy="21138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2379225" y="1314200"/>
            <a:ext cx="2420400" cy="21138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2379225" y="3507000"/>
            <a:ext cx="2420400" cy="21138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13"/>
          <p:cNvSpPr/>
          <p:nvPr/>
        </p:nvSpPr>
        <p:spPr>
          <a:xfrm>
            <a:off x="6309375" y="3507000"/>
            <a:ext cx="2420400" cy="21138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3"/>
          <p:cNvSpPr/>
          <p:nvPr/>
        </p:nvSpPr>
        <p:spPr>
          <a:xfrm>
            <a:off x="4349675" y="4602500"/>
            <a:ext cx="2420400" cy="21138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EFEFEF"/>
          </a:solidFill>
          <a:ln w="2857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13"/>
          <p:cNvSpPr/>
          <p:nvPr/>
        </p:nvSpPr>
        <p:spPr>
          <a:xfrm>
            <a:off x="4349675" y="2422275"/>
            <a:ext cx="2420400" cy="21138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A2C4C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1" name="Google Shape;61;p13"/>
          <p:cNvCxnSpPr>
            <a:stCxn id="59" idx="3"/>
            <a:endCxn id="59" idx="0"/>
          </p:cNvCxnSpPr>
          <p:nvPr/>
        </p:nvCxnSpPr>
        <p:spPr>
          <a:xfrm>
            <a:off x="4349675" y="5659400"/>
            <a:ext cx="2420400" cy="0"/>
          </a:xfrm>
          <a:prstGeom prst="straightConnector1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2" name="Google Shape;62;p13"/>
          <p:cNvSpPr txBox="1"/>
          <p:nvPr/>
        </p:nvSpPr>
        <p:spPr>
          <a:xfrm>
            <a:off x="201975" y="120125"/>
            <a:ext cx="38394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b="1">
                <a:solidFill>
                  <a:srgbClr val="0B5394"/>
                </a:solidFill>
              </a:rPr>
              <a:t>&lt;&lt;Name&gt;&gt;</a:t>
            </a:r>
            <a:endParaRPr sz="1200" b="1">
              <a:solidFill>
                <a:srgbClr val="0B5394"/>
              </a:solidFill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201975" y="369350"/>
            <a:ext cx="40995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b="1"/>
              <a:t>&lt;&lt;email&gt;&gt;</a:t>
            </a:r>
            <a:endParaRPr sz="1200" b="1"/>
          </a:p>
        </p:txBody>
      </p:sp>
      <p:sp>
        <p:nvSpPr>
          <p:cNvPr id="64" name="Google Shape;64;p13"/>
          <p:cNvSpPr txBox="1"/>
          <p:nvPr/>
        </p:nvSpPr>
        <p:spPr>
          <a:xfrm>
            <a:off x="4655575" y="460800"/>
            <a:ext cx="1791000" cy="16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/>
              <a:t>&lt;&lt;Informants&gt;&gt;</a:t>
            </a:r>
            <a:endParaRPr sz="900"/>
          </a:p>
        </p:txBody>
      </p:sp>
      <p:sp>
        <p:nvSpPr>
          <p:cNvPr id="65" name="Google Shape;65;p13"/>
          <p:cNvSpPr txBox="1"/>
          <p:nvPr/>
        </p:nvSpPr>
        <p:spPr>
          <a:xfrm>
            <a:off x="4882075" y="225900"/>
            <a:ext cx="13233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solidFill>
                  <a:srgbClr val="0B5394"/>
                </a:solidFill>
              </a:rPr>
              <a:t>Informants</a:t>
            </a:r>
            <a:endParaRPr b="1">
              <a:solidFill>
                <a:srgbClr val="0B5394"/>
              </a:solidFill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4792563" y="2373875"/>
            <a:ext cx="1608300" cy="11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b="1" dirty="0">
                <a:solidFill>
                  <a:srgbClr val="FFFFFF"/>
                </a:solidFill>
              </a:rPr>
              <a:t>Phenomenon that has not been covered in the literature</a:t>
            </a:r>
            <a:endParaRPr sz="1200" b="1" dirty="0">
              <a:solidFill>
                <a:srgbClr val="FFFFFF"/>
              </a:solidFill>
            </a:endParaRPr>
          </a:p>
        </p:txBody>
      </p:sp>
      <p:sp>
        <p:nvSpPr>
          <p:cNvPr id="67" name="Google Shape;67;p13"/>
          <p:cNvSpPr txBox="1"/>
          <p:nvPr/>
        </p:nvSpPr>
        <p:spPr>
          <a:xfrm>
            <a:off x="4676125" y="3167350"/>
            <a:ext cx="1791000" cy="12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FFFFFF"/>
                </a:solidFill>
              </a:rPr>
              <a:t>&lt;&lt;Phenomenon under study that has not been covered in the literature (substantive area of interest)&gt;&gt;</a:t>
            </a:r>
            <a:endParaRPr sz="1000">
              <a:solidFill>
                <a:srgbClr val="FFFFFF"/>
              </a:solidFill>
            </a:endParaRPr>
          </a:p>
        </p:txBody>
      </p:sp>
      <p:sp>
        <p:nvSpPr>
          <p:cNvPr id="68" name="Google Shape;68;p13"/>
          <p:cNvSpPr txBox="1"/>
          <p:nvPr/>
        </p:nvSpPr>
        <p:spPr>
          <a:xfrm>
            <a:off x="2606050" y="1754400"/>
            <a:ext cx="1912200" cy="15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/>
              <a:t>&lt;&lt;Other documents to be analyzed&gt;&gt;</a:t>
            </a:r>
            <a:endParaRPr sz="900"/>
          </a:p>
        </p:txBody>
      </p:sp>
      <p:sp>
        <p:nvSpPr>
          <p:cNvPr id="69" name="Google Shape;69;p13"/>
          <p:cNvSpPr txBox="1"/>
          <p:nvPr/>
        </p:nvSpPr>
        <p:spPr>
          <a:xfrm>
            <a:off x="2920600" y="1226350"/>
            <a:ext cx="13233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solidFill>
                  <a:srgbClr val="0B5394"/>
                </a:solidFill>
              </a:rPr>
              <a:t>Other documents</a:t>
            </a:r>
            <a:endParaRPr b="1">
              <a:solidFill>
                <a:srgbClr val="0B5394"/>
              </a:solidFill>
            </a:endParaRPr>
          </a:p>
        </p:txBody>
      </p:sp>
      <p:sp>
        <p:nvSpPr>
          <p:cNvPr id="70" name="Google Shape;70;p13"/>
          <p:cNvSpPr txBox="1"/>
          <p:nvPr/>
        </p:nvSpPr>
        <p:spPr>
          <a:xfrm>
            <a:off x="6617050" y="1754400"/>
            <a:ext cx="1872600" cy="15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/>
              <a:t>&lt;&lt;Data Gathering Methods&gt;&gt;</a:t>
            </a:r>
            <a:endParaRPr sz="900"/>
          </a:p>
        </p:txBody>
      </p:sp>
      <p:sp>
        <p:nvSpPr>
          <p:cNvPr id="71" name="Google Shape;71;p13"/>
          <p:cNvSpPr txBox="1"/>
          <p:nvPr/>
        </p:nvSpPr>
        <p:spPr>
          <a:xfrm>
            <a:off x="6675175" y="1226350"/>
            <a:ext cx="17202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solidFill>
                  <a:srgbClr val="0B5394"/>
                </a:solidFill>
              </a:rPr>
              <a:t>Data Gathering Methods</a:t>
            </a:r>
            <a:endParaRPr b="1">
              <a:solidFill>
                <a:srgbClr val="0B5394"/>
              </a:solidFill>
            </a:endParaRPr>
          </a:p>
        </p:txBody>
      </p:sp>
      <p:sp>
        <p:nvSpPr>
          <p:cNvPr id="72" name="Google Shape;72;p13"/>
          <p:cNvSpPr txBox="1"/>
          <p:nvPr/>
        </p:nvSpPr>
        <p:spPr>
          <a:xfrm>
            <a:off x="2693925" y="3726550"/>
            <a:ext cx="1791000" cy="18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/>
              <a:t>&lt;&lt;Grounded Theory Strategies&gt;&gt;</a:t>
            </a:r>
            <a:endParaRPr sz="900"/>
          </a:p>
        </p:txBody>
      </p:sp>
      <p:sp>
        <p:nvSpPr>
          <p:cNvPr id="73" name="Google Shape;73;p13"/>
          <p:cNvSpPr txBox="1"/>
          <p:nvPr/>
        </p:nvSpPr>
        <p:spPr>
          <a:xfrm>
            <a:off x="2920600" y="3491650"/>
            <a:ext cx="13233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solidFill>
                  <a:srgbClr val="0B5394"/>
                </a:solidFill>
              </a:rPr>
              <a:t>Strategies</a:t>
            </a:r>
            <a:endParaRPr b="1">
              <a:solidFill>
                <a:srgbClr val="0B5394"/>
              </a:solidFill>
            </a:endParaRPr>
          </a:p>
        </p:txBody>
      </p:sp>
      <p:sp>
        <p:nvSpPr>
          <p:cNvPr id="74" name="Google Shape;74;p13"/>
          <p:cNvSpPr txBox="1"/>
          <p:nvPr/>
        </p:nvSpPr>
        <p:spPr>
          <a:xfrm>
            <a:off x="6577375" y="3762550"/>
            <a:ext cx="1872600" cy="7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/>
              <a:t>&lt;&lt;Process Support&gt;&gt;</a:t>
            </a:r>
            <a:endParaRPr sz="900"/>
          </a:p>
        </p:txBody>
      </p:sp>
      <p:sp>
        <p:nvSpPr>
          <p:cNvPr id="75" name="Google Shape;75;p13"/>
          <p:cNvSpPr txBox="1"/>
          <p:nvPr/>
        </p:nvSpPr>
        <p:spPr>
          <a:xfrm>
            <a:off x="6675175" y="3491650"/>
            <a:ext cx="17202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 b="1">
                <a:solidFill>
                  <a:srgbClr val="0B5394"/>
                </a:solidFill>
              </a:rPr>
              <a:t>Process Support</a:t>
            </a:r>
            <a:endParaRPr sz="1300" b="1">
              <a:solidFill>
                <a:srgbClr val="0B5394"/>
              </a:solidFill>
            </a:endParaRPr>
          </a:p>
        </p:txBody>
      </p:sp>
      <p:sp>
        <p:nvSpPr>
          <p:cNvPr id="76" name="Google Shape;76;p13"/>
          <p:cNvSpPr txBox="1"/>
          <p:nvPr/>
        </p:nvSpPr>
        <p:spPr>
          <a:xfrm>
            <a:off x="4882075" y="4500250"/>
            <a:ext cx="1323300" cy="8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solidFill>
                  <a:srgbClr val="0B5394"/>
                </a:solidFill>
              </a:rPr>
              <a:t>Questions</a:t>
            </a:r>
            <a:endParaRPr b="1">
              <a:solidFill>
                <a:srgbClr val="0B5394"/>
              </a:solidFill>
            </a:endParaRPr>
          </a:p>
        </p:txBody>
      </p:sp>
      <p:sp>
        <p:nvSpPr>
          <p:cNvPr id="77" name="Google Shape;77;p13"/>
          <p:cNvSpPr txBox="1"/>
          <p:nvPr/>
        </p:nvSpPr>
        <p:spPr>
          <a:xfrm>
            <a:off x="4655575" y="5836050"/>
            <a:ext cx="1791000" cy="8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/>
              <a:t>&lt;&lt;Topics&gt;&gt;</a:t>
            </a:r>
            <a:endParaRPr sz="700"/>
          </a:p>
        </p:txBody>
      </p:sp>
      <p:sp>
        <p:nvSpPr>
          <p:cNvPr id="78" name="Google Shape;78;p13"/>
          <p:cNvSpPr txBox="1"/>
          <p:nvPr/>
        </p:nvSpPr>
        <p:spPr>
          <a:xfrm>
            <a:off x="4882075" y="5560800"/>
            <a:ext cx="13233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solidFill>
                  <a:srgbClr val="0B5394"/>
                </a:solidFill>
              </a:rPr>
              <a:t>Topics</a:t>
            </a:r>
            <a:endParaRPr b="1">
              <a:solidFill>
                <a:srgbClr val="0B5394"/>
              </a:solidFill>
            </a:endParaRPr>
          </a:p>
        </p:txBody>
      </p:sp>
      <p:sp>
        <p:nvSpPr>
          <p:cNvPr id="79" name="Google Shape;79;p13"/>
          <p:cNvSpPr txBox="1"/>
          <p:nvPr/>
        </p:nvSpPr>
        <p:spPr>
          <a:xfrm>
            <a:off x="112950" y="935925"/>
            <a:ext cx="1419900" cy="44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3"/>
          <p:cNvSpPr txBox="1"/>
          <p:nvPr/>
        </p:nvSpPr>
        <p:spPr>
          <a:xfrm>
            <a:off x="145225" y="1531150"/>
            <a:ext cx="1938900" cy="45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/>
              <a:t>&lt;&lt;Context&gt;&gt;</a:t>
            </a:r>
            <a:endParaRPr sz="900"/>
          </a:p>
        </p:txBody>
      </p:sp>
      <p:cxnSp>
        <p:nvCxnSpPr>
          <p:cNvPr id="81" name="Google Shape;81;p13"/>
          <p:cNvCxnSpPr/>
          <p:nvPr/>
        </p:nvCxnSpPr>
        <p:spPr>
          <a:xfrm>
            <a:off x="0" y="832850"/>
            <a:ext cx="2420400" cy="0"/>
          </a:xfrm>
          <a:prstGeom prst="straightConnector1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2" name="Google Shape;82;p13"/>
          <p:cNvSpPr txBox="1"/>
          <p:nvPr/>
        </p:nvSpPr>
        <p:spPr>
          <a:xfrm>
            <a:off x="-22525" y="935925"/>
            <a:ext cx="24204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solidFill>
                  <a:srgbClr val="0B5394"/>
                </a:solidFill>
              </a:rPr>
              <a:t>Context of your Grounded Theory Study</a:t>
            </a:r>
            <a:endParaRPr b="1">
              <a:solidFill>
                <a:srgbClr val="0B5394"/>
              </a:solidFill>
            </a:endParaRPr>
          </a:p>
        </p:txBody>
      </p:sp>
      <p:sp>
        <p:nvSpPr>
          <p:cNvPr id="83" name="Google Shape;83;p13"/>
          <p:cNvSpPr txBox="1"/>
          <p:nvPr/>
        </p:nvSpPr>
        <p:spPr>
          <a:xfrm>
            <a:off x="4746925" y="4773863"/>
            <a:ext cx="1608300" cy="8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 b="1"/>
              <a:t>&lt;&lt;Grounded Theory Questions&gt;&gt;</a:t>
            </a:r>
            <a:endParaRPr sz="700" b="1"/>
          </a:p>
        </p:txBody>
      </p:sp>
      <p:pic>
        <p:nvPicPr>
          <p:cNvPr id="84" name="Google Shape;8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738" y="6025154"/>
            <a:ext cx="2997475" cy="72289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62;p13">
            <a:extLst>
              <a:ext uri="{FF2B5EF4-FFF2-40B4-BE49-F238E27FC236}">
                <a16:creationId xmlns:a16="http://schemas.microsoft.com/office/drawing/2014/main" id="{B16B68C6-DFD6-D726-BFBC-D02EFC1EB350}"/>
              </a:ext>
            </a:extLst>
          </p:cNvPr>
          <p:cNvSpPr txBox="1"/>
          <p:nvPr/>
        </p:nvSpPr>
        <p:spPr>
          <a:xfrm>
            <a:off x="7219508" y="6386602"/>
            <a:ext cx="1635818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b="1" dirty="0">
                <a:solidFill>
                  <a:srgbClr val="0B5394"/>
                </a:solidFill>
              </a:rPr>
              <a:t>Grounded Theory</a:t>
            </a:r>
            <a:endParaRPr sz="1200" b="1" dirty="0">
              <a:solidFill>
                <a:srgbClr val="0B5394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577</Words>
  <Application>Microsoft Office PowerPoint</Application>
  <PresentationFormat>On-screen Show (4:3)</PresentationFormat>
  <Paragraphs>175</Paragraphs>
  <Slides>8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Ivan Jorrin Abellan</cp:lastModifiedBy>
  <cp:revision>5</cp:revision>
  <dcterms:modified xsi:type="dcterms:W3CDTF">2026-07-22T15:03:28Z</dcterms:modified>
</cp:coreProperties>
</file>